
<file path=[Content_Types].xml><?xml version="1.0" encoding="utf-8"?>
<Types xmlns="http://schemas.openxmlformats.org/package/2006/content-types">
  <Default ContentType="image/jpeg" Extension="jpeg"/>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7.xml" ContentType="application/vnd.openxmlformats-officedocument.presentationml.slide+xml"/>
  <Override ContentType="application/vnd.openxmlformats-officedocument.presentationml.notesSlide+xml" PartName="/ppt/notesSlides/notesSlide17.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72" r:id="rId28"/>
    <p:sldId id="267" r:id="rId17"/>
    <p:sldId id="268" r:id="rId18"/>
    <p:sldId id="270" r:id="rId20"/>
    <p:sldId id="269" r:id="rId19"/>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GoogleSansFlexMedium-regular.fntdata"/><Relationship Id="rId21" Type="http://schemas.openxmlformats.org/officeDocument/2006/relationships/slide" Target="slides/slide16.xml"/><Relationship Id="rId24" Type="http://schemas.openxmlformats.org/officeDocument/2006/relationships/font" Target="fonts/GoogleSansFlex-regular.fntdata"/><Relationship Id="rId23" Type="http://schemas.openxmlformats.org/officeDocument/2006/relationships/font" Target="fonts/GoogleSansFlex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oogleSansFlexSemiBold-regular.fntdata"/><Relationship Id="rId25" Type="http://schemas.openxmlformats.org/officeDocument/2006/relationships/font" Target="fonts/GoogleSansFlex-bold.fntdata"/><Relationship Id="rId27" Type="http://schemas.openxmlformats.org/officeDocument/2006/relationships/font" Target="fonts/GoogleSansFlexSemiBold-bold.fntdata"/><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  <Relationship Id="rId28" Type="http://schemas.openxmlformats.org/officeDocument/2006/relationships/slide" Target="slides/slide1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KebunSah - Google Cloud AI Builder Cup 2026, track: Sustainability &amp; Social Impact.</a:t>
            </a:r>
          </a:p>
          <a:p>
            <a:pPr indent="0" lvl="0" marL="0" rtl="0" algn="l">
              <a:spcBef>
                <a:spcPts val="0"/>
              </a:spcBef>
              <a:spcAft>
                <a:spcPts val="600"/>
              </a:spcAft>
              <a:buNone/>
            </a:pPr>
            <a:r>
              <a:rPr lang="en-GB" sz="1200"/>
              <a:t>Fill in the team name and the team leader's name (orange markers on this slide) before submitting.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Talk track: from 30 December 2026 palm fruit sold into the EU must come from land with no deforestation after 31 December 2020, and the producer must show where it grew (a plot boundary). Malaysia has 450,000+ smallholders, most with paper records.</a:t>
            </a:r>
          </a:p>
          <a:p>
            <a:pPr indent="0" lvl="0" marL="0" rtl="0" algn="l">
              <a:spcBef>
                <a:spcPts val="0"/>
              </a:spcBef>
              <a:spcAft>
                <a:spcPts val="600"/>
              </a:spcAft>
              <a:buNone/>
            </a:pPr>
            <a:r>
              <a:rPr lang="en-GB" sz="1200"/>
              <a:t>Sources: [1] EUDR timetable: PSQR 'EU Deforestation Regulation (EUDR) 2026 Update: New Deadlines'; InvariTech 'EUDR Delay and Timeline: 2026-2027 Deadlines'; NST (2025-12). [2] Requirements: European Commission 'Deforestation-free products Regulation'; Coolset. [3] Smallholder data gap: TraceX 'EUDR Compliance for Palm Oil Exporters in Malaysia'; GLOBOIL (55-65% of independent smallholder area projected to have compliance-ready data by Q1 2026).</a:t>
            </a:r>
          </a:p>
          <a:p>
            <a:pPr indent="0" lvl="0" marL="0" rtl="0" algn="l">
              <a:spcBef>
                <a:spcPts val="0"/>
              </a:spcBef>
              <a:spcAft>
                <a:spcPts val="600"/>
              </a:spcAft>
              <a:buNone/>
            </a:pPr>
            <a:r>
              <a:rPr lang="en-GB" sz="1200"/>
              <a:t>'Registers hold names, not boundaries' is the core insight: an official register or a land title does not prove forest history, and the documents often disagree with each other.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Answers the three template questions. Differentiation: smallholder phone first, document cross-checking, plain-language next steps.</a:t>
            </a:r>
          </a:p>
          <a:p>
            <a:pPr indent="0" lvl="0" marL="0" rtl="0" algn="l">
              <a:spcBef>
                <a:spcPts val="0"/>
              </a:spcBef>
              <a:spcAft>
                <a:spcPts val="600"/>
              </a:spcAft>
              <a:buNone/>
            </a:pPr>
            <a:r>
              <a:rPr lang="en-GB" sz="1200"/>
              <a:t>The positioning 'most EUDR tools target exporters, mills and large operators' comes from the team's market review; no specific competitor is named.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Everything on this slide is built and running in the prototype (see the snapshot slides). Ask-by-typing/voice answers only about the plot, EUDR rules and documents needed; anything else gets a fixed refusal written by the server, not by the model.</a:t>
            </a:r>
          </a:p>
          <a:p>
            <a:pPr indent="0" lvl="0" marL="0" rtl="0" algn="l">
              <a:spcBef>
                <a:spcPts val="0"/>
              </a:spcBef>
              <a:spcAft>
                <a:spcPts val="600"/>
              </a:spcAft>
              <a:buNone/>
            </a:pPr>
            <a:r>
              <a:rPr lang="en-GB" sz="1200"/>
              <a:t>Cooperative admin is read-only: the API returns 403 read_only_role for every write.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Swimlane view: smallholder or field officer on the phone, the automatic check, and the cooperative admin on a computer.</a:t>
            </a:r>
          </a:p>
          <a:p>
            <a:pPr indent="0" lvl="0" marL="0" rtl="0" algn="l">
              <a:spcBef>
                <a:spcPts val="0"/>
              </a:spcBef>
              <a:spcAft>
                <a:spcPts val="600"/>
              </a:spcAft>
              <a:buNone/>
            </a:pPr>
            <a:r>
              <a:rPr lang="en-GB" sz="1200"/>
              <a:t>Reading documents and forest screening run in parallel inside the pipeline. Any step that fails degrades to 'needs review' instead of failing the whole check.</a:t>
            </a:r>
          </a:p>
          <a:p>
            <a:pPr indent="0" lvl="0" marL="0" rtl="0" algn="l">
              <a:spcBef>
                <a:spcPts val="0"/>
              </a:spcBef>
              <a:spcAft>
                <a:spcPts val="600"/>
              </a:spcAft>
              <a:buNone/>
            </a:pPr>
            <a:r>
              <a:rPr lang="en-GB" sz="1200"/>
              <a:t>Time to verdict: about 30 s in a local end-to-end run with real Gemini calls; up to about 2 minutes under free-tier rate limits (5 requests a minute per model, 4 Gemini calls per check).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These are the low-fidelity wireframes from the design phase (screen text in Malay). The screens as built are on the snapshot slides.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As built: one Cloud Run service (kebunsah-api) runs the FastAPI app and the assessment pipeline as a background task. Photos go from the phone straight to Cloud Storage on a 15-minute signed URL; the browser only reads Firestore (real-time) and never writes.</a:t>
            </a:r>
          </a:p>
          <a:p>
            <a:pPr indent="0" lvl="0" marL="0" rtl="0" algn="l">
              <a:spcBef>
                <a:spcPts val="0"/>
              </a:spcBef>
              <a:spcAft>
                <a:spcPts val="600"/>
              </a:spcAft>
              <a:buNone/>
            </a:pPr>
            <a:r>
              <a:rPr lang="en-GB" sz="1200"/>
              <a:t>Planned (dashed box): Cloud Tasks with a separate AI worker for volume, Vertex AI for production quotas, and Firestore rules scoped to each cooperative (today any signed-in user can read).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Gemini 3.5 Flash is the default model; the extraction list falls back to gemini-3.7-flash, gemini-3.8-flash and gemini-3.1-flash-lite when a model is out of quota or unavailable. Notes fall back to 3.1 Flash-Lite and 3.5 Flash-Lite, then to a template text.</a:t>
            </a:r>
          </a:p>
          <a:p>
            <a:pPr indent="0" lvl="0" marL="0" rtl="0" algn="l">
              <a:spcBef>
                <a:spcPts val="0"/>
              </a:spcBef>
              <a:spcAft>
                <a:spcPts val="600"/>
              </a:spcAft>
              <a:buNone/>
            </a:pPr>
            <a:r>
              <a:rPr lang="en-GB" sz="1200"/>
              <a:t>Forest datasets: JRC Global Forest Cover 2020 V4 (JRC/GFC2020/V4) and Hansen Global Forest Change v1.13 (UMD/hansen/global_forest_change_2025_v1_13). JRC describes its map as a non-binding reference, so results are labelled preliminary.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Cost estimate, not a quote. Gemini 3.5 Flash list price used: US$1.50 per 1M input tokens and US$9.00 per 1M output tokens (third-party trackers, 18 Oct 2026; Google's own pricing page was not reachable when this deck was written).</a:t>
            </a:r>
          </a:p>
          <a:p>
            <a:pPr indent="0" lvl="0" marL="0" rtl="0" algn="l">
              <a:spcBef>
                <a:spcPts val="0"/>
              </a:spcBef>
              <a:spcAft>
                <a:spcPts val="600"/>
              </a:spcAft>
              <a:buNone/>
            </a:pPr>
            <a:r>
              <a:rPr lang="en-GB" sz="1200"/>
              <a:t>Assumption per check: 3 photo reads (about 1.5-3k input and 0.5-1.5k output tokens each) plus 1 note. That gives roughly 3-6 US cents per check. Maps JavaScript API: about US$7 per 1,000 map loads after the monthly free allowance (third-party listing). Earth Engine: commercial plans start at US$500 per month on Google's Earth Engine pricing page; non-commercial research use is free.</a:t>
            </a:r>
          </a:p>
          <a:p>
            <a:pPr indent="0" lvl="0" marL="0" rtl="0" algn="l">
              <a:spcBef>
                <a:spcPts val="0"/>
              </a:spcBef>
              <a:spcAft>
                <a:spcPts val="600"/>
              </a:spcAft>
              <a:buNone/>
            </a:pPr>
            <a:r>
              <a:rPr lang="en-GB" sz="1200"/>
              <a:t>Verify all prices on Google's pricing pages before budgeting.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All screens are real screenshots of the working prototype (build of commit c9e762c) running on the synthetic demo data set: 200 plots, documents watermarked SIMULATED. Screens were captured from a local run of the same code because the live site could not be reached from the capture machine.</a:t>
            </a:r>
          </a:p>
          <a:p>
            <a:pPr indent="0" lvl="0" marL="0" rtl="0" algn="l">
              <a:spcBef>
                <a:spcPts val="0"/>
              </a:spcBef>
              <a:spcAft>
                <a:spcPts val="600"/>
              </a:spcAft>
              <a:buNone/>
            </a:pPr>
            <a:r>
              <a:rPr lang="en-GB" sz="1200"/>
              <a:t>The forest note on the result screen ('demonstration data only') appears for seeded demo plots, whose forest values are pre-computed. New checks call Earth Engine (FOREST_BACKEND=earthengine on Cloud Run).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Measured 18 Oct 2026 on commit c9e762c. Back end: pytest 847 passed (core 434, API 118, AI worker 295; 4 emulator-only tests deselected by default). Front end: Vitest 993 passed in 55 files. Production build: initial total 485 kB raw, about 129 kB estimated transfer.</a:t>
            </a:r>
          </a:p>
          <a:p>
            <a:pPr indent="0" lvl="0" marL="0" rtl="0" algn="l">
              <a:spcBef>
                <a:spcPts val="0"/>
              </a:spcBef>
              <a:spcAft>
                <a:spcPts val="600"/>
              </a:spcAft>
              <a:buNone/>
            </a:pPr>
            <a:r>
              <a:rPr lang="en-GB" sz="1200"/>
              <a:t>Gemini accuracy (40 of 40 fields on 16 synthetic photos) is the team's own smoke test (scripts/gemini_smoke.py) recorded in seed/photos/README.md; it needs a Gemini key so it is not part of CI.</a:t>
            </a:r>
          </a:p>
          <a:p>
            <a:pPr indent="0" lvl="0" marL="0" rtl="0" algn="l">
              <a:spcBef>
                <a:spcPts val="0"/>
              </a:spcBef>
              <a:spcAft>
                <a:spcPts val="600"/>
              </a:spcAft>
              <a:buNone/>
            </a:pPr>
            <a:r>
              <a:rPr lang="en-GB" sz="1200"/>
              <a:t>200/200: core/tests/test_golden_seed.py checks status, expected and actual values and gaps for every seeded plot against the independent JavaScript seed generator.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Business model from the team plan: smallholders use KebunSah free; cooperatives, mills, exporters and programmes pay because they carry the due-diligence duty.</a:t>
            </a:r>
          </a:p>
          <a:p>
            <a:pPr indent="0" lvl="0" marL="0" rtl="0" algn="l">
              <a:spcBef>
                <a:spcPts val="0"/>
              </a:spcBef>
              <a:spcAft>
                <a:spcPts val="600"/>
              </a:spcAft>
              <a:buNone/>
            </a:pPr>
            <a:r>
              <a:rPr lang="en-GB" sz="1200"/>
              <a:t>Impact is stated as a potential: the app tells a smallholder what is missing before a buyer turns the fruit away. No adoption numbers are claimed yet; a pilot with a real cooperative is the next step.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Judge access: the demo code 123456 and the demo cooperative login are intentionally public; all data is synthetic.</a:t>
            </a:r>
          </a:p>
          <a:p>
            <a:pPr indent="0" lvl="0" marL="0" rtl="0" algn="l">
              <a:spcBef>
                <a:spcPts val="0"/>
              </a:spcBef>
              <a:spcAft>
                <a:spcPts val="600"/>
              </a:spcAft>
              <a:buNone/>
            </a:pPr>
            <a:r>
              <a:rPr lang="en-GB" sz="1200"/>
              <a:t>Before submitting: paste the demo video link (YouTube, Vimeo or a public Google Drive link) and test it in a private window.</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Roadmap: pilot with a real cooperative (masked documents), then other palm-oil countries, then other EUDR commodities. Known limits and engineering next steps are taken from the repository README.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None/>
            </a:pPr>
            <a:r>
              <a:rPr lang="en-GB" sz="1200"/>
              <a:t>Cooperative dashboard: 200 demo plots (110 complete, 50 needs review, 24 action needed, 16 officer to review). The red plot Lot 88 shows an expired MPOB licence, a name mismatch (title still in a late relative's name), an area mismatch and a missing MSPO membership.</a:t>
            </a:r>
          </a:p>
          <a:p>
            <a:pPr indent="0" lvl="0" marL="0" rtl="0" algn="l">
              <a:spcBef>
                <a:spcPts val="0"/>
              </a:spcBef>
              <a:spcAft>
                <a:spcPts val="600"/>
              </a:spcAft>
              <a:buNone/>
            </a:pPr>
            <a:r>
              <a:rPr lang="en-GB" sz="1200"/>
              <a:t>The dossier is supporting material and says so: it is not an official Due Diligence Statement and not a compliance certification.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kb-001.png"/><Relationship Id="rId5" Type="http://schemas.openxmlformats.org/officeDocument/2006/relationships/image" Target="../media/kb-002.png"/><Relationship Id="rId6" Type="http://schemas.openxmlformats.org/officeDocument/2006/relationships/image" Target="../media/kb-003.png"/><Relationship Id="rId7" Type="http://schemas.openxmlformats.org/officeDocument/2006/relationships/image" Target="../media/kb-004.png"/><Relationship Id="rId8" Type="http://schemas.openxmlformats.org/officeDocument/2006/relationships/image" Target="../media/kb-005.png"/><Relationship Id="rId9" Type="http://schemas.openxmlformats.org/officeDocument/2006/relationships/image" Target="../media/kb-006.png"/><Relationship Id="rId10" Type="http://schemas.openxmlformats.org/officeDocument/2006/relationships/image" Target="../media/kb-007.png"/><Relationship Id="rId11" Type="http://schemas.openxmlformats.org/officeDocument/2006/relationships/image" Target="../media/kb-008.png"/><Relationship Id="rId12" Type="http://schemas.openxmlformats.org/officeDocument/2006/relationships/image" Target="../media/kb-00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kb-010.png"/><Relationship Id="rId6" Type="http://schemas.openxmlformats.org/officeDocument/2006/relationships/image" Target="../media/kb-011.png"/><Relationship Id="rId7" Type="http://schemas.openxmlformats.org/officeDocument/2006/relationships/image" Target="../media/kb-0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kb-001.png"/><Relationship Id="rId6" Type="http://schemas.openxmlformats.org/officeDocument/2006/relationships/image" Target="../media/kb-002.png"/><Relationship Id="rId7" Type="http://schemas.openxmlformats.org/officeDocument/2006/relationships/image" Target="../media/kb-013.png"/><Relationship Id="rId8" Type="http://schemas.openxmlformats.org/officeDocument/2006/relationships/image" Target="../media/kb-014.png"/><Relationship Id="rId9" Type="http://schemas.openxmlformats.org/officeDocument/2006/relationships/image" Target="../media/kb-015.png"/><Relationship Id="rId10" Type="http://schemas.openxmlformats.org/officeDocument/2006/relationships/image" Target="../media/kb-003.png"/><Relationship Id="rId11" Type="http://schemas.openxmlformats.org/officeDocument/2006/relationships/image" Target="../media/kb-016.png"/><Relationship Id="rId12" Type="http://schemas.openxmlformats.org/officeDocument/2006/relationships/image" Target="../media/kb-017.png"/><Relationship Id="rId13" Type="http://schemas.openxmlformats.org/officeDocument/2006/relationships/image" Target="../media/kb-0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kb-019.png"/><Relationship Id="rId6" Type="http://schemas.openxmlformats.org/officeDocument/2006/relationships/image" Target="../media/kb-020.png"/><Relationship Id="rId7" Type="http://schemas.openxmlformats.org/officeDocument/2006/relationships/image" Target="../media/kb-021.png"/><Relationship Id="rId8" Type="http://schemas.openxmlformats.org/officeDocument/2006/relationships/image" Target="../media/kb-0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kb-023.png"/><Relationship Id="rId6" Type="http://schemas.openxmlformats.org/officeDocument/2006/relationships/image" Target="../media/kb-024.png"/><Relationship Id="rId7" Type="http://schemas.openxmlformats.org/officeDocument/2006/relationships/image" Target="../media/kb-025.png"/><Relationship Id="rId8" Type="http://schemas.openxmlformats.org/officeDocument/2006/relationships/image" Target="../media/kb-026.png"/><Relationship Id="rId9" Type="http://schemas.openxmlformats.org/officeDocument/2006/relationships/image" Target="../media/kb-027.png"/><Relationship Id="rId10" Type="http://schemas.openxmlformats.org/officeDocument/2006/relationships/image" Target="../media/kb-028.png"/><Relationship Id="rId11" Type="http://schemas.openxmlformats.org/officeDocument/2006/relationships/image" Target="../media/kb-0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kb-030.png"/><Relationship Id="rId6" Type="http://schemas.openxmlformats.org/officeDocument/2006/relationships/image" Target="../media/kb-031.png"/><Relationship Id="rId7" Type="http://schemas.openxmlformats.org/officeDocument/2006/relationships/image" Target="../media/kb-032.png"/><Relationship Id="rId8" Type="http://schemas.openxmlformats.org/officeDocument/2006/relationships/image" Target="../media/kb-033.png"/><Relationship Id="rId9" Type="http://schemas.openxmlformats.org/officeDocument/2006/relationships/image" Target="../media/kb-034.png"/><Relationship Id="rId10" Type="http://schemas.openxmlformats.org/officeDocument/2006/relationships/image" Target="../media/kb-0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kb-036.png"/><Relationship Id="rId6" Type="http://schemas.openxmlformats.org/officeDocument/2006/relationships/image" Target="../media/kb-037.png"/><Relationship Id="rId7" Type="http://schemas.openxmlformats.org/officeDocument/2006/relationships/image" Target="../media/kb-038.jpg"/><Relationship Id="rId8" Type="http://schemas.openxmlformats.org/officeDocument/2006/relationships/image" Target="../media/kb-039.png"/><Relationship Id="rId9" Type="http://schemas.openxmlformats.org/officeDocument/2006/relationships/image" Target="../media/kb-040.png"/><Relationship Id="rId10" Type="http://schemas.openxmlformats.org/officeDocument/2006/relationships/image" Target="../media/kb-0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kb-045.png"/><Relationship Id="rId6" Type="http://schemas.openxmlformats.org/officeDocument/2006/relationships/hyperlink" Target="https://github.com/longrong1110/KebunSah" TargetMode="External"/><Relationship Id="rId7" Type="http://schemas.openxmlformats.org/officeDocument/2006/relationships/image" Target="../media/kb-046.png"/><Relationship Id="rId8" Type="http://schemas.openxmlformats.org/officeDocument/2006/relationships/image" Target="../media/kb-047.png"/><Relationship Id="rId9" Type="http://schemas.openxmlformats.org/officeDocument/2006/relationships/hyperlink" Target="https://kebunsah.web.app" TargetMode="External"/><Relationship Id="rId10" Type="http://schemas.openxmlformats.org/officeDocument/2006/relationships/hyperlink" Target="https://kebunsah.web.app/coop/logi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kb-042.png"/><Relationship Id="rId6" Type="http://schemas.openxmlformats.org/officeDocument/2006/relationships/image" Target="../media/kb-043.png"/><Relationship Id="rId7" Type="http://schemas.openxmlformats.org/officeDocument/2006/relationships/image" Target="../media/kb-044.png"/><Relationship Id="rId8"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
        <p:nvSpPr>
          <p:cNvPr id="57" name="Team details"/>
          <p:cNvSpPr txBox="1"/>
          <p:nvPr/>
        </p:nvSpPr>
        <p:spPr>
          <a:xfrm>
            <a:off x="146304" y="2871216"/>
            <a:ext cx="8851392" cy="2103120"/>
          </a:xfrm>
          <a:prstGeom prst="rect">
            <a:avLst/>
          </a:prstGeom>
          <a:noFill/>
          <a:ln>
            <a:noFill/>
          </a:ln>
        </p:spPr>
        <p:txBody>
          <a:bodyPr wrap="square" lIns="91440" tIns="91440" rIns="91440" bIns="45720" rtlCol="0" anchor="t">
            <a:noAutofit/>
          </a:bodyPr>
          <a:lstStyle/>
          <a:p>
            <a:pPr algn="l" marL="0" indent="0" rtl="0">
              <a:spcBef>
                <a:spcPts val="0"/>
              </a:spcBef>
              <a:spcAft>
                <a:spcPts val="700"/>
              </a:spcAft>
              <a:buNone/>
            </a:pPr>
            <a:r>
              <a:rPr lang="en-GB" sz="2100" b="0" dirty="0">
                <a:solidFill>
                  <a:srgbClr val="000000"/>
                </a:solidFill>
                <a:latin typeface="Google Sans Flex SemiBold"/>
                <a:ea typeface="Google Sans Flex SemiBold"/>
                <a:cs typeface="Google Sans Flex SemiBold"/>
                <a:sym typeface="Google Sans Flex SemiBold"/>
              </a:rPr>
              <a:t>Team Details</a:t>
            </a:r>
            <a:endParaRPr lang="en-GB" sz="2100" dirty="0"/>
          </a:p>
          <a:p>
            <a:pPr algn="l" marL="566928" indent="-329184" rtl="0">
              <a:spcBef>
                <a:spcPts val="0"/>
              </a:spcBef>
              <a:spcAft>
                <a:spcPts val="300"/>
              </a:spcAft>
              <a:buClr>
                <a:srgbClr val="000000"/>
              </a:buClr>
              <a:buSzPct val="100000"/>
              <a:buFont typeface="Arial"/>
              <a:buAutoNum type="alphaLcPeriod"/>
            </a:pPr>
            <a:r>
              <a:rPr lang="en-GB" sz="1400" b="0" dirty="0">
                <a:solidFill>
                  <a:srgbClr val="000000"/>
                </a:solidFill>
                <a:latin typeface="Google Sans Flex"/>
                <a:ea typeface="Google Sans Flex"/>
                <a:cs typeface="Google Sans Flex"/>
                <a:sym typeface="Google Sans Flex"/>
              </a:rPr>
              <a:t xml:space="preserve">Team name: </a:t>
            </a:r>
            <a:r>
              <a:rPr lang="en-GB" sz="1400" b="1" dirty="0">
                <a:solidFill>
                  <a:srgbClr val="C96430"/>
                </a:solidFill>
                <a:latin typeface="Arial"/>
                <a:ea typeface="Arial"/>
                <a:cs typeface="Arial"/>
                <a:sym typeface="Arial"/>
              </a:rPr>
              <a:t>[add team name]</a:t>
            </a:r>
            <a:endParaRPr lang="en-GB" sz="1400" dirty="0"/>
          </a:p>
          <a:p>
            <a:pPr algn="l" marL="566928" indent="-329184" rtl="0">
              <a:spcBef>
                <a:spcPts val="0"/>
              </a:spcBef>
              <a:spcAft>
                <a:spcPts val="300"/>
              </a:spcAft>
              <a:buClr>
                <a:srgbClr val="000000"/>
              </a:buClr>
              <a:buSzPct val="100000"/>
              <a:buFont typeface="Arial"/>
              <a:buAutoNum type="alphaLcPeriod"/>
            </a:pPr>
            <a:r>
              <a:rPr lang="en-GB" sz="1400" b="0" dirty="0">
                <a:solidFill>
                  <a:srgbClr val="000000"/>
                </a:solidFill>
                <a:latin typeface="Google Sans Flex"/>
                <a:ea typeface="Google Sans Flex"/>
                <a:cs typeface="Google Sans Flex"/>
                <a:sym typeface="Google Sans Flex"/>
              </a:rPr>
              <a:t xml:space="preserve">Team leader name: </a:t>
            </a:r>
            <a:r>
              <a:rPr lang="en-GB" sz="1400" b="1" dirty="0">
                <a:solidFill>
                  <a:srgbClr val="C96430"/>
                </a:solidFill>
                <a:latin typeface="Arial"/>
                <a:ea typeface="Arial"/>
                <a:cs typeface="Arial"/>
                <a:sym typeface="Arial"/>
              </a:rPr>
              <a:t>[add team leader name]</a:t>
            </a:r>
            <a:endParaRPr lang="en-GB" sz="1400" dirty="0"/>
          </a:p>
          <a:p>
            <a:pPr algn="l" marL="566928" indent="-329184" rtl="0">
              <a:spcBef>
                <a:spcPts val="0"/>
              </a:spcBef>
              <a:spcAft>
                <a:spcPts val="300"/>
              </a:spcAft>
              <a:buClr>
                <a:srgbClr val="000000"/>
              </a:buClr>
              <a:buSzPct val="100000"/>
              <a:buFont typeface="Arial"/>
              <a:buAutoNum type="alphaLcPeriod"/>
            </a:pPr>
            <a:r>
              <a:rPr lang="en-GB" sz="1400" b="0" dirty="0">
                <a:solidFill>
                  <a:srgbClr val="000000"/>
                </a:solidFill>
                <a:latin typeface="Google Sans Flex"/>
                <a:ea typeface="Google Sans Flex"/>
                <a:cs typeface="Google Sans Flex"/>
                <a:sym typeface="Google Sans Flex"/>
              </a:rPr>
              <a:t xml:space="preserve">Problem Statement: </a:t>
            </a:r>
            <a:r>
              <a:rPr lang="en-GB" sz="1400" b="1" dirty="0">
                <a:solidFill>
                  <a:srgbClr val="0D3B29"/>
                </a:solidFill>
                <a:latin typeface="Arial"/>
                <a:ea typeface="Arial"/>
                <a:cs typeface="Arial"/>
                <a:sym typeface="Arial"/>
              </a:rPr>
              <a:t xml:space="preserve">Sustainability &amp; Social Impact. </a:t>
            </a:r>
            <a:r>
              <a:rPr lang="en-GB" sz="1300" b="0" dirty="0">
                <a:solidFill>
                  <a:srgbClr val="15231B"/>
                </a:solidFill>
                <a:latin typeface="Arial"/>
                <a:ea typeface="Arial"/>
                <a:cs typeface="Arial"/>
                <a:sym typeface="Arial"/>
              </a:rPr>
              <a:t>Malaysian oil-palm smallholders must show where their fruit was grown (a plot boundary and no deforestation after 2020) for the EU Deforestation Regulation, yet keep their records on paper. KebunSah turns photos of their documents and a drawn boundary into a green / yellow / red check and a plain-language to-do list.</a:t>
            </a:r>
            <a:endParaRPr lang="en-GB" sz="1400" dirty="0"/>
          </a:p>
        </p:txBody>
      </p:sp>
      <p:sp>
        <p:nvSpPr>
          <p:cNvPr id="58" name="Project name"/>
          <p:cNvSpPr txBox="1"/>
          <p:nvPr/>
        </p:nvSpPr>
        <p:spPr>
          <a:xfrm>
            <a:off x="5989320" y="2916936"/>
            <a:ext cx="2926080" cy="310896"/>
          </a:xfrm>
          <a:prstGeom prst="rect">
            <a:avLst/>
          </a:prstGeom>
          <a:noFill/>
          <a:ln>
            <a:noFill/>
          </a:ln>
        </p:spPr>
        <p:txBody>
          <a:bodyPr wrap="square" lIns="0" tIns="0" rIns="0" bIns="0" rtlCol="0" anchor="t">
            <a:noAutofit/>
          </a:bodyPr>
          <a:lstStyle/>
          <a:p>
            <a:pPr algn="r" marL="0" indent="0" rtl="0">
              <a:spcBef>
                <a:spcPts val="0"/>
              </a:spcBef>
              <a:spcAft>
                <a:spcPts val="0"/>
              </a:spcAft>
              <a:buNone/>
            </a:pPr>
            <a:r>
              <a:rPr lang="en-GB" sz="1200" b="0" dirty="0">
                <a:solidFill>
                  <a:srgbClr val="56655B"/>
                </a:solidFill>
                <a:latin typeface="Arial"/>
                <a:ea typeface="Arial"/>
                <a:cs typeface="Arial"/>
                <a:sym typeface="Arial"/>
              </a:rPr>
              <a:t xml:space="preserve">Project: </a:t>
            </a:r>
            <a:r>
              <a:rPr lang="en-GB" sz="1500" b="1" dirty="0">
                <a:solidFill>
                  <a:srgbClr val="14513A"/>
                </a:solidFill>
                <a:latin typeface="Arial"/>
                <a:ea typeface="Arial"/>
                <a:cs typeface="Arial"/>
                <a:sym typeface="Arial"/>
              </a:rPr>
              <a:t>KebunSah</a:t>
            </a:r>
            <a:endParaRPr lang="en-GB" sz="1500" dirty="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Brief about the idea</a:t>
            </a:r>
            <a:endParaRPr lang="en-GB" sz="1200" dirty="0"/>
          </a:p>
        </p:txBody>
      </p:sp>
      <p:sp>
        <p:nvSpPr>
          <p:cNvPr id="73"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KebunSah: a phone check that shows what is missing for EUDR</a:t>
            </a:r>
            <a:endParaRPr lang="en-GB" sz="2000" dirty="0"/>
          </a:p>
        </p:txBody>
      </p:sp>
      <p:sp>
        <p:nvSpPr>
          <p:cNvPr id="74" name="Problem card"/>
          <p:cNvSpPr/>
          <p:nvPr/>
        </p:nvSpPr>
        <p:spPr>
          <a:xfrm>
            <a:off x="274320" y="1298448"/>
            <a:ext cx="3794760" cy="3621024"/>
          </a:xfrm>
          <a:prstGeom prst="roundRect">
            <a:avLst>
              <a:gd name="adj" fmla="val 2272"/>
            </a:avLst>
          </a:prstGeom>
          <a:solidFill>
            <a:srgbClr val="EDF1EC"/>
          </a:solidFill>
          <a:ln>
            <a:noFill/>
          </a:ln>
        </p:spPr>
      </p:sp>
      <p:sp>
        <p:nvSpPr>
          <p:cNvPr id="75" name="Problem title"/>
          <p:cNvSpPr txBox="1"/>
          <p:nvPr/>
        </p:nvSpPr>
        <p:spPr>
          <a:xfrm>
            <a:off x="457200" y="1408176"/>
            <a:ext cx="228600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14513A"/>
                </a:solidFill>
                <a:latin typeface="Arial"/>
                <a:ea typeface="Arial"/>
                <a:cs typeface="Arial"/>
                <a:sym typeface="Arial"/>
              </a:rPr>
              <a:t>The problem</a:t>
            </a:r>
            <a:endParaRPr lang="en-GB" sz="1200" dirty="0"/>
          </a:p>
        </p:txBody>
      </p:sp>
      <p:sp>
        <p:nvSpPr>
          <p:cNvPr id="76" name="Stat 30 Dec 2026"/>
          <p:cNvSpPr txBox="1"/>
          <p:nvPr/>
        </p:nvSpPr>
        <p:spPr>
          <a:xfrm>
            <a:off x="457200" y="1709928"/>
            <a:ext cx="1371600" cy="603504"/>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800" b="1" dirty="0">
                <a:solidFill>
                  <a:srgbClr val="C96430"/>
                </a:solidFill>
                <a:latin typeface="Arial"/>
                <a:ea typeface="Arial"/>
                <a:cs typeface="Arial"/>
                <a:sym typeface="Arial"/>
              </a:rPr>
              <a:t>30 Dec 2026</a:t>
            </a:r>
            <a:endParaRPr lang="en-GB" sz="1800" dirty="0"/>
          </a:p>
        </p:txBody>
      </p:sp>
      <p:sp>
        <p:nvSpPr>
          <p:cNvPr id="77" name="Stat text 30 Dec 2026"/>
          <p:cNvSpPr txBox="1"/>
          <p:nvPr/>
        </p:nvSpPr>
        <p:spPr>
          <a:xfrm>
            <a:off x="1865376" y="1709928"/>
            <a:ext cx="2039112" cy="603504"/>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000" b="0" dirty="0">
                <a:solidFill>
                  <a:srgbClr val="15231B"/>
                </a:solidFill>
                <a:latin typeface="Arial"/>
                <a:ea typeface="Arial"/>
                <a:cs typeface="Arial"/>
                <a:sym typeface="Arial"/>
              </a:rPr>
              <a:t>EUDR starts for large and medium operators; micro and small operators follow on 30 Jun 2027.</a:t>
            </a:r>
            <a:endParaRPr lang="en-GB" sz="1000" dirty="0"/>
          </a:p>
        </p:txBody>
      </p:sp>
      <p:sp>
        <p:nvSpPr>
          <p:cNvPr id="78" name="Stat 450,000+"/>
          <p:cNvSpPr txBox="1"/>
          <p:nvPr/>
        </p:nvSpPr>
        <p:spPr>
          <a:xfrm>
            <a:off x="457200" y="2368296"/>
            <a:ext cx="1371600" cy="603504"/>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800" b="1" dirty="0">
                <a:solidFill>
                  <a:srgbClr val="C96430"/>
                </a:solidFill>
                <a:latin typeface="Arial"/>
                <a:ea typeface="Arial"/>
                <a:cs typeface="Arial"/>
                <a:sym typeface="Arial"/>
              </a:rPr>
              <a:t>450,000+</a:t>
            </a:r>
            <a:endParaRPr lang="en-GB" sz="1800" dirty="0"/>
          </a:p>
        </p:txBody>
      </p:sp>
      <p:sp>
        <p:nvSpPr>
          <p:cNvPr id="79" name="Stat text 450,000+"/>
          <p:cNvSpPr txBox="1"/>
          <p:nvPr/>
        </p:nvSpPr>
        <p:spPr>
          <a:xfrm>
            <a:off x="1865376" y="2368296"/>
            <a:ext cx="2039112" cy="603504"/>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000" b="0" dirty="0">
                <a:solidFill>
                  <a:srgbClr val="15231B"/>
                </a:solidFill>
                <a:latin typeface="Arial"/>
                <a:ea typeface="Arial"/>
                <a:cs typeface="Arial"/>
                <a:sym typeface="Arial"/>
              </a:rPr>
              <a:t>oil-palm smallholders in Malaysia, most with paper records and no digital tools.</a:t>
            </a:r>
            <a:endParaRPr lang="en-GB" sz="1000" dirty="0"/>
          </a:p>
        </p:txBody>
      </p:sp>
      <p:sp>
        <p:nvSpPr>
          <p:cNvPr id="80" name="Stat 55–65%"/>
          <p:cNvSpPr txBox="1"/>
          <p:nvPr/>
        </p:nvSpPr>
        <p:spPr>
          <a:xfrm>
            <a:off x="457200" y="3026664"/>
            <a:ext cx="1371600" cy="603504"/>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800" b="1" dirty="0">
                <a:solidFill>
                  <a:srgbClr val="C96430"/>
                </a:solidFill>
                <a:latin typeface="Arial"/>
                <a:ea typeface="Arial"/>
                <a:cs typeface="Arial"/>
                <a:sym typeface="Arial"/>
              </a:rPr>
              <a:t>55–65%</a:t>
            </a:r>
            <a:endParaRPr lang="en-GB" sz="1800" dirty="0"/>
          </a:p>
        </p:txBody>
      </p:sp>
      <p:sp>
        <p:nvSpPr>
          <p:cNvPr id="81" name="Stat text 55–65%"/>
          <p:cNvSpPr txBox="1"/>
          <p:nvPr/>
        </p:nvSpPr>
        <p:spPr>
          <a:xfrm>
            <a:off x="1865376" y="3026664"/>
            <a:ext cx="2039112" cy="603504"/>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000" b="0" dirty="0">
                <a:solidFill>
                  <a:srgbClr val="15231B"/>
                </a:solidFill>
                <a:latin typeface="Arial"/>
                <a:ea typeface="Arial"/>
                <a:cs typeface="Arial"/>
                <a:sym typeface="Arial"/>
              </a:rPr>
              <a:t>of independent smallholder area projected to have compliance-ready data by early 2026.</a:t>
            </a:r>
            <a:endParaRPr lang="en-GB" sz="1000" dirty="0"/>
          </a:p>
        </p:txBody>
      </p:sp>
      <p:sp>
        <p:nvSpPr>
          <p:cNvPr id="82" name="Insight"/>
          <p:cNvSpPr/>
          <p:nvPr/>
        </p:nvSpPr>
        <p:spPr>
          <a:xfrm>
            <a:off x="411480" y="3721608"/>
            <a:ext cx="3520440" cy="896112"/>
          </a:xfrm>
          <a:prstGeom prst="roundRect">
            <a:avLst>
              <a:gd name="adj" fmla="val 7142"/>
            </a:avLst>
          </a:prstGeom>
          <a:solidFill>
            <a:srgbClr val="FFFFFF"/>
          </a:solidFill>
          <a:ln w="9525">
            <a:solidFill>
              <a:srgbClr val="D3DCD0"/>
            </a:solidFill>
          </a:ln>
        </p:spPr>
        <p:txBody>
          <a:bodyPr wrap="square" lIns="128016" tIns="45720" rIns="128016" bIns="45720" rtlCol="0" anchor="ctr">
            <a:noAutofit/>
          </a:bodyPr>
          <a:lstStyle/>
          <a:p>
            <a:pPr algn="l" marL="0" indent="0" rtl="0">
              <a:spcBef>
                <a:spcPts val="0"/>
              </a:spcBef>
              <a:spcAft>
                <a:spcPts val="0"/>
              </a:spcAft>
              <a:buNone/>
            </a:pPr>
            <a:r>
              <a:rPr lang="en-GB" sz="1050" b="1" dirty="0">
                <a:solidFill>
                  <a:srgbClr val="0D3B29"/>
                </a:solidFill>
                <a:latin typeface="Arial"/>
                <a:ea typeface="Arial"/>
                <a:cs typeface="Arial"/>
                <a:sym typeface="Arial"/>
              </a:rPr>
              <a:t xml:space="preserve">Being on an official register is not proof. </a:t>
            </a:r>
            <a:r>
              <a:rPr lang="en-GB" sz="1050" b="0" dirty="0">
                <a:solidFill>
                  <a:srgbClr val="15231B"/>
                </a:solidFill>
                <a:latin typeface="Arial"/>
                <a:ea typeface="Arial"/>
                <a:cs typeface="Arial"/>
                <a:sym typeface="Arial"/>
              </a:rPr>
              <a:t>Registers hold names, not boundaries; a land title proves ownership, not forest history; and the documents often disagree with each other.</a:t>
            </a:r>
            <a:endParaRPr lang="en-GB" sz="1050" dirty="0"/>
          </a:p>
        </p:txBody>
      </p:sp>
      <p:sp>
        <p:nvSpPr>
          <p:cNvPr id="83" name="Sources"/>
          <p:cNvSpPr txBox="1"/>
          <p:nvPr/>
        </p:nvSpPr>
        <p:spPr>
          <a:xfrm>
            <a:off x="457200" y="4690872"/>
            <a:ext cx="3429000" cy="164592"/>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800" b="0" dirty="0">
                <a:solidFill>
                  <a:srgbClr val="56655B"/>
                </a:solidFill>
                <a:latin typeface="Arial"/>
                <a:ea typeface="Arial"/>
                <a:cs typeface="Arial"/>
                <a:sym typeface="Arial"/>
              </a:rPr>
              <a:t>Sources: EU Commission, PSQR, TraceX, GLOBOIL (see notes)</a:t>
            </a:r>
            <a:endParaRPr lang="en-GB" sz="800" dirty="0"/>
          </a:p>
        </p:txBody>
      </p:sp>
      <p:sp>
        <p:nvSpPr>
          <p:cNvPr id="84" name="Idea card"/>
          <p:cNvSpPr/>
          <p:nvPr/>
        </p:nvSpPr>
        <p:spPr>
          <a:xfrm>
            <a:off x="4187952" y="1298448"/>
            <a:ext cx="4681728" cy="2724912"/>
          </a:xfrm>
          <a:prstGeom prst="roundRect">
            <a:avLst>
              <a:gd name="adj" fmla="val 3020"/>
            </a:avLst>
          </a:prstGeom>
          <a:solidFill>
            <a:srgbClr val="EDF1EC"/>
          </a:solidFill>
          <a:ln>
            <a:noFill/>
          </a:ln>
        </p:spPr>
      </p:sp>
      <p:sp>
        <p:nvSpPr>
          <p:cNvPr id="85" name="Idea title"/>
          <p:cNvSpPr txBox="1"/>
          <p:nvPr/>
        </p:nvSpPr>
        <p:spPr>
          <a:xfrm>
            <a:off x="4370832" y="1408176"/>
            <a:ext cx="228600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14513A"/>
                </a:solidFill>
                <a:latin typeface="Arial"/>
                <a:ea typeface="Arial"/>
                <a:cs typeface="Arial"/>
                <a:sym typeface="Arial"/>
              </a:rPr>
              <a:t>The idea</a:t>
            </a:r>
            <a:endParaRPr lang="en-GB" sz="1200" dirty="0"/>
          </a:p>
        </p:txBody>
      </p:sp>
      <p:sp>
        <p:nvSpPr>
          <p:cNvPr id="86" name="Step 1 badge"/>
          <p:cNvSpPr/>
          <p:nvPr/>
        </p:nvSpPr>
        <p:spPr>
          <a:xfrm>
            <a:off x="4370832" y="1801368"/>
            <a:ext cx="420624" cy="420624"/>
          </a:xfrm>
          <a:prstGeom prst="ellipse">
            <a:avLst/>
          </a:prstGeom>
          <a:solidFill>
            <a:srgbClr val="14513A"/>
          </a:solidFill>
          <a:ln>
            <a:noFill/>
          </a:ln>
        </p:spPr>
      </p:sp>
      <p:pic>
        <p:nvPicPr>
          <p:cNvPr id="87" name="Step 1 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463369" y="1893905"/>
            <a:ext cx="235549" cy="235549"/>
          </a:xfrm>
          <a:prstGeom prst="rect">
            <a:avLst/>
          </a:prstGeom>
          <a:ln>
            <a:noFill/>
          </a:ln>
        </p:spPr>
      </p:pic>
      <p:sp>
        <p:nvSpPr>
          <p:cNvPr id="88" name="Step 1 text"/>
          <p:cNvSpPr txBox="1"/>
          <p:nvPr/>
        </p:nvSpPr>
        <p:spPr>
          <a:xfrm>
            <a:off x="4919472" y="1737360"/>
            <a:ext cx="3767328" cy="566928"/>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 xml:space="preserve">Photograph </a:t>
            </a:r>
            <a:r>
              <a:rPr lang="en-GB" sz="1050" b="0" dirty="0">
                <a:solidFill>
                  <a:srgbClr val="15231B"/>
                </a:solidFill>
                <a:latin typeface="Arial"/>
                <a:ea typeface="Arial"/>
                <a:cs typeface="Arial"/>
                <a:sym typeface="Arial"/>
              </a:rPr>
              <a:t>the land title (several pages if needed), MPOB licence and MSPO certificate, from camera or gallery.</a:t>
            </a:r>
            <a:endParaRPr lang="en-GB" sz="1150" dirty="0"/>
          </a:p>
        </p:txBody>
      </p:sp>
      <p:sp>
        <p:nvSpPr>
          <p:cNvPr id="89" name="Step 2 badge"/>
          <p:cNvSpPr/>
          <p:nvPr/>
        </p:nvSpPr>
        <p:spPr>
          <a:xfrm>
            <a:off x="4370832" y="2423160"/>
            <a:ext cx="420624" cy="420624"/>
          </a:xfrm>
          <a:prstGeom prst="ellipse">
            <a:avLst/>
          </a:prstGeom>
          <a:solidFill>
            <a:srgbClr val="14513A"/>
          </a:solidFill>
          <a:ln>
            <a:noFill/>
          </a:ln>
        </p:spPr>
      </p:sp>
      <p:pic>
        <p:nvPicPr>
          <p:cNvPr id="90" name="Step 2 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463369" y="2515697"/>
            <a:ext cx="235549" cy="235549"/>
          </a:xfrm>
          <a:prstGeom prst="rect">
            <a:avLst/>
          </a:prstGeom>
          <a:ln>
            <a:noFill/>
          </a:ln>
        </p:spPr>
      </p:pic>
      <p:sp>
        <p:nvSpPr>
          <p:cNvPr id="91" name="Step 2 text"/>
          <p:cNvSpPr txBox="1"/>
          <p:nvPr/>
        </p:nvSpPr>
        <p:spPr>
          <a:xfrm>
            <a:off x="4919472" y="2359152"/>
            <a:ext cx="3767328" cy="566928"/>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 xml:space="preserve">Draw </a:t>
            </a:r>
            <a:r>
              <a:rPr lang="en-GB" sz="1050" b="0" dirty="0">
                <a:solidFill>
                  <a:srgbClr val="15231B"/>
                </a:solidFill>
                <a:latin typeface="Arial"/>
                <a:ea typeface="Arial"/>
                <a:cs typeface="Arial"/>
                <a:sym typeface="Arial"/>
              </a:rPr>
              <a:t>the boundary on a satellite map, walk the corners with GPS, or mark one point for plots under 4 ha.</a:t>
            </a:r>
            <a:endParaRPr lang="en-GB" sz="1150" dirty="0"/>
          </a:p>
        </p:txBody>
      </p:sp>
      <p:sp>
        <p:nvSpPr>
          <p:cNvPr id="92" name="Step 3 badge"/>
          <p:cNvSpPr/>
          <p:nvPr/>
        </p:nvSpPr>
        <p:spPr>
          <a:xfrm>
            <a:off x="4370832" y="3044952"/>
            <a:ext cx="420624" cy="420624"/>
          </a:xfrm>
          <a:prstGeom prst="ellipse">
            <a:avLst/>
          </a:prstGeom>
          <a:solidFill>
            <a:srgbClr val="14513A"/>
          </a:solidFill>
          <a:ln>
            <a:noFill/>
          </a:ln>
        </p:spPr>
      </p:sp>
      <p:pic>
        <p:nvPicPr>
          <p:cNvPr id="93" name="Step 3 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463369" y="3137489"/>
            <a:ext cx="235549" cy="235549"/>
          </a:xfrm>
          <a:prstGeom prst="rect">
            <a:avLst/>
          </a:prstGeom>
          <a:ln>
            <a:noFill/>
          </a:ln>
        </p:spPr>
      </p:pic>
      <p:sp>
        <p:nvSpPr>
          <p:cNvPr id="94" name="Step 3 text"/>
          <p:cNvSpPr txBox="1"/>
          <p:nvPr/>
        </p:nvSpPr>
        <p:spPr>
          <a:xfrm>
            <a:off x="4919472" y="2980944"/>
            <a:ext cx="3767328" cy="566928"/>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 xml:space="preserve">Get a verdict </a:t>
            </a:r>
            <a:r>
              <a:rPr lang="en-GB" sz="1050" b="0" dirty="0">
                <a:solidFill>
                  <a:srgbClr val="15231B"/>
                </a:solidFill>
                <a:latin typeface="Arial"/>
                <a:ea typeface="Arial"/>
                <a:cs typeface="Arial"/>
                <a:sym typeface="Arial"/>
              </a:rPr>
              <a:t>in Malay or English, with a to-do list: what is missing, why, and where to get it.</a:t>
            </a:r>
            <a:endParaRPr lang="en-GB" sz="1150" dirty="0"/>
          </a:p>
        </p:txBody>
      </p:sp>
      <p:sp>
        <p:nvSpPr>
          <p:cNvPr id="95" name="Chip green"/>
          <p:cNvSpPr/>
          <p:nvPr/>
        </p:nvSpPr>
        <p:spPr>
          <a:xfrm>
            <a:off x="4919472" y="3621024"/>
            <a:ext cx="1078992" cy="246888"/>
          </a:xfrm>
          <a:prstGeom prst="roundRect">
            <a:avLst>
              <a:gd name="adj" fmla="val 18518"/>
            </a:avLst>
          </a:prstGeom>
          <a:solidFill>
            <a:srgbClr val="E3EFE7"/>
          </a:solidFill>
          <a:ln w="15875">
            <a:solidFill>
              <a:srgbClr val="2E7D4F"/>
            </a:solidFill>
          </a:ln>
        </p:spPr>
        <p:txBody>
          <a:bodyPr wrap="square" lIns="201168" tIns="0" rIns="36576" bIns="0" rtlCol="0" anchor="ctr">
            <a:noAutofit/>
          </a:bodyPr>
          <a:lstStyle/>
          <a:p>
            <a:pPr algn="ctr" marL="0" indent="0" rtl="0">
              <a:spcBef>
                <a:spcPts val="0"/>
              </a:spcBef>
              <a:spcAft>
                <a:spcPts val="0"/>
              </a:spcAft>
              <a:buNone/>
            </a:pPr>
            <a:r>
              <a:rPr lang="en-GB" sz="900" b="1" spc="30" dirty="0">
                <a:solidFill>
                  <a:srgbClr val="2E7D4F"/>
                </a:solidFill>
                <a:latin typeface="Arial"/>
                <a:ea typeface="Arial"/>
                <a:cs typeface="Arial"/>
                <a:sym typeface="Arial"/>
              </a:rPr>
              <a:t>COMPLETE</a:t>
            </a:r>
            <a:endParaRPr lang="en-GB" sz="900" dirty="0"/>
          </a:p>
        </p:txBody>
      </p:sp>
      <p:pic>
        <p:nvPicPr>
          <p:cNvPr id="96" name="Chip green 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974336" y="3672870"/>
            <a:ext cx="143195" cy="143195"/>
          </a:xfrm>
          <a:prstGeom prst="rect">
            <a:avLst/>
          </a:prstGeom>
          <a:ln>
            <a:noFill/>
          </a:ln>
        </p:spPr>
      </p:pic>
      <p:sp>
        <p:nvSpPr>
          <p:cNvPr id="97" name="Chip yellow"/>
          <p:cNvSpPr/>
          <p:nvPr/>
        </p:nvSpPr>
        <p:spPr>
          <a:xfrm>
            <a:off x="6071616" y="3621024"/>
            <a:ext cx="1261872" cy="246888"/>
          </a:xfrm>
          <a:prstGeom prst="roundRect">
            <a:avLst>
              <a:gd name="adj" fmla="val 18518"/>
            </a:avLst>
          </a:prstGeom>
          <a:solidFill>
            <a:srgbClr val="F8F3E8"/>
          </a:solidFill>
          <a:ln w="15875">
            <a:solidFill>
              <a:srgbClr val="B8861A"/>
            </a:solidFill>
          </a:ln>
        </p:spPr>
        <p:txBody>
          <a:bodyPr wrap="square" lIns="201168" tIns="0" rIns="36576" bIns="0" rtlCol="0" anchor="ctr">
            <a:noAutofit/>
          </a:bodyPr>
          <a:lstStyle/>
          <a:p>
            <a:pPr algn="ctr" marL="0" indent="0" rtl="0">
              <a:spcBef>
                <a:spcPts val="0"/>
              </a:spcBef>
              <a:spcAft>
                <a:spcPts val="0"/>
              </a:spcAft>
              <a:buNone/>
            </a:pPr>
            <a:r>
              <a:rPr lang="en-GB" sz="900" b="1" spc="30" dirty="0">
                <a:solidFill>
                  <a:srgbClr val="7A5A0C"/>
                </a:solidFill>
                <a:latin typeface="Arial"/>
                <a:ea typeface="Arial"/>
                <a:cs typeface="Arial"/>
                <a:sym typeface="Arial"/>
              </a:rPr>
              <a:t>NEEDS REVIEW</a:t>
            </a:r>
            <a:endParaRPr lang="en-GB" sz="900" dirty="0"/>
          </a:p>
        </p:txBody>
      </p:sp>
      <p:pic>
        <p:nvPicPr>
          <p:cNvPr id="98" name="Chip yellow 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126480" y="3672870"/>
            <a:ext cx="143195" cy="143195"/>
          </a:xfrm>
          <a:prstGeom prst="rect">
            <a:avLst/>
          </a:prstGeom>
          <a:ln>
            <a:noFill/>
          </a:ln>
        </p:spPr>
      </p:pic>
      <p:sp>
        <p:nvSpPr>
          <p:cNvPr id="99" name="Chip red"/>
          <p:cNvSpPr/>
          <p:nvPr/>
        </p:nvSpPr>
        <p:spPr>
          <a:xfrm>
            <a:off x="7406640" y="3621024"/>
            <a:ext cx="1280160" cy="246888"/>
          </a:xfrm>
          <a:prstGeom prst="roundRect">
            <a:avLst>
              <a:gd name="adj" fmla="val 18518"/>
            </a:avLst>
          </a:prstGeom>
          <a:solidFill>
            <a:srgbClr val="FAF1F0"/>
          </a:solidFill>
          <a:ln w="15875">
            <a:solidFill>
              <a:srgbClr val="B23A2E"/>
            </a:solidFill>
          </a:ln>
        </p:spPr>
        <p:txBody>
          <a:bodyPr wrap="square" lIns="201168" tIns="0" rIns="36576" bIns="0" rtlCol="0" anchor="ctr">
            <a:noAutofit/>
          </a:bodyPr>
          <a:lstStyle/>
          <a:p>
            <a:pPr algn="ctr" marL="0" indent="0" rtl="0">
              <a:spcBef>
                <a:spcPts val="0"/>
              </a:spcBef>
              <a:spcAft>
                <a:spcPts val="0"/>
              </a:spcAft>
              <a:buNone/>
            </a:pPr>
            <a:r>
              <a:rPr lang="en-GB" sz="900" b="1" spc="30" dirty="0">
                <a:solidFill>
                  <a:srgbClr val="B23A2E"/>
                </a:solidFill>
                <a:latin typeface="Arial"/>
                <a:ea typeface="Arial"/>
                <a:cs typeface="Arial"/>
                <a:sym typeface="Arial"/>
              </a:rPr>
              <a:t>ACTION NEEDED</a:t>
            </a:r>
            <a:endParaRPr lang="en-GB" sz="900" dirty="0"/>
          </a:p>
        </p:txBody>
      </p:sp>
      <p:pic>
        <p:nvPicPr>
          <p:cNvPr id="100" name="Chip red 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7461504" y="3672870"/>
            <a:ext cx="143195" cy="143195"/>
          </a:xfrm>
          <a:prstGeom prst="rect">
            <a:avLst/>
          </a:prstGeom>
          <a:ln>
            <a:noFill/>
          </a:ln>
        </p:spPr>
      </p:pic>
      <p:sp>
        <p:nvSpPr>
          <p:cNvPr id="101" name="Who card"/>
          <p:cNvSpPr/>
          <p:nvPr/>
        </p:nvSpPr>
        <p:spPr>
          <a:xfrm>
            <a:off x="4187952" y="4114800"/>
            <a:ext cx="4681728" cy="804672"/>
          </a:xfrm>
          <a:prstGeom prst="roundRect">
            <a:avLst>
              <a:gd name="adj" fmla="val 10227"/>
            </a:avLst>
          </a:prstGeom>
          <a:solidFill>
            <a:srgbClr val="FFFFFF"/>
          </a:solidFill>
          <a:ln w="9525">
            <a:solidFill>
              <a:srgbClr val="D3DCD0"/>
            </a:solidFill>
          </a:ln>
        </p:spPr>
      </p:sp>
      <p:pic>
        <p:nvPicPr>
          <p:cNvPr id="102" name="Who icon 0"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4315968" y="4361688"/>
            <a:ext cx="310896" cy="310896"/>
          </a:xfrm>
          <a:prstGeom prst="rect">
            <a:avLst/>
          </a:prstGeom>
          <a:ln>
            <a:noFill/>
          </a:ln>
        </p:spPr>
      </p:pic>
      <p:sp>
        <p:nvSpPr>
          <p:cNvPr id="103" name="Who text 0"/>
          <p:cNvSpPr txBox="1"/>
          <p:nvPr/>
        </p:nvSpPr>
        <p:spPr>
          <a:xfrm>
            <a:off x="4700016" y="4206240"/>
            <a:ext cx="822960" cy="62179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050" b="1" dirty="0">
                <a:solidFill>
                  <a:srgbClr val="0D3B29"/>
                </a:solidFill>
                <a:latin typeface="Arial"/>
                <a:ea typeface="Arial"/>
                <a:cs typeface="Arial"/>
                <a:sym typeface="Arial"/>
              </a:rPr>
              <a:t>Smallholder</a:t>
            </a:r>
            <a:endParaRPr lang="en-GB" sz="1050" dirty="0"/>
          </a:p>
          <a:p>
            <a:pPr algn="l" marL="0" indent="0" rtl="0">
              <a:spcBef>
                <a:spcPts val="0"/>
              </a:spcBef>
              <a:spcAft>
                <a:spcPts val="0"/>
              </a:spcAft>
              <a:buNone/>
            </a:pPr>
            <a:r>
              <a:rPr lang="en-GB" sz="950" b="0" dirty="0">
                <a:solidFill>
                  <a:srgbClr val="56655B"/>
                </a:solidFill>
                <a:latin typeface="Arial"/>
                <a:ea typeface="Arial"/>
                <a:cs typeface="Arial"/>
                <a:sym typeface="Arial"/>
              </a:rPr>
              <a:t>phone app</a:t>
            </a:r>
            <a:endParaRPr lang="en-GB" sz="950" dirty="0"/>
          </a:p>
        </p:txBody>
      </p:sp>
      <p:pic>
        <p:nvPicPr>
          <p:cNvPr id="104" name="Who icon 1"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5705856" y="4361688"/>
            <a:ext cx="310896" cy="310896"/>
          </a:xfrm>
          <a:prstGeom prst="rect">
            <a:avLst/>
          </a:prstGeom>
          <a:ln>
            <a:noFill/>
          </a:ln>
        </p:spPr>
      </p:pic>
      <p:sp>
        <p:nvSpPr>
          <p:cNvPr id="105" name="Who text 1"/>
          <p:cNvSpPr txBox="1"/>
          <p:nvPr/>
        </p:nvSpPr>
        <p:spPr>
          <a:xfrm>
            <a:off x="6089904" y="4206240"/>
            <a:ext cx="914400" cy="62179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050" b="1" dirty="0">
                <a:solidFill>
                  <a:srgbClr val="0D3B29"/>
                </a:solidFill>
                <a:latin typeface="Arial"/>
                <a:ea typeface="Arial"/>
                <a:cs typeface="Arial"/>
                <a:sym typeface="Arial"/>
              </a:rPr>
              <a:t>Field officer</a:t>
            </a:r>
            <a:endParaRPr lang="en-GB" sz="1050" dirty="0"/>
          </a:p>
          <a:p>
            <a:pPr algn="l" marL="0" indent="0" rtl="0">
              <a:spcBef>
                <a:spcPts val="0"/>
              </a:spcBef>
              <a:spcAft>
                <a:spcPts val="0"/>
              </a:spcAft>
              <a:buNone/>
            </a:pPr>
            <a:r>
              <a:rPr lang="en-GB" sz="950" b="0" dirty="0">
                <a:solidFill>
                  <a:srgbClr val="56655B"/>
                </a:solidFill>
                <a:latin typeface="Arial"/>
                <a:ea typeface="Arial"/>
                <a:cs typeface="Arial"/>
                <a:sym typeface="Arial"/>
              </a:rPr>
              <a:t>adds land for members</a:t>
            </a:r>
            <a:endParaRPr lang="en-GB" sz="950" dirty="0"/>
          </a:p>
        </p:txBody>
      </p:sp>
      <p:pic>
        <p:nvPicPr>
          <p:cNvPr id="106" name="Who icon 2" descr="">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7187184" y="4361688"/>
            <a:ext cx="310896" cy="310896"/>
          </a:xfrm>
          <a:prstGeom prst="rect">
            <a:avLst/>
          </a:prstGeom>
          <a:ln>
            <a:noFill/>
          </a:ln>
        </p:spPr>
      </p:pic>
      <p:sp>
        <p:nvSpPr>
          <p:cNvPr id="107" name="Who text 2"/>
          <p:cNvSpPr txBox="1"/>
          <p:nvPr/>
        </p:nvSpPr>
        <p:spPr>
          <a:xfrm>
            <a:off x="7571232" y="4206240"/>
            <a:ext cx="1243584" cy="62179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050" b="1" dirty="0">
                <a:solidFill>
                  <a:srgbClr val="0D3B29"/>
                </a:solidFill>
                <a:latin typeface="Arial"/>
                <a:ea typeface="Arial"/>
                <a:cs typeface="Arial"/>
                <a:sym typeface="Arial"/>
              </a:rPr>
              <a:t>Cooperative admin</a:t>
            </a:r>
            <a:endParaRPr lang="en-GB" sz="1050" dirty="0"/>
          </a:p>
          <a:p>
            <a:pPr algn="l" marL="0" indent="0" rtl="0">
              <a:spcBef>
                <a:spcPts val="0"/>
              </a:spcBef>
              <a:spcAft>
                <a:spcPts val="0"/>
              </a:spcAft>
              <a:buNone/>
            </a:pPr>
            <a:r>
              <a:rPr lang="en-GB" sz="950" b="0" dirty="0">
                <a:solidFill>
                  <a:srgbClr val="56655B"/>
                </a:solidFill>
                <a:latin typeface="Arial"/>
                <a:ea typeface="Arial"/>
                <a:cs typeface="Arial"/>
                <a:sym typeface="Arial"/>
              </a:rPr>
              <a:t>desktop dashboard</a:t>
            </a:r>
            <a:endParaRPr lang="en-GB" sz="950" dirty="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Opportunities</a:t>
            </a:r>
            <a:endParaRPr lang="en-GB" sz="1200" dirty="0"/>
          </a:p>
        </p:txBody>
      </p:sp>
      <p:sp>
        <p:nvSpPr>
          <p:cNvPr id="81"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Built for the smallholder's phone, not the exporter's office</a:t>
            </a:r>
            <a:endParaRPr lang="en-GB" sz="2000" dirty="0"/>
          </a:p>
        </p:txBody>
      </p:sp>
      <p:sp>
        <p:nvSpPr>
          <p:cNvPr id="82" name="Column 1"/>
          <p:cNvSpPr/>
          <p:nvPr/>
        </p:nvSpPr>
        <p:spPr>
          <a:xfrm>
            <a:off x="274320" y="1298448"/>
            <a:ext cx="2798064" cy="3621024"/>
          </a:xfrm>
          <a:prstGeom prst="roundRect">
            <a:avLst>
              <a:gd name="adj" fmla="val 2941"/>
            </a:avLst>
          </a:prstGeom>
          <a:solidFill>
            <a:srgbClr val="EDF1EC"/>
          </a:solidFill>
          <a:ln>
            <a:noFill/>
          </a:ln>
        </p:spPr>
      </p:sp>
      <p:sp>
        <p:nvSpPr>
          <p:cNvPr id="83" name="Column 1 badge"/>
          <p:cNvSpPr/>
          <p:nvPr/>
        </p:nvSpPr>
        <p:spPr>
          <a:xfrm>
            <a:off x="438912" y="1481328"/>
            <a:ext cx="402336" cy="402336"/>
          </a:xfrm>
          <a:prstGeom prst="ellipse">
            <a:avLst/>
          </a:prstGeom>
          <a:solidFill>
            <a:srgbClr val="14513A"/>
          </a:solidFill>
          <a:ln>
            <a:noFill/>
          </a:ln>
        </p:spPr>
      </p:sp>
      <p:pic>
        <p:nvPicPr>
          <p:cNvPr id="84" name="Column 1 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27426" y="1569842"/>
            <a:ext cx="225308" cy="225308"/>
          </a:xfrm>
          <a:prstGeom prst="rect">
            <a:avLst/>
          </a:prstGeom>
          <a:ln>
            <a:noFill/>
          </a:ln>
        </p:spPr>
      </p:pic>
      <p:sp>
        <p:nvSpPr>
          <p:cNvPr id="85" name="Question 1"/>
          <p:cNvSpPr txBox="1"/>
          <p:nvPr/>
        </p:nvSpPr>
        <p:spPr>
          <a:xfrm>
            <a:off x="932688" y="1389888"/>
            <a:ext cx="1993392" cy="603504"/>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How different is it from any of the other existing ideas?</a:t>
            </a:r>
            <a:endParaRPr lang="en-GB" sz="1150" dirty="0"/>
          </a:p>
        </p:txBody>
      </p:sp>
      <p:sp>
        <p:nvSpPr>
          <p:cNvPr id="86" name="Answers 1"/>
          <p:cNvSpPr txBox="1"/>
          <p:nvPr/>
        </p:nvSpPr>
        <p:spPr>
          <a:xfrm>
            <a:off x="457200" y="2139696"/>
            <a:ext cx="2450592" cy="2697480"/>
          </a:xfrm>
          <a:prstGeom prst="rect">
            <a:avLst/>
          </a:prstGeom>
          <a:noFill/>
          <a:ln>
            <a:noFill/>
          </a:ln>
        </p:spPr>
        <p:txBody>
          <a:bodyPr wrap="square" lIns="0" tIns="0" rIns="0" bIns="0" rtlCol="0" anchor="t">
            <a:noAutofit/>
          </a:bodyPr>
          <a:lstStyle/>
          <a:p>
            <a:pPr algn="l" marL="146304" indent="-146304" rtl="0">
              <a:spcBef>
                <a:spcPts val="0"/>
              </a:spcBef>
              <a:spcAft>
                <a:spcPts val="700"/>
              </a:spcAft>
              <a:buClr>
                <a:srgbClr val="14513A"/>
              </a:buClr>
              <a:buSzPct val="100000"/>
              <a:buFont typeface="Arial"/>
              <a:buChar char="•"/>
            </a:pPr>
            <a:r>
              <a:rPr lang="en-GB" sz="1100" b="0" dirty="0">
                <a:solidFill>
                  <a:srgbClr val="15231B"/>
                </a:solidFill>
                <a:latin typeface="Arial"/>
                <a:ea typeface="Arial"/>
                <a:cs typeface="Arial"/>
                <a:sym typeface="Arial"/>
              </a:rPr>
              <a:t>Most EUDR tools are built for exporters, mills and large operators. KebunSah starts from the smallholder's phone, in Malay first.</a:t>
            </a:r>
            <a:endParaRPr lang="en-GB" sz="1100" dirty="0"/>
          </a:p>
          <a:p>
            <a:pPr algn="l" marL="146304" indent="-146304" rtl="0">
              <a:spcBef>
                <a:spcPts val="0"/>
              </a:spcBef>
              <a:spcAft>
                <a:spcPts val="700"/>
              </a:spcAft>
              <a:buClr>
                <a:srgbClr val="14513A"/>
              </a:buClr>
              <a:buSzPct val="100000"/>
              <a:buFont typeface="Arial"/>
              <a:buChar char="•"/>
            </a:pPr>
            <a:r>
              <a:rPr lang="en-GB" sz="1100" b="0" dirty="0">
                <a:solidFill>
                  <a:srgbClr val="15231B"/>
                </a:solidFill>
                <a:latin typeface="Arial"/>
                <a:ea typeface="Arial"/>
                <a:cs typeface="Arial"/>
                <a:sym typeface="Arial"/>
              </a:rPr>
              <a:t>It checks the documents against each other and against the drawn boundary: a title proves ownership, not forest history, and registers hold names, not boundaries.</a:t>
            </a:r>
            <a:endParaRPr lang="en-GB" sz="1100" dirty="0"/>
          </a:p>
          <a:p>
            <a:pPr algn="l" marL="146304" indent="-146304" rtl="0">
              <a:spcBef>
                <a:spcPts val="0"/>
              </a:spcBef>
              <a:spcAft>
                <a:spcPts val="700"/>
              </a:spcAft>
              <a:buClr>
                <a:srgbClr val="14513A"/>
              </a:buClr>
              <a:buSzPct val="100000"/>
              <a:buFont typeface="Arial"/>
              <a:buChar char="•"/>
            </a:pPr>
            <a:r>
              <a:rPr lang="en-GB" sz="1100" b="0" dirty="0">
                <a:solidFill>
                  <a:srgbClr val="15231B"/>
                </a:solidFill>
                <a:latin typeface="Arial"/>
                <a:ea typeface="Arial"/>
                <a:cs typeface="Arial"/>
                <a:sym typeface="Arial"/>
              </a:rPr>
              <a:t>It tells the farmer what to do next (what is missing, why, where to get it) instead of only reporting a score.</a:t>
            </a:r>
            <a:endParaRPr lang="en-GB" sz="1100" dirty="0"/>
          </a:p>
        </p:txBody>
      </p:sp>
      <p:sp>
        <p:nvSpPr>
          <p:cNvPr id="87" name="Column 2"/>
          <p:cNvSpPr/>
          <p:nvPr/>
        </p:nvSpPr>
        <p:spPr>
          <a:xfrm>
            <a:off x="3172968" y="1298448"/>
            <a:ext cx="2798064" cy="3621024"/>
          </a:xfrm>
          <a:prstGeom prst="roundRect">
            <a:avLst>
              <a:gd name="adj" fmla="val 2941"/>
            </a:avLst>
          </a:prstGeom>
          <a:solidFill>
            <a:srgbClr val="EDF1EC"/>
          </a:solidFill>
          <a:ln>
            <a:noFill/>
          </a:ln>
        </p:spPr>
      </p:sp>
      <p:sp>
        <p:nvSpPr>
          <p:cNvPr id="88" name="Column 2 badge"/>
          <p:cNvSpPr/>
          <p:nvPr/>
        </p:nvSpPr>
        <p:spPr>
          <a:xfrm>
            <a:off x="3337560" y="1481328"/>
            <a:ext cx="402336" cy="402336"/>
          </a:xfrm>
          <a:prstGeom prst="ellipse">
            <a:avLst/>
          </a:prstGeom>
          <a:solidFill>
            <a:srgbClr val="14513A"/>
          </a:solidFill>
          <a:ln>
            <a:noFill/>
          </a:ln>
        </p:spPr>
      </p:sp>
      <p:pic>
        <p:nvPicPr>
          <p:cNvPr id="89" name="Column 2 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426074" y="1569842"/>
            <a:ext cx="225308" cy="225308"/>
          </a:xfrm>
          <a:prstGeom prst="rect">
            <a:avLst/>
          </a:prstGeom>
          <a:ln>
            <a:noFill/>
          </a:ln>
        </p:spPr>
      </p:pic>
      <p:sp>
        <p:nvSpPr>
          <p:cNvPr id="90" name="Question 2"/>
          <p:cNvSpPr txBox="1"/>
          <p:nvPr/>
        </p:nvSpPr>
        <p:spPr>
          <a:xfrm>
            <a:off x="3831336" y="1389888"/>
            <a:ext cx="1993392" cy="603504"/>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How will it be able to solve the problem?</a:t>
            </a:r>
            <a:endParaRPr lang="en-GB" sz="1150" dirty="0"/>
          </a:p>
        </p:txBody>
      </p:sp>
      <p:sp>
        <p:nvSpPr>
          <p:cNvPr id="91" name="Answers 2"/>
          <p:cNvSpPr txBox="1"/>
          <p:nvPr/>
        </p:nvSpPr>
        <p:spPr>
          <a:xfrm>
            <a:off x="3355848" y="2139696"/>
            <a:ext cx="2450592" cy="2697480"/>
          </a:xfrm>
          <a:prstGeom prst="rect">
            <a:avLst/>
          </a:prstGeom>
          <a:noFill/>
          <a:ln>
            <a:noFill/>
          </a:ln>
        </p:spPr>
        <p:txBody>
          <a:bodyPr wrap="square" lIns="0" tIns="0" rIns="0" bIns="0" rtlCol="0" anchor="t">
            <a:noAutofit/>
          </a:bodyPr>
          <a:lstStyle/>
          <a:p>
            <a:pPr algn="l" marL="146304" indent="-146304" rtl="0">
              <a:spcBef>
                <a:spcPts val="0"/>
              </a:spcBef>
              <a:spcAft>
                <a:spcPts val="700"/>
              </a:spcAft>
              <a:buClr>
                <a:srgbClr val="14513A"/>
              </a:buClr>
              <a:buSzPct val="100000"/>
              <a:buFont typeface="Arial"/>
              <a:buChar char="•"/>
            </a:pPr>
            <a:r>
              <a:rPr lang="en-GB" sz="1100" b="0" dirty="0">
                <a:solidFill>
                  <a:srgbClr val="15231B"/>
                </a:solidFill>
                <a:latin typeface="Arial"/>
                <a:ea typeface="Arial"/>
                <a:cs typeface="Arial"/>
                <a:sym typeface="Arial"/>
              </a:rPr>
              <a:t>Photos of the land title, MPOB licence and MSPO certificate become structured data (Gemini), each field with a confidence score.</a:t>
            </a:r>
            <a:endParaRPr lang="en-GB" sz="1100" dirty="0"/>
          </a:p>
          <a:p>
            <a:pPr algn="l" marL="146304" indent="-146304" rtl="0">
              <a:spcBef>
                <a:spcPts val="0"/>
              </a:spcBef>
              <a:spcAft>
                <a:spcPts val="700"/>
              </a:spcAft>
              <a:buClr>
                <a:srgbClr val="14513A"/>
              </a:buClr>
              <a:buSzPct val="100000"/>
              <a:buFont typeface="Arial"/>
              <a:buChar char="•"/>
            </a:pPr>
            <a:r>
              <a:rPr lang="en-GB" sz="1100" b="0" dirty="0">
                <a:solidFill>
                  <a:srgbClr val="15231B"/>
                </a:solidFill>
                <a:latin typeface="Arial"/>
                <a:ea typeface="Arial"/>
                <a:cs typeface="Arial"/>
                <a:sym typeface="Arial"/>
              </a:rPr>
              <a:t>Rules compare area, expiry dates and names; Earth Engine screens the plot for forest loss after 31 Dec 2020.</a:t>
            </a:r>
            <a:endParaRPr lang="en-GB" sz="1100" dirty="0"/>
          </a:p>
          <a:p>
            <a:pPr algn="l" marL="146304" indent="-146304" rtl="0">
              <a:spcBef>
                <a:spcPts val="0"/>
              </a:spcBef>
              <a:spcAft>
                <a:spcPts val="700"/>
              </a:spcAft>
              <a:buClr>
                <a:srgbClr val="14513A"/>
              </a:buClr>
              <a:buSzPct val="100000"/>
              <a:buFont typeface="Arial"/>
              <a:buChar char="•"/>
            </a:pPr>
            <a:r>
              <a:rPr lang="en-GB" sz="1100" b="0" dirty="0">
                <a:solidFill>
                  <a:srgbClr val="15231B"/>
                </a:solidFill>
                <a:latin typeface="Arial"/>
                <a:ea typeface="Arial"/>
                <a:cs typeface="Arial"/>
                <a:sym typeface="Arial"/>
              </a:rPr>
              <a:t>The result is a green / yellow / red verdict and a to-do list. Cooperatives follow every member plot and export dossiers for buyers.</a:t>
            </a:r>
            <a:endParaRPr lang="en-GB" sz="1100" dirty="0"/>
          </a:p>
        </p:txBody>
      </p:sp>
      <p:sp>
        <p:nvSpPr>
          <p:cNvPr id="92" name="Column 3"/>
          <p:cNvSpPr/>
          <p:nvPr/>
        </p:nvSpPr>
        <p:spPr>
          <a:xfrm>
            <a:off x="6071616" y="1298448"/>
            <a:ext cx="2798064" cy="3621024"/>
          </a:xfrm>
          <a:prstGeom prst="roundRect">
            <a:avLst>
              <a:gd name="adj" fmla="val 2941"/>
            </a:avLst>
          </a:prstGeom>
          <a:solidFill>
            <a:srgbClr val="EDF1EC"/>
          </a:solidFill>
          <a:ln>
            <a:noFill/>
          </a:ln>
        </p:spPr>
      </p:sp>
      <p:sp>
        <p:nvSpPr>
          <p:cNvPr id="93" name="Column 3 badge"/>
          <p:cNvSpPr/>
          <p:nvPr/>
        </p:nvSpPr>
        <p:spPr>
          <a:xfrm>
            <a:off x="6236208" y="1481328"/>
            <a:ext cx="402336" cy="402336"/>
          </a:xfrm>
          <a:prstGeom prst="ellipse">
            <a:avLst/>
          </a:prstGeom>
          <a:solidFill>
            <a:srgbClr val="14513A"/>
          </a:solidFill>
          <a:ln>
            <a:noFill/>
          </a:ln>
        </p:spPr>
      </p:sp>
      <p:pic>
        <p:nvPicPr>
          <p:cNvPr id="94" name="Column 3 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324722" y="1569842"/>
            <a:ext cx="225308" cy="225308"/>
          </a:xfrm>
          <a:prstGeom prst="rect">
            <a:avLst/>
          </a:prstGeom>
          <a:ln>
            <a:noFill/>
          </a:ln>
        </p:spPr>
      </p:pic>
      <p:sp>
        <p:nvSpPr>
          <p:cNvPr id="95" name="Question 3"/>
          <p:cNvSpPr txBox="1"/>
          <p:nvPr/>
        </p:nvSpPr>
        <p:spPr>
          <a:xfrm>
            <a:off x="6729984" y="1389888"/>
            <a:ext cx="1993392" cy="603504"/>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USP of the proposed solution</a:t>
            </a:r>
            <a:endParaRPr lang="en-GB" sz="1150" dirty="0"/>
          </a:p>
        </p:txBody>
      </p:sp>
      <p:sp>
        <p:nvSpPr>
          <p:cNvPr id="96" name="Answers 3"/>
          <p:cNvSpPr txBox="1"/>
          <p:nvPr/>
        </p:nvSpPr>
        <p:spPr>
          <a:xfrm>
            <a:off x="6254496" y="2139696"/>
            <a:ext cx="2450592" cy="2697480"/>
          </a:xfrm>
          <a:prstGeom prst="rect">
            <a:avLst/>
          </a:prstGeom>
          <a:noFill/>
          <a:ln>
            <a:noFill/>
          </a:ln>
        </p:spPr>
        <p:txBody>
          <a:bodyPr wrap="square" lIns="0" tIns="0" rIns="0" bIns="0" rtlCol="0" anchor="t">
            <a:noAutofit/>
          </a:bodyPr>
          <a:lstStyle/>
          <a:p>
            <a:pPr algn="l" marL="146304" indent="-146304" rtl="0">
              <a:spcBef>
                <a:spcPts val="0"/>
              </a:spcBef>
              <a:spcAft>
                <a:spcPts val="700"/>
              </a:spcAft>
              <a:buClr>
                <a:srgbClr val="14513A"/>
              </a:buClr>
              <a:buSzPct val="100000"/>
              <a:buFont typeface="Arial"/>
              <a:buChar char="•"/>
            </a:pPr>
            <a:r>
              <a:rPr lang="en-GB" sz="1100" b="1" dirty="0">
                <a:solidFill>
                  <a:srgbClr val="15231B"/>
                </a:solidFill>
                <a:latin typeface="Arial"/>
                <a:ea typeface="Arial"/>
                <a:cs typeface="Arial"/>
                <a:sym typeface="Arial"/>
              </a:rPr>
              <a:t xml:space="preserve">Gemini reads and explains; rules decide. </a:t>
            </a:r>
            <a:r>
              <a:rPr lang="en-GB" sz="1100" b="0" dirty="0">
                <a:solidFill>
                  <a:srgbClr val="15231B"/>
                </a:solidFill>
                <a:latin typeface="Arial"/>
                <a:ea typeface="Arial"/>
                <a:cs typeface="Arial"/>
                <a:sym typeface="Arial"/>
              </a:rPr>
              <a:t>Every verdict is reproducible and auditable.</a:t>
            </a:r>
            <a:endParaRPr lang="en-GB" sz="1100" dirty="0"/>
          </a:p>
          <a:p>
            <a:pPr algn="l" marL="146304" indent="-146304" rtl="0">
              <a:spcBef>
                <a:spcPts val="0"/>
              </a:spcBef>
              <a:spcAft>
                <a:spcPts val="700"/>
              </a:spcAft>
              <a:buClr>
                <a:srgbClr val="14513A"/>
              </a:buClr>
              <a:buSzPct val="100000"/>
              <a:buFont typeface="Arial"/>
              <a:buChar char="•"/>
            </a:pPr>
            <a:r>
              <a:rPr lang="en-GB" sz="1100" b="1" dirty="0">
                <a:solidFill>
                  <a:srgbClr val="15231B"/>
                </a:solidFill>
                <a:latin typeface="Arial"/>
                <a:ea typeface="Arial"/>
                <a:cs typeface="Arial"/>
                <a:sym typeface="Arial"/>
              </a:rPr>
              <a:t xml:space="preserve">Made for the field: </a:t>
            </a:r>
            <a:r>
              <a:rPr lang="en-GB" sz="1100" b="0" dirty="0">
                <a:solidFill>
                  <a:srgbClr val="15231B"/>
                </a:solidFill>
                <a:latin typeface="Arial"/>
                <a:ea typeface="Arial"/>
                <a:cs typeface="Arial"/>
                <a:sym typeface="Arial"/>
              </a:rPr>
              <a:t>large buttons, status as colour + icon + words, type or speak a question, and it keeps working with no signal.</a:t>
            </a:r>
            <a:endParaRPr lang="en-GB" sz="1100" dirty="0"/>
          </a:p>
          <a:p>
            <a:pPr algn="l" marL="146304" indent="-146304" rtl="0">
              <a:spcBef>
                <a:spcPts val="0"/>
              </a:spcBef>
              <a:spcAft>
                <a:spcPts val="700"/>
              </a:spcAft>
              <a:buClr>
                <a:srgbClr val="14513A"/>
              </a:buClr>
              <a:buSzPct val="100000"/>
              <a:buFont typeface="Arial"/>
              <a:buChar char="•"/>
            </a:pPr>
            <a:r>
              <a:rPr lang="en-GB" sz="1100" b="1" dirty="0">
                <a:solidFill>
                  <a:srgbClr val="15231B"/>
                </a:solidFill>
                <a:latin typeface="Arial"/>
                <a:ea typeface="Arial"/>
                <a:cs typeface="Arial"/>
                <a:sym typeface="Arial"/>
              </a:rPr>
              <a:t xml:space="preserve">Free for smallholders; </a:t>
            </a:r>
            <a:r>
              <a:rPr lang="en-GB" sz="1100" b="0" dirty="0">
                <a:solidFill>
                  <a:srgbClr val="15231B"/>
                </a:solidFill>
                <a:latin typeface="Arial"/>
                <a:ea typeface="Arial"/>
                <a:cs typeface="Arial"/>
                <a:sym typeface="Arial"/>
              </a:rPr>
              <a:t>cooperatives, mills and buyers pay, because they carry the due-diligence duty.</a:t>
            </a:r>
            <a:endParaRPr lang="en-GB" sz="1100" dirty="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List of features offered by the solution</a:t>
            </a:r>
            <a:endParaRPr lang="en-GB" sz="1200" dirty="0"/>
          </a:p>
        </p:txBody>
      </p:sp>
      <p:sp>
        <p:nvSpPr>
          <p:cNvPr id="89"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Nine features in one chain: capture, verdict, dossier</a:t>
            </a:r>
            <a:endParaRPr lang="en-GB" sz="2000" dirty="0"/>
          </a:p>
        </p:txBody>
      </p:sp>
      <p:sp>
        <p:nvSpPr>
          <p:cNvPr id="90" name="Feature 1"/>
          <p:cNvSpPr/>
          <p:nvPr/>
        </p:nvSpPr>
        <p:spPr>
          <a:xfrm>
            <a:off x="274320" y="1298448"/>
            <a:ext cx="2791663" cy="1024128"/>
          </a:xfrm>
          <a:prstGeom prst="roundRect">
            <a:avLst>
              <a:gd name="adj" fmla="val 8035"/>
            </a:avLst>
          </a:prstGeom>
          <a:solidFill>
            <a:srgbClr val="EDF1EC"/>
          </a:solidFill>
          <a:ln>
            <a:noFill/>
          </a:ln>
        </p:spPr>
      </p:sp>
      <p:sp>
        <p:nvSpPr>
          <p:cNvPr id="91" name="Feature 1 badge"/>
          <p:cNvSpPr/>
          <p:nvPr/>
        </p:nvSpPr>
        <p:spPr>
          <a:xfrm>
            <a:off x="402336" y="1444752"/>
            <a:ext cx="402336" cy="402336"/>
          </a:xfrm>
          <a:prstGeom prst="ellipse">
            <a:avLst/>
          </a:prstGeom>
          <a:solidFill>
            <a:srgbClr val="14513A"/>
          </a:solidFill>
          <a:ln>
            <a:noFill/>
          </a:ln>
        </p:spPr>
      </p:sp>
      <p:pic>
        <p:nvPicPr>
          <p:cNvPr id="92" name="Feature 1 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90850" y="1533266"/>
            <a:ext cx="225308" cy="225308"/>
          </a:xfrm>
          <a:prstGeom prst="rect">
            <a:avLst/>
          </a:prstGeom>
          <a:ln>
            <a:noFill/>
          </a:ln>
        </p:spPr>
      </p:pic>
      <p:sp>
        <p:nvSpPr>
          <p:cNvPr id="93" name="Feature 1 text"/>
          <p:cNvSpPr txBox="1"/>
          <p:nvPr/>
        </p:nvSpPr>
        <p:spPr>
          <a:xfrm>
            <a:off x="914400" y="1380744"/>
            <a:ext cx="2041855" cy="877824"/>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150" b="1" dirty="0">
                <a:solidFill>
                  <a:srgbClr val="0D3B29"/>
                </a:solidFill>
                <a:latin typeface="Arial"/>
                <a:ea typeface="Arial"/>
                <a:cs typeface="Arial"/>
                <a:sym typeface="Arial"/>
              </a:rPr>
              <a:t>Photograph documents</a:t>
            </a:r>
            <a:endParaRPr lang="en-GB" sz="1150" dirty="0"/>
          </a:p>
          <a:p>
            <a:pPr algn="l" marL="0" indent="0" rtl="0">
              <a:spcBef>
                <a:spcPts val="0"/>
              </a:spcBef>
              <a:spcAft>
                <a:spcPts val="0"/>
              </a:spcAft>
              <a:buNone/>
            </a:pPr>
            <a:r>
              <a:rPr lang="en-GB" sz="1000" b="0" dirty="0">
                <a:solidFill>
                  <a:srgbClr val="15231B"/>
                </a:solidFill>
                <a:latin typeface="Arial"/>
                <a:ea typeface="Arial"/>
                <a:cs typeface="Arial"/>
                <a:sym typeface="Arial"/>
              </a:rPr>
              <a:t>Land title (up to 4 pages), MPOB licence and MSPO certificate, from camera or gallery.</a:t>
            </a:r>
            <a:endParaRPr lang="en-GB" sz="1000" dirty="0"/>
          </a:p>
        </p:txBody>
      </p:sp>
      <p:sp>
        <p:nvSpPr>
          <p:cNvPr id="94" name="Feature 2"/>
          <p:cNvSpPr/>
          <p:nvPr/>
        </p:nvSpPr>
        <p:spPr>
          <a:xfrm>
            <a:off x="3175711" y="1298448"/>
            <a:ext cx="2791663" cy="1024128"/>
          </a:xfrm>
          <a:prstGeom prst="roundRect">
            <a:avLst>
              <a:gd name="adj" fmla="val 8035"/>
            </a:avLst>
          </a:prstGeom>
          <a:solidFill>
            <a:srgbClr val="EDF1EC"/>
          </a:solidFill>
          <a:ln>
            <a:noFill/>
          </a:ln>
        </p:spPr>
      </p:sp>
      <p:sp>
        <p:nvSpPr>
          <p:cNvPr id="95" name="Feature 2 badge"/>
          <p:cNvSpPr/>
          <p:nvPr/>
        </p:nvSpPr>
        <p:spPr>
          <a:xfrm>
            <a:off x="3303727" y="1444752"/>
            <a:ext cx="402336" cy="402336"/>
          </a:xfrm>
          <a:prstGeom prst="ellipse">
            <a:avLst/>
          </a:prstGeom>
          <a:solidFill>
            <a:srgbClr val="14513A"/>
          </a:solidFill>
          <a:ln>
            <a:noFill/>
          </a:ln>
        </p:spPr>
      </p:sp>
      <p:pic>
        <p:nvPicPr>
          <p:cNvPr id="96" name="Feature 2 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392241" y="1533266"/>
            <a:ext cx="225308" cy="225308"/>
          </a:xfrm>
          <a:prstGeom prst="rect">
            <a:avLst/>
          </a:prstGeom>
          <a:ln>
            <a:noFill/>
          </a:ln>
        </p:spPr>
      </p:pic>
      <p:sp>
        <p:nvSpPr>
          <p:cNvPr id="97" name="Feature 2 text"/>
          <p:cNvSpPr txBox="1"/>
          <p:nvPr/>
        </p:nvSpPr>
        <p:spPr>
          <a:xfrm>
            <a:off x="3815791" y="1380744"/>
            <a:ext cx="2041855" cy="877824"/>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150" b="1" dirty="0">
                <a:solidFill>
                  <a:srgbClr val="0D3B29"/>
                </a:solidFill>
                <a:latin typeface="Arial"/>
                <a:ea typeface="Arial"/>
                <a:cs typeface="Arial"/>
                <a:sym typeface="Arial"/>
              </a:rPr>
              <a:t>Draw the boundary</a:t>
            </a:r>
            <a:endParaRPr lang="en-GB" sz="1150" dirty="0"/>
          </a:p>
          <a:p>
            <a:pPr algn="l" marL="0" indent="0" rtl="0">
              <a:spcBef>
                <a:spcPts val="0"/>
              </a:spcBef>
              <a:spcAft>
                <a:spcPts val="0"/>
              </a:spcAft>
              <a:buNone/>
            </a:pPr>
            <a:r>
              <a:rPr lang="en-GB" sz="1000" b="0" dirty="0">
                <a:solidFill>
                  <a:srgbClr val="15231B"/>
                </a:solidFill>
                <a:latin typeface="Arial"/>
                <a:ea typeface="Arial"/>
                <a:cs typeface="Arial"/>
                <a:sym typeface="Arial"/>
              </a:rPr>
              <a:t>On a satellite map, by walking the corners with GPS, or one point plus area under 4 ha.</a:t>
            </a:r>
            <a:endParaRPr lang="en-GB" sz="1000" dirty="0"/>
          </a:p>
        </p:txBody>
      </p:sp>
      <p:sp>
        <p:nvSpPr>
          <p:cNvPr id="98" name="Feature 3"/>
          <p:cNvSpPr/>
          <p:nvPr/>
        </p:nvSpPr>
        <p:spPr>
          <a:xfrm>
            <a:off x="6077102" y="1298448"/>
            <a:ext cx="2791663" cy="1024128"/>
          </a:xfrm>
          <a:prstGeom prst="roundRect">
            <a:avLst>
              <a:gd name="adj" fmla="val 8035"/>
            </a:avLst>
          </a:prstGeom>
          <a:solidFill>
            <a:srgbClr val="EDF1EC"/>
          </a:solidFill>
          <a:ln>
            <a:noFill/>
          </a:ln>
        </p:spPr>
      </p:sp>
      <p:sp>
        <p:nvSpPr>
          <p:cNvPr id="99" name="Feature 3 badge"/>
          <p:cNvSpPr/>
          <p:nvPr/>
        </p:nvSpPr>
        <p:spPr>
          <a:xfrm>
            <a:off x="6205118" y="1444752"/>
            <a:ext cx="402336" cy="402336"/>
          </a:xfrm>
          <a:prstGeom prst="ellipse">
            <a:avLst/>
          </a:prstGeom>
          <a:solidFill>
            <a:srgbClr val="14513A"/>
          </a:solidFill>
          <a:ln>
            <a:noFill/>
          </a:ln>
        </p:spPr>
      </p:sp>
      <p:pic>
        <p:nvPicPr>
          <p:cNvPr id="100" name="Feature 3 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293632" y="1533266"/>
            <a:ext cx="225308" cy="225308"/>
          </a:xfrm>
          <a:prstGeom prst="rect">
            <a:avLst/>
          </a:prstGeom>
          <a:ln>
            <a:noFill/>
          </a:ln>
        </p:spPr>
      </p:pic>
      <p:sp>
        <p:nvSpPr>
          <p:cNvPr id="101" name="Feature 3 text"/>
          <p:cNvSpPr txBox="1"/>
          <p:nvPr/>
        </p:nvSpPr>
        <p:spPr>
          <a:xfrm>
            <a:off x="6717182" y="1380744"/>
            <a:ext cx="2041855" cy="877824"/>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150" b="1" dirty="0">
                <a:solidFill>
                  <a:srgbClr val="0D3B29"/>
                </a:solidFill>
                <a:latin typeface="Arial"/>
                <a:ea typeface="Arial"/>
                <a:cs typeface="Arial"/>
                <a:sym typeface="Arial"/>
              </a:rPr>
              <a:t>AI document reading</a:t>
            </a:r>
            <a:endParaRPr lang="en-GB" sz="1150" dirty="0"/>
          </a:p>
          <a:p>
            <a:pPr algn="l" marL="0" indent="0" rtl="0">
              <a:spcBef>
                <a:spcPts val="0"/>
              </a:spcBef>
              <a:spcAft>
                <a:spcPts val="0"/>
              </a:spcAft>
              <a:buNone/>
            </a:pPr>
            <a:r>
              <a:rPr lang="en-GB" sz="1000" b="0" dirty="0">
                <a:solidFill>
                  <a:srgbClr val="15231B"/>
                </a:solidFill>
                <a:latin typeface="Arial"/>
                <a:ea typeface="Arial"/>
                <a:cs typeface="Arial"/>
                <a:sym typeface="Arial"/>
              </a:rPr>
              <a:t>Gemini reads each photo into fields with a confidence score; unsure ones go back to the user.</a:t>
            </a:r>
            <a:endParaRPr lang="en-GB" sz="1000" dirty="0"/>
          </a:p>
        </p:txBody>
      </p:sp>
      <p:sp>
        <p:nvSpPr>
          <p:cNvPr id="102" name="Feature 4"/>
          <p:cNvSpPr/>
          <p:nvPr/>
        </p:nvSpPr>
        <p:spPr>
          <a:xfrm>
            <a:off x="274320" y="2414016"/>
            <a:ext cx="2791663" cy="1024128"/>
          </a:xfrm>
          <a:prstGeom prst="roundRect">
            <a:avLst>
              <a:gd name="adj" fmla="val 8035"/>
            </a:avLst>
          </a:prstGeom>
          <a:solidFill>
            <a:srgbClr val="EDF1EC"/>
          </a:solidFill>
          <a:ln>
            <a:noFill/>
          </a:ln>
        </p:spPr>
      </p:sp>
      <p:sp>
        <p:nvSpPr>
          <p:cNvPr id="103" name="Feature 4 badge"/>
          <p:cNvSpPr/>
          <p:nvPr/>
        </p:nvSpPr>
        <p:spPr>
          <a:xfrm>
            <a:off x="402336" y="2560320"/>
            <a:ext cx="402336" cy="402336"/>
          </a:xfrm>
          <a:prstGeom prst="ellipse">
            <a:avLst/>
          </a:prstGeom>
          <a:solidFill>
            <a:srgbClr val="14513A"/>
          </a:solidFill>
          <a:ln>
            <a:noFill/>
          </a:ln>
        </p:spPr>
      </p:sp>
      <p:pic>
        <p:nvPicPr>
          <p:cNvPr id="104" name="Feature 4 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90850" y="2648834"/>
            <a:ext cx="225308" cy="225308"/>
          </a:xfrm>
          <a:prstGeom prst="rect">
            <a:avLst/>
          </a:prstGeom>
          <a:ln>
            <a:noFill/>
          </a:ln>
        </p:spPr>
      </p:pic>
      <p:sp>
        <p:nvSpPr>
          <p:cNvPr id="105" name="Feature 4 text"/>
          <p:cNvSpPr txBox="1"/>
          <p:nvPr/>
        </p:nvSpPr>
        <p:spPr>
          <a:xfrm>
            <a:off x="914400" y="2496312"/>
            <a:ext cx="2041855" cy="877824"/>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150" b="1" dirty="0">
                <a:solidFill>
                  <a:srgbClr val="0D3B29"/>
                </a:solidFill>
                <a:latin typeface="Arial"/>
                <a:ea typeface="Arial"/>
                <a:cs typeface="Arial"/>
                <a:sym typeface="Arial"/>
              </a:rPr>
              <a:t>Rules check</a:t>
            </a:r>
            <a:endParaRPr lang="en-GB" sz="1150" dirty="0"/>
          </a:p>
          <a:p>
            <a:pPr algn="l" marL="0" indent="0" rtl="0">
              <a:spcBef>
                <a:spcPts val="0"/>
              </a:spcBef>
              <a:spcAft>
                <a:spcPts val="0"/>
              </a:spcAft>
              <a:buNone/>
            </a:pPr>
            <a:r>
              <a:rPr lang="en-GB" sz="1000" b="0" dirty="0">
                <a:solidFill>
                  <a:srgbClr val="15231B"/>
                </a:solidFill>
                <a:latin typeface="Arial"/>
                <a:ea typeface="Arial"/>
                <a:cs typeface="Arial"/>
                <a:sym typeface="Arial"/>
              </a:rPr>
              <a:t>Area (title vs drawing), expiry dates and names are compared across the documents.</a:t>
            </a:r>
            <a:endParaRPr lang="en-GB" sz="1000" dirty="0"/>
          </a:p>
        </p:txBody>
      </p:sp>
      <p:sp>
        <p:nvSpPr>
          <p:cNvPr id="106" name="Feature 5"/>
          <p:cNvSpPr/>
          <p:nvPr/>
        </p:nvSpPr>
        <p:spPr>
          <a:xfrm>
            <a:off x="3175711" y="2414016"/>
            <a:ext cx="2791663" cy="1024128"/>
          </a:xfrm>
          <a:prstGeom prst="roundRect">
            <a:avLst>
              <a:gd name="adj" fmla="val 8035"/>
            </a:avLst>
          </a:prstGeom>
          <a:solidFill>
            <a:srgbClr val="EDF1EC"/>
          </a:solidFill>
          <a:ln>
            <a:noFill/>
          </a:ln>
        </p:spPr>
      </p:sp>
      <p:sp>
        <p:nvSpPr>
          <p:cNvPr id="107" name="Feature 5 badge"/>
          <p:cNvSpPr/>
          <p:nvPr/>
        </p:nvSpPr>
        <p:spPr>
          <a:xfrm>
            <a:off x="3303727" y="2560320"/>
            <a:ext cx="402336" cy="402336"/>
          </a:xfrm>
          <a:prstGeom prst="ellipse">
            <a:avLst/>
          </a:prstGeom>
          <a:solidFill>
            <a:srgbClr val="14513A"/>
          </a:solidFill>
          <a:ln>
            <a:noFill/>
          </a:ln>
        </p:spPr>
      </p:sp>
      <p:pic>
        <p:nvPicPr>
          <p:cNvPr id="108" name="Feature 5 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3392241" y="2648834"/>
            <a:ext cx="225308" cy="225308"/>
          </a:xfrm>
          <a:prstGeom prst="rect">
            <a:avLst/>
          </a:prstGeom>
          <a:ln>
            <a:noFill/>
          </a:ln>
        </p:spPr>
      </p:pic>
      <p:sp>
        <p:nvSpPr>
          <p:cNvPr id="109" name="Feature 5 text"/>
          <p:cNvSpPr txBox="1"/>
          <p:nvPr/>
        </p:nvSpPr>
        <p:spPr>
          <a:xfrm>
            <a:off x="3815791" y="2496312"/>
            <a:ext cx="2041855" cy="877824"/>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150" b="1" dirty="0">
                <a:solidFill>
                  <a:srgbClr val="0D3B29"/>
                </a:solidFill>
                <a:latin typeface="Arial"/>
                <a:ea typeface="Arial"/>
                <a:cs typeface="Arial"/>
                <a:sym typeface="Arial"/>
              </a:rPr>
              <a:t>Forest screening</a:t>
            </a:r>
            <a:endParaRPr lang="en-GB" sz="1150" dirty="0"/>
          </a:p>
          <a:p>
            <a:pPr algn="l" marL="0" indent="0" rtl="0">
              <a:spcBef>
                <a:spcPts val="0"/>
              </a:spcBef>
              <a:spcAft>
                <a:spcPts val="0"/>
              </a:spcAft>
              <a:buNone/>
            </a:pPr>
            <a:r>
              <a:rPr lang="en-GB" sz="1000" b="0" dirty="0">
                <a:solidFill>
                  <a:srgbClr val="15231B"/>
                </a:solidFill>
                <a:latin typeface="Arial"/>
                <a:ea typeface="Arial"/>
                <a:cs typeface="Arial"/>
                <a:sym typeface="Arial"/>
              </a:rPr>
              <a:t>Earth Engine looks for forest loss after 31 Dec 2020 inside the boundary. Marked preliminary.</a:t>
            </a:r>
            <a:endParaRPr lang="en-GB" sz="1000" dirty="0"/>
          </a:p>
        </p:txBody>
      </p:sp>
      <p:sp>
        <p:nvSpPr>
          <p:cNvPr id="110" name="Feature 6"/>
          <p:cNvSpPr/>
          <p:nvPr/>
        </p:nvSpPr>
        <p:spPr>
          <a:xfrm>
            <a:off x="6077102" y="2414016"/>
            <a:ext cx="2791663" cy="1024128"/>
          </a:xfrm>
          <a:prstGeom prst="roundRect">
            <a:avLst>
              <a:gd name="adj" fmla="val 8035"/>
            </a:avLst>
          </a:prstGeom>
          <a:solidFill>
            <a:srgbClr val="EDF1EC"/>
          </a:solidFill>
          <a:ln>
            <a:noFill/>
          </a:ln>
        </p:spPr>
      </p:sp>
      <p:sp>
        <p:nvSpPr>
          <p:cNvPr id="111" name="Feature 6 badge"/>
          <p:cNvSpPr/>
          <p:nvPr/>
        </p:nvSpPr>
        <p:spPr>
          <a:xfrm>
            <a:off x="6205118" y="2560320"/>
            <a:ext cx="402336" cy="402336"/>
          </a:xfrm>
          <a:prstGeom prst="ellipse">
            <a:avLst/>
          </a:prstGeom>
          <a:solidFill>
            <a:srgbClr val="14513A"/>
          </a:solidFill>
          <a:ln>
            <a:noFill/>
          </a:ln>
        </p:spPr>
      </p:sp>
      <p:pic>
        <p:nvPicPr>
          <p:cNvPr id="112" name="Feature 6 icon"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293632" y="2648834"/>
            <a:ext cx="225308" cy="225308"/>
          </a:xfrm>
          <a:prstGeom prst="rect">
            <a:avLst/>
          </a:prstGeom>
          <a:ln>
            <a:noFill/>
          </a:ln>
        </p:spPr>
      </p:pic>
      <p:sp>
        <p:nvSpPr>
          <p:cNvPr id="113" name="Feature 6 text"/>
          <p:cNvSpPr txBox="1"/>
          <p:nvPr/>
        </p:nvSpPr>
        <p:spPr>
          <a:xfrm>
            <a:off x="6717182" y="2496312"/>
            <a:ext cx="2041855" cy="877824"/>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150" b="1" dirty="0">
                <a:solidFill>
                  <a:srgbClr val="0D3B29"/>
                </a:solidFill>
                <a:latin typeface="Arial"/>
                <a:ea typeface="Arial"/>
                <a:cs typeface="Arial"/>
                <a:sym typeface="Arial"/>
              </a:rPr>
              <a:t>Verdict and to-do list</a:t>
            </a:r>
            <a:endParaRPr lang="en-GB" sz="1150" dirty="0"/>
          </a:p>
          <a:p>
            <a:pPr algn="l" marL="0" indent="0" rtl="0">
              <a:spcBef>
                <a:spcPts val="0"/>
              </a:spcBef>
              <a:spcAft>
                <a:spcPts val="0"/>
              </a:spcAft>
              <a:buNone/>
            </a:pPr>
            <a:r>
              <a:rPr lang="en-GB" sz="1000" b="0" dirty="0">
                <a:solidFill>
                  <a:srgbClr val="15231B"/>
                </a:solidFill>
                <a:latin typeface="Arial"/>
                <a:ea typeface="Arial"/>
                <a:cs typeface="Arial"/>
                <a:sym typeface="Arial"/>
              </a:rPr>
              <a:t>Green, yellow or red, plus what is missing, why, and where to get it. A step log shows how.</a:t>
            </a:r>
            <a:endParaRPr lang="en-GB" sz="1000" dirty="0"/>
          </a:p>
        </p:txBody>
      </p:sp>
      <p:sp>
        <p:nvSpPr>
          <p:cNvPr id="114" name="Feature 7"/>
          <p:cNvSpPr/>
          <p:nvPr/>
        </p:nvSpPr>
        <p:spPr>
          <a:xfrm>
            <a:off x="274320" y="3529584"/>
            <a:ext cx="2791663" cy="1024128"/>
          </a:xfrm>
          <a:prstGeom prst="roundRect">
            <a:avLst>
              <a:gd name="adj" fmla="val 8035"/>
            </a:avLst>
          </a:prstGeom>
          <a:solidFill>
            <a:srgbClr val="EDF1EC"/>
          </a:solidFill>
          <a:ln>
            <a:noFill/>
          </a:ln>
        </p:spPr>
      </p:sp>
      <p:sp>
        <p:nvSpPr>
          <p:cNvPr id="115" name="Feature 7 badge"/>
          <p:cNvSpPr/>
          <p:nvPr/>
        </p:nvSpPr>
        <p:spPr>
          <a:xfrm>
            <a:off x="402336" y="3675888"/>
            <a:ext cx="402336" cy="402336"/>
          </a:xfrm>
          <a:prstGeom prst="ellipse">
            <a:avLst/>
          </a:prstGeom>
          <a:solidFill>
            <a:srgbClr val="14513A"/>
          </a:solidFill>
          <a:ln>
            <a:noFill/>
          </a:ln>
        </p:spPr>
      </p:sp>
      <p:pic>
        <p:nvPicPr>
          <p:cNvPr id="116" name="Feature 7 icon"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490850" y="3764402"/>
            <a:ext cx="225308" cy="225308"/>
          </a:xfrm>
          <a:prstGeom prst="rect">
            <a:avLst/>
          </a:prstGeom>
          <a:ln>
            <a:noFill/>
          </a:ln>
        </p:spPr>
      </p:pic>
      <p:sp>
        <p:nvSpPr>
          <p:cNvPr id="117" name="Feature 7 text"/>
          <p:cNvSpPr txBox="1"/>
          <p:nvPr/>
        </p:nvSpPr>
        <p:spPr>
          <a:xfrm>
            <a:off x="914400" y="3611880"/>
            <a:ext cx="2041855" cy="877824"/>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150" b="1" dirty="0">
                <a:solidFill>
                  <a:srgbClr val="0D3B29"/>
                </a:solidFill>
                <a:latin typeface="Arial"/>
                <a:ea typeface="Arial"/>
                <a:cs typeface="Arial"/>
                <a:sym typeface="Arial"/>
              </a:rPr>
              <a:t>Ask by typing or voice</a:t>
            </a:r>
            <a:endParaRPr lang="en-GB" sz="1150" dirty="0"/>
          </a:p>
          <a:p>
            <a:pPr algn="l" marL="0" indent="0" rtl="0">
              <a:spcBef>
                <a:spcPts val="0"/>
              </a:spcBef>
              <a:spcAft>
                <a:spcPts val="0"/>
              </a:spcAft>
              <a:buNone/>
            </a:pPr>
            <a:r>
              <a:rPr lang="en-GB" sz="1000" b="0" dirty="0">
                <a:solidFill>
                  <a:srgbClr val="15231B"/>
                </a:solidFill>
                <a:latin typeface="Arial"/>
                <a:ea typeface="Arial"/>
                <a:cs typeface="Arial"/>
                <a:sym typeface="Arial"/>
              </a:rPr>
              <a:t>In Malay or English; answers only about the plot, the EUDR and the documents needed.</a:t>
            </a:r>
            <a:endParaRPr lang="en-GB" sz="1000" dirty="0"/>
          </a:p>
        </p:txBody>
      </p:sp>
      <p:sp>
        <p:nvSpPr>
          <p:cNvPr id="118" name="Feature 8"/>
          <p:cNvSpPr/>
          <p:nvPr/>
        </p:nvSpPr>
        <p:spPr>
          <a:xfrm>
            <a:off x="3175711" y="3529584"/>
            <a:ext cx="2791663" cy="1024128"/>
          </a:xfrm>
          <a:prstGeom prst="roundRect">
            <a:avLst>
              <a:gd name="adj" fmla="val 8035"/>
            </a:avLst>
          </a:prstGeom>
          <a:solidFill>
            <a:srgbClr val="EDF1EC"/>
          </a:solidFill>
          <a:ln>
            <a:noFill/>
          </a:ln>
        </p:spPr>
      </p:sp>
      <p:sp>
        <p:nvSpPr>
          <p:cNvPr id="119" name="Feature 8 badge"/>
          <p:cNvSpPr/>
          <p:nvPr/>
        </p:nvSpPr>
        <p:spPr>
          <a:xfrm>
            <a:off x="3303727" y="3675888"/>
            <a:ext cx="402336" cy="402336"/>
          </a:xfrm>
          <a:prstGeom prst="ellipse">
            <a:avLst/>
          </a:prstGeom>
          <a:solidFill>
            <a:srgbClr val="14513A"/>
          </a:solidFill>
          <a:ln>
            <a:noFill/>
          </a:ln>
        </p:spPr>
      </p:sp>
      <p:pic>
        <p:nvPicPr>
          <p:cNvPr id="120" name="Feature 8 icon" descr="">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3392241" y="3764402"/>
            <a:ext cx="225308" cy="225308"/>
          </a:xfrm>
          <a:prstGeom prst="rect">
            <a:avLst/>
          </a:prstGeom>
          <a:ln>
            <a:noFill/>
          </a:ln>
        </p:spPr>
      </p:pic>
      <p:sp>
        <p:nvSpPr>
          <p:cNvPr id="121" name="Feature 8 text"/>
          <p:cNvSpPr txBox="1"/>
          <p:nvPr/>
        </p:nvSpPr>
        <p:spPr>
          <a:xfrm>
            <a:off x="3815791" y="3611880"/>
            <a:ext cx="2041855" cy="877824"/>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150" b="1" dirty="0">
                <a:solidFill>
                  <a:srgbClr val="0D3B29"/>
                </a:solidFill>
                <a:latin typeface="Arial"/>
                <a:ea typeface="Arial"/>
                <a:cs typeface="Arial"/>
                <a:sym typeface="Arial"/>
              </a:rPr>
              <a:t>Works with no signal</a:t>
            </a:r>
            <a:endParaRPr lang="en-GB" sz="1150" dirty="0"/>
          </a:p>
          <a:p>
            <a:pPr algn="l" marL="0" indent="0" rtl="0">
              <a:spcBef>
                <a:spcPts val="0"/>
              </a:spcBef>
              <a:spcAft>
                <a:spcPts val="0"/>
              </a:spcAft>
              <a:buNone/>
            </a:pPr>
            <a:r>
              <a:rPr lang="en-GB" sz="1000" b="0" dirty="0">
                <a:solidFill>
                  <a:srgbClr val="15231B"/>
                </a:solidFill>
                <a:latin typeface="Arial"/>
                <a:ea typeface="Arial"/>
                <a:cs typeface="Arial"/>
                <a:sym typeface="Arial"/>
              </a:rPr>
              <a:t>Drafts are kept on the phone and sent automatically when the signal returns.</a:t>
            </a:r>
            <a:endParaRPr lang="en-GB" sz="1000" dirty="0"/>
          </a:p>
        </p:txBody>
      </p:sp>
      <p:sp>
        <p:nvSpPr>
          <p:cNvPr id="122" name="Feature 9"/>
          <p:cNvSpPr/>
          <p:nvPr/>
        </p:nvSpPr>
        <p:spPr>
          <a:xfrm>
            <a:off x="6077102" y="3529584"/>
            <a:ext cx="2791663" cy="1024128"/>
          </a:xfrm>
          <a:prstGeom prst="roundRect">
            <a:avLst>
              <a:gd name="adj" fmla="val 8035"/>
            </a:avLst>
          </a:prstGeom>
          <a:solidFill>
            <a:srgbClr val="EDF1EC"/>
          </a:solidFill>
          <a:ln>
            <a:noFill/>
          </a:ln>
        </p:spPr>
      </p:sp>
      <p:sp>
        <p:nvSpPr>
          <p:cNvPr id="123" name="Feature 9 badge"/>
          <p:cNvSpPr/>
          <p:nvPr/>
        </p:nvSpPr>
        <p:spPr>
          <a:xfrm>
            <a:off x="6205118" y="3675888"/>
            <a:ext cx="402336" cy="402336"/>
          </a:xfrm>
          <a:prstGeom prst="ellipse">
            <a:avLst/>
          </a:prstGeom>
          <a:solidFill>
            <a:srgbClr val="14513A"/>
          </a:solidFill>
          <a:ln>
            <a:noFill/>
          </a:ln>
        </p:spPr>
      </p:sp>
      <p:pic>
        <p:nvPicPr>
          <p:cNvPr id="124" name="Feature 9 icon" descr="">
            <a:extLs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6293632" y="3764402"/>
            <a:ext cx="225308" cy="225308"/>
          </a:xfrm>
          <a:prstGeom prst="rect">
            <a:avLst/>
          </a:prstGeom>
          <a:ln>
            <a:noFill/>
          </a:ln>
        </p:spPr>
      </p:pic>
      <p:sp>
        <p:nvSpPr>
          <p:cNvPr id="125" name="Feature 9 text"/>
          <p:cNvSpPr txBox="1"/>
          <p:nvPr/>
        </p:nvSpPr>
        <p:spPr>
          <a:xfrm>
            <a:off x="6717182" y="3611880"/>
            <a:ext cx="2041855" cy="877824"/>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150" b="1" dirty="0">
                <a:solidFill>
                  <a:srgbClr val="0D3B29"/>
                </a:solidFill>
                <a:latin typeface="Arial"/>
                <a:ea typeface="Arial"/>
                <a:cs typeface="Arial"/>
                <a:sym typeface="Arial"/>
              </a:rPr>
              <a:t>Cooperative dashboard</a:t>
            </a:r>
            <a:endParaRPr lang="en-GB" sz="1150" dirty="0"/>
          </a:p>
          <a:p>
            <a:pPr algn="l" marL="0" indent="0" rtl="0">
              <a:spcBef>
                <a:spcPts val="0"/>
              </a:spcBef>
              <a:spcAft>
                <a:spcPts val="0"/>
              </a:spcAft>
              <a:buNone/>
            </a:pPr>
            <a:r>
              <a:rPr lang="en-GB" sz="1000" b="0" dirty="0">
                <a:solidFill>
                  <a:srgbClr val="15231B"/>
                </a:solidFill>
                <a:latin typeface="Arial"/>
                <a:ea typeface="Arial"/>
                <a:cs typeface="Arial"/>
                <a:sym typeface="Arial"/>
              </a:rPr>
              <a:t>Every member plot by status and issue, a CSV summary and a printable dossier per plot.</a:t>
            </a:r>
            <a:endParaRPr lang="en-GB" sz="1000" dirty="0"/>
          </a:p>
        </p:txBody>
      </p:sp>
      <p:sp>
        <p:nvSpPr>
          <p:cNvPr id="126" name="Roles line"/>
          <p:cNvSpPr txBox="1"/>
          <p:nvPr/>
        </p:nvSpPr>
        <p:spPr>
          <a:xfrm>
            <a:off x="274320" y="4617720"/>
            <a:ext cx="8595360" cy="274320"/>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000" b="0" dirty="0">
                <a:solidFill>
                  <a:srgbClr val="56655B"/>
                </a:solidFill>
                <a:latin typeface="Arial"/>
                <a:ea typeface="Arial"/>
                <a:cs typeface="Arial"/>
                <a:sym typeface="Arial"/>
              </a:rPr>
              <a:t>Three roles: smallholder · field officer (adds land on a member's behalf) · cooperative admin (read-only).   Languages: Malay and English.</a:t>
            </a:r>
            <a:endParaRPr lang="en-GB" sz="1000" dirty="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Process flow diagram or Use-case diagram</a:t>
            </a:r>
            <a:endParaRPr lang="en-GB" sz="1200" dirty="0"/>
          </a:p>
        </p:txBody>
      </p:sp>
      <p:sp>
        <p:nvSpPr>
          <p:cNvPr id="97"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From a photo to a verdict in about two minutes</a:t>
            </a:r>
            <a:endParaRPr lang="en-GB" sz="2000" dirty="0"/>
          </a:p>
        </p:txBody>
      </p:sp>
      <p:sp>
        <p:nvSpPr>
          <p:cNvPr id="98" name="Lane 1"/>
          <p:cNvSpPr/>
          <p:nvPr/>
        </p:nvSpPr>
        <p:spPr>
          <a:xfrm>
            <a:off x="274320" y="1298448"/>
            <a:ext cx="8595360" cy="1225296"/>
          </a:xfrm>
          <a:prstGeom prst="roundRect">
            <a:avLst>
              <a:gd name="adj" fmla="val 5970"/>
            </a:avLst>
          </a:prstGeom>
          <a:solidFill>
            <a:srgbClr val="EDF1EC"/>
          </a:solidFill>
          <a:ln>
            <a:noFill/>
          </a:ln>
        </p:spPr>
      </p:sp>
      <p:sp>
        <p:nvSpPr>
          <p:cNvPr id="99" name="Lane 1 label"/>
          <p:cNvSpPr txBox="1"/>
          <p:nvPr/>
        </p:nvSpPr>
        <p:spPr>
          <a:xfrm>
            <a:off x="384048" y="1389888"/>
            <a:ext cx="932688" cy="1042416"/>
          </a:xfrm>
          <a:prstGeom prst="rect">
            <a:avLst/>
          </a:prstGeom>
          <a:noFill/>
          <a:ln>
            <a:noFill/>
          </a:ln>
        </p:spPr>
        <p:txBody>
          <a:bodyPr wrap="square" lIns="0" tIns="0" rIns="0" bIns="0" rtlCol="0" anchor="ctr">
            <a:noAutofit/>
          </a:bodyPr>
          <a:lstStyle/>
          <a:p>
            <a:pPr algn="l" marL="0" indent="0" rtl="0">
              <a:spcBef>
                <a:spcPts val="0"/>
              </a:spcBef>
              <a:spcAft>
                <a:spcPts val="200"/>
              </a:spcAft>
              <a:buNone/>
            </a:pPr>
            <a:r>
              <a:rPr lang="en-GB" sz="1050" b="1" dirty="0">
                <a:solidFill>
                  <a:srgbClr val="0D3B29"/>
                </a:solidFill>
                <a:latin typeface="Arial"/>
                <a:ea typeface="Arial"/>
                <a:cs typeface="Arial"/>
                <a:sym typeface="Arial"/>
              </a:rPr>
              <a:t>Smallholder or field officer</a:t>
            </a:r>
            <a:endParaRPr lang="en-GB" sz="1050" dirty="0"/>
          </a:p>
          <a:p>
            <a:pPr algn="l" marL="0" indent="0" rtl="0">
              <a:spcBef>
                <a:spcPts val="0"/>
              </a:spcBef>
              <a:spcAft>
                <a:spcPts val="0"/>
              </a:spcAft>
              <a:buNone/>
            </a:pPr>
            <a:r>
              <a:rPr lang="en-GB" sz="900" b="0" dirty="0">
                <a:solidFill>
                  <a:srgbClr val="56655B"/>
                </a:solidFill>
                <a:latin typeface="Arial"/>
                <a:ea typeface="Arial"/>
                <a:cs typeface="Arial"/>
                <a:sym typeface="Arial"/>
              </a:rPr>
              <a:t>phone app</a:t>
            </a:r>
            <a:endParaRPr lang="en-GB" sz="900" dirty="0"/>
          </a:p>
        </p:txBody>
      </p:sp>
      <p:sp>
        <p:nvSpPr>
          <p:cNvPr id="100" name="L1B1"/>
          <p:cNvSpPr/>
          <p:nvPr/>
        </p:nvSpPr>
        <p:spPr>
          <a:xfrm>
            <a:off x="1371600" y="1645920"/>
            <a:ext cx="1280160" cy="676656"/>
          </a:xfrm>
          <a:prstGeom prst="roundRect">
            <a:avLst>
              <a:gd name="adj" fmla="val 9459"/>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Sign in</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phone number and SMS code</a:t>
            </a:r>
            <a:endParaRPr lang="en-GB" sz="900" dirty="0"/>
          </a:p>
        </p:txBody>
      </p:sp>
      <p:cxnSp>
        <p:nvCxnSpPr>
          <p:cNvPr id="101" name="L1 arrow 1"/>
          <p:cNvCxnSpPr/>
          <p:nvPr/>
        </p:nvCxnSpPr>
        <p:spPr>
          <a:xfrm>
            <a:off x="2670048" y="1984248"/>
            <a:ext cx="224028" cy="0"/>
          </a:xfrm>
          <a:prstGeom prst="line">
            <a:avLst/>
          </a:prstGeom>
          <a:ln w="19050">
            <a:solidFill>
              <a:srgbClr val="14513A"/>
            </a:solidFill>
            <a:round/>
            <a:tailEnd type="triangle" w="med" len="med"/>
          </a:ln>
        </p:spPr>
      </p:cxnSp>
      <p:sp>
        <p:nvSpPr>
          <p:cNvPr id="102" name="L1B2"/>
          <p:cNvSpPr/>
          <p:nvPr/>
        </p:nvSpPr>
        <p:spPr>
          <a:xfrm>
            <a:off x="2912364" y="1645920"/>
            <a:ext cx="1280160" cy="676656"/>
          </a:xfrm>
          <a:prstGeom prst="roundRect">
            <a:avLst>
              <a:gd name="adj" fmla="val 9459"/>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Photograph documents</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title · MPOB licence · MSPO certificate</a:t>
            </a:r>
            <a:endParaRPr lang="en-GB" sz="900" dirty="0"/>
          </a:p>
        </p:txBody>
      </p:sp>
      <p:cxnSp>
        <p:nvCxnSpPr>
          <p:cNvPr id="103" name="L1 arrow 2"/>
          <p:cNvCxnSpPr/>
          <p:nvPr/>
        </p:nvCxnSpPr>
        <p:spPr>
          <a:xfrm>
            <a:off x="4210812" y="1984248"/>
            <a:ext cx="224028" cy="0"/>
          </a:xfrm>
          <a:prstGeom prst="line">
            <a:avLst/>
          </a:prstGeom>
          <a:ln w="19050">
            <a:solidFill>
              <a:srgbClr val="14513A"/>
            </a:solidFill>
            <a:round/>
            <a:tailEnd type="triangle" w="med" len="med"/>
          </a:ln>
        </p:spPr>
      </p:cxnSp>
      <p:sp>
        <p:nvSpPr>
          <p:cNvPr id="104" name="L1B3"/>
          <p:cNvSpPr/>
          <p:nvPr/>
        </p:nvSpPr>
        <p:spPr>
          <a:xfrm>
            <a:off x="4453128" y="1645920"/>
            <a:ext cx="1280160" cy="676656"/>
          </a:xfrm>
          <a:prstGeom prst="roundRect">
            <a:avLst>
              <a:gd name="adj" fmla="val 9459"/>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Draw the boundary</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map, GPS corners or one point</a:t>
            </a:r>
            <a:endParaRPr lang="en-GB" sz="900" dirty="0"/>
          </a:p>
        </p:txBody>
      </p:sp>
      <p:cxnSp>
        <p:nvCxnSpPr>
          <p:cNvPr id="105" name="L1 arrow 3"/>
          <p:cNvCxnSpPr/>
          <p:nvPr/>
        </p:nvCxnSpPr>
        <p:spPr>
          <a:xfrm>
            <a:off x="5751576" y="1984248"/>
            <a:ext cx="224028" cy="0"/>
          </a:xfrm>
          <a:prstGeom prst="line">
            <a:avLst/>
          </a:prstGeom>
          <a:ln w="19050">
            <a:solidFill>
              <a:srgbClr val="14513A"/>
            </a:solidFill>
            <a:round/>
            <a:tailEnd type="triangle" w="med" len="med"/>
          </a:ln>
        </p:spPr>
      </p:cxnSp>
      <p:sp>
        <p:nvSpPr>
          <p:cNvPr id="106" name="L1B4"/>
          <p:cNvSpPr/>
          <p:nvPr/>
        </p:nvSpPr>
        <p:spPr>
          <a:xfrm>
            <a:off x="5993892" y="1645920"/>
            <a:ext cx="1280160" cy="676656"/>
          </a:xfrm>
          <a:prstGeom prst="roundRect">
            <a:avLst>
              <a:gd name="adj" fmla="val 9459"/>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Start the check</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no signal? saved on the phone, sent later</a:t>
            </a:r>
            <a:endParaRPr lang="en-GB" sz="900" dirty="0"/>
          </a:p>
        </p:txBody>
      </p:sp>
      <p:cxnSp>
        <p:nvCxnSpPr>
          <p:cNvPr id="107" name="L1 arrow 4"/>
          <p:cNvCxnSpPr/>
          <p:nvPr/>
        </p:nvCxnSpPr>
        <p:spPr>
          <a:xfrm>
            <a:off x="7292340" y="1984248"/>
            <a:ext cx="224028" cy="0"/>
          </a:xfrm>
          <a:prstGeom prst="line">
            <a:avLst/>
          </a:prstGeom>
          <a:ln w="19050">
            <a:solidFill>
              <a:srgbClr val="14513A"/>
            </a:solidFill>
            <a:round/>
            <a:tailEnd type="triangle" w="med" len="med"/>
          </a:ln>
        </p:spPr>
      </p:cxnSp>
      <p:sp>
        <p:nvSpPr>
          <p:cNvPr id="108" name="L1B5"/>
          <p:cNvSpPr/>
          <p:nvPr/>
        </p:nvSpPr>
        <p:spPr>
          <a:xfrm>
            <a:off x="7534656" y="1645920"/>
            <a:ext cx="1280160" cy="676656"/>
          </a:xfrm>
          <a:prstGeom prst="roundRect">
            <a:avLst>
              <a:gd name="adj" fmla="val 9459"/>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Verdict + to-do list</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fix what is flagged, check again</a:t>
            </a:r>
            <a:endParaRPr lang="en-GB" sz="900" dirty="0"/>
          </a:p>
        </p:txBody>
      </p:sp>
      <p:sp>
        <p:nvSpPr>
          <p:cNvPr id="109" name="Lane 2"/>
          <p:cNvSpPr/>
          <p:nvPr/>
        </p:nvSpPr>
        <p:spPr>
          <a:xfrm>
            <a:off x="274320" y="2651760"/>
            <a:ext cx="8595360" cy="1078992"/>
          </a:xfrm>
          <a:prstGeom prst="roundRect">
            <a:avLst>
              <a:gd name="adj" fmla="val 6779"/>
            </a:avLst>
          </a:prstGeom>
          <a:solidFill>
            <a:srgbClr val="F8E9DD"/>
          </a:solidFill>
          <a:ln>
            <a:noFill/>
          </a:ln>
        </p:spPr>
      </p:sp>
      <p:sp>
        <p:nvSpPr>
          <p:cNvPr id="110" name="Lane 2 label"/>
          <p:cNvSpPr txBox="1"/>
          <p:nvPr/>
        </p:nvSpPr>
        <p:spPr>
          <a:xfrm>
            <a:off x="384048" y="2743200"/>
            <a:ext cx="932688" cy="896112"/>
          </a:xfrm>
          <a:prstGeom prst="rect">
            <a:avLst/>
          </a:prstGeom>
          <a:noFill/>
          <a:ln>
            <a:noFill/>
          </a:ln>
        </p:spPr>
        <p:txBody>
          <a:bodyPr wrap="square" lIns="0" tIns="0" rIns="0" bIns="0" rtlCol="0" anchor="ctr">
            <a:noAutofit/>
          </a:bodyPr>
          <a:lstStyle/>
          <a:p>
            <a:pPr algn="l" marL="0" indent="0" rtl="0">
              <a:spcBef>
                <a:spcPts val="0"/>
              </a:spcBef>
              <a:spcAft>
                <a:spcPts val="200"/>
              </a:spcAft>
              <a:buNone/>
            </a:pPr>
            <a:r>
              <a:rPr lang="en-GB" sz="1050" b="1" dirty="0">
                <a:solidFill>
                  <a:srgbClr val="0D3B29"/>
                </a:solidFill>
                <a:latin typeface="Arial"/>
                <a:ea typeface="Arial"/>
                <a:cs typeface="Arial"/>
                <a:sym typeface="Arial"/>
              </a:rPr>
              <a:t>KebunSah check</a:t>
            </a:r>
            <a:endParaRPr lang="en-GB" sz="1050" dirty="0"/>
          </a:p>
          <a:p>
            <a:pPr algn="l" marL="0" indent="0" rtl="0">
              <a:spcBef>
                <a:spcPts val="0"/>
              </a:spcBef>
              <a:spcAft>
                <a:spcPts val="0"/>
              </a:spcAft>
              <a:buNone/>
            </a:pPr>
            <a:r>
              <a:rPr lang="en-GB" sz="900" b="0" dirty="0">
                <a:solidFill>
                  <a:srgbClr val="56655B"/>
                </a:solidFill>
                <a:latin typeface="Arial"/>
                <a:ea typeface="Arial"/>
                <a:cs typeface="Arial"/>
                <a:sym typeface="Arial"/>
              </a:rPr>
              <a:t>automatic</a:t>
            </a:r>
            <a:endParaRPr lang="en-GB" sz="900" dirty="0"/>
          </a:p>
          <a:p>
            <a:pPr algn="l" marL="0" indent="0" rtl="0">
              <a:spcBef>
                <a:spcPts val="0"/>
              </a:spcBef>
              <a:spcAft>
                <a:spcPts val="0"/>
              </a:spcAft>
              <a:buNone/>
            </a:pPr>
            <a:r>
              <a:rPr lang="en-GB" sz="900" b="0" dirty="0">
                <a:solidFill>
                  <a:srgbClr val="56655B"/>
                </a:solidFill>
                <a:latin typeface="Arial"/>
                <a:ea typeface="Arial"/>
                <a:cs typeface="Arial"/>
                <a:sym typeface="Arial"/>
              </a:rPr>
              <a:t>30 s to 2 min</a:t>
            </a:r>
            <a:endParaRPr lang="en-GB" sz="900" dirty="0"/>
          </a:p>
        </p:txBody>
      </p:sp>
      <p:sp>
        <p:nvSpPr>
          <p:cNvPr id="111" name="L2B1"/>
          <p:cNvSpPr/>
          <p:nvPr/>
        </p:nvSpPr>
        <p:spPr>
          <a:xfrm>
            <a:off x="1371600" y="2816352"/>
            <a:ext cx="1280160" cy="731520"/>
          </a:xfrm>
          <a:prstGeom prst="roundRect">
            <a:avLst>
              <a:gd name="adj" fmla="val 8750"/>
            </a:avLst>
          </a:prstGeom>
          <a:solidFill>
            <a:srgbClr val="FFFFFF"/>
          </a:solidFill>
          <a:ln w="12700">
            <a:solidFill>
              <a:srgbClr val="C96430"/>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Read documents</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Gemini: photo to fields + confidence</a:t>
            </a:r>
            <a:endParaRPr lang="en-GB" sz="900" dirty="0"/>
          </a:p>
        </p:txBody>
      </p:sp>
      <p:cxnSp>
        <p:nvCxnSpPr>
          <p:cNvPr id="112" name="L2 arrow 1"/>
          <p:cNvCxnSpPr/>
          <p:nvPr/>
        </p:nvCxnSpPr>
        <p:spPr>
          <a:xfrm>
            <a:off x="2670048" y="3182112"/>
            <a:ext cx="224028" cy="0"/>
          </a:xfrm>
          <a:prstGeom prst="line">
            <a:avLst/>
          </a:prstGeom>
          <a:ln w="19050">
            <a:solidFill>
              <a:srgbClr val="C96430"/>
            </a:solidFill>
            <a:round/>
            <a:tailEnd type="triangle" w="med" len="med"/>
          </a:ln>
        </p:spPr>
      </p:cxnSp>
      <p:sp>
        <p:nvSpPr>
          <p:cNvPr id="113" name="L2B2"/>
          <p:cNvSpPr/>
          <p:nvPr/>
        </p:nvSpPr>
        <p:spPr>
          <a:xfrm>
            <a:off x="2912364" y="2816352"/>
            <a:ext cx="1280160" cy="731520"/>
          </a:xfrm>
          <a:prstGeom prst="roundRect">
            <a:avLst>
              <a:gd name="adj" fmla="val 8750"/>
            </a:avLst>
          </a:prstGeom>
          <a:solidFill>
            <a:srgbClr val="FFFFFF"/>
          </a:solidFill>
          <a:ln w="12700">
            <a:solidFill>
              <a:srgbClr val="C96430"/>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Rules check</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area · expiry · names (Python)</a:t>
            </a:r>
            <a:endParaRPr lang="en-GB" sz="900" dirty="0"/>
          </a:p>
        </p:txBody>
      </p:sp>
      <p:cxnSp>
        <p:nvCxnSpPr>
          <p:cNvPr id="114" name="L2 arrow 2"/>
          <p:cNvCxnSpPr/>
          <p:nvPr/>
        </p:nvCxnSpPr>
        <p:spPr>
          <a:xfrm>
            <a:off x="4210812" y="3182112"/>
            <a:ext cx="224028" cy="0"/>
          </a:xfrm>
          <a:prstGeom prst="line">
            <a:avLst/>
          </a:prstGeom>
          <a:ln w="19050">
            <a:solidFill>
              <a:srgbClr val="C96430"/>
            </a:solidFill>
            <a:round/>
            <a:tailEnd type="triangle" w="med" len="med"/>
          </a:ln>
        </p:spPr>
      </p:cxnSp>
      <p:sp>
        <p:nvSpPr>
          <p:cNvPr id="115" name="L2B3"/>
          <p:cNvSpPr/>
          <p:nvPr/>
        </p:nvSpPr>
        <p:spPr>
          <a:xfrm>
            <a:off x="4453128" y="2816352"/>
            <a:ext cx="1280160" cy="731520"/>
          </a:xfrm>
          <a:prstGeom prst="roundRect">
            <a:avLst>
              <a:gd name="adj" fmla="val 8750"/>
            </a:avLst>
          </a:prstGeom>
          <a:solidFill>
            <a:srgbClr val="FFFFFF"/>
          </a:solidFill>
          <a:ln w="12700">
            <a:solidFill>
              <a:srgbClr val="C96430"/>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Forest screening</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Earth Engine, runs alongside reading</a:t>
            </a:r>
            <a:endParaRPr lang="en-GB" sz="900" dirty="0"/>
          </a:p>
        </p:txBody>
      </p:sp>
      <p:cxnSp>
        <p:nvCxnSpPr>
          <p:cNvPr id="116" name="L2 arrow 3"/>
          <p:cNvCxnSpPr/>
          <p:nvPr/>
        </p:nvCxnSpPr>
        <p:spPr>
          <a:xfrm>
            <a:off x="5751576" y="3182112"/>
            <a:ext cx="224028" cy="0"/>
          </a:xfrm>
          <a:prstGeom prst="line">
            <a:avLst/>
          </a:prstGeom>
          <a:ln w="19050">
            <a:solidFill>
              <a:srgbClr val="C96430"/>
            </a:solidFill>
            <a:round/>
            <a:tailEnd type="triangle" w="med" len="med"/>
          </a:ln>
        </p:spPr>
      </p:cxnSp>
      <p:sp>
        <p:nvSpPr>
          <p:cNvPr id="117" name="L2B4"/>
          <p:cNvSpPr/>
          <p:nvPr/>
        </p:nvSpPr>
        <p:spPr>
          <a:xfrm>
            <a:off x="5993892" y="2816352"/>
            <a:ext cx="1280160" cy="731520"/>
          </a:xfrm>
          <a:prstGeom prst="roundRect">
            <a:avLst>
              <a:gd name="adj" fmla="val 8750"/>
            </a:avLst>
          </a:prstGeom>
          <a:solidFill>
            <a:srgbClr val="FFFFFF"/>
          </a:solidFill>
          <a:ln w="12700">
            <a:solidFill>
              <a:srgbClr val="C96430"/>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Explain</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Gemini writes a plain-language note</a:t>
            </a:r>
            <a:endParaRPr lang="en-GB" sz="900" dirty="0"/>
          </a:p>
        </p:txBody>
      </p:sp>
      <p:cxnSp>
        <p:nvCxnSpPr>
          <p:cNvPr id="118" name="L2 arrow 4"/>
          <p:cNvCxnSpPr/>
          <p:nvPr/>
        </p:nvCxnSpPr>
        <p:spPr>
          <a:xfrm>
            <a:off x="7292340" y="3182112"/>
            <a:ext cx="224028" cy="0"/>
          </a:xfrm>
          <a:prstGeom prst="line">
            <a:avLst/>
          </a:prstGeom>
          <a:ln w="19050">
            <a:solidFill>
              <a:srgbClr val="C96430"/>
            </a:solidFill>
            <a:round/>
            <a:tailEnd type="triangle" w="med" len="med"/>
          </a:ln>
        </p:spPr>
      </p:cxnSp>
      <p:sp>
        <p:nvSpPr>
          <p:cNvPr id="119" name="L2B5"/>
          <p:cNvSpPr/>
          <p:nvPr/>
        </p:nvSpPr>
        <p:spPr>
          <a:xfrm>
            <a:off x="7534656" y="2816352"/>
            <a:ext cx="1280160" cy="731520"/>
          </a:xfrm>
          <a:prstGeom prst="roundRect">
            <a:avLst>
              <a:gd name="adj" fmla="val 8750"/>
            </a:avLst>
          </a:prstGeom>
          <a:solidFill>
            <a:srgbClr val="FFFFFF"/>
          </a:solidFill>
          <a:ln w="12700">
            <a:solidFill>
              <a:srgbClr val="C96430"/>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Grade</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green · yellow · red, plus the to-do list</a:t>
            </a:r>
            <a:endParaRPr lang="en-GB" sz="900" dirty="0"/>
          </a:p>
        </p:txBody>
      </p:sp>
      <p:sp>
        <p:nvSpPr>
          <p:cNvPr id="120" name="Lane 3"/>
          <p:cNvSpPr/>
          <p:nvPr/>
        </p:nvSpPr>
        <p:spPr>
          <a:xfrm>
            <a:off x="274320" y="3858768"/>
            <a:ext cx="8595360" cy="932688"/>
          </a:xfrm>
          <a:prstGeom prst="roundRect">
            <a:avLst>
              <a:gd name="adj" fmla="val 7843"/>
            </a:avLst>
          </a:prstGeom>
          <a:solidFill>
            <a:srgbClr val="EDF1EC"/>
          </a:solidFill>
          <a:ln>
            <a:noFill/>
          </a:ln>
        </p:spPr>
      </p:sp>
      <p:sp>
        <p:nvSpPr>
          <p:cNvPr id="121" name="Lane 3 label"/>
          <p:cNvSpPr txBox="1"/>
          <p:nvPr/>
        </p:nvSpPr>
        <p:spPr>
          <a:xfrm>
            <a:off x="384048" y="3950208"/>
            <a:ext cx="932688" cy="749808"/>
          </a:xfrm>
          <a:prstGeom prst="rect">
            <a:avLst/>
          </a:prstGeom>
          <a:noFill/>
          <a:ln>
            <a:noFill/>
          </a:ln>
        </p:spPr>
        <p:txBody>
          <a:bodyPr wrap="square" lIns="0" tIns="0" rIns="0" bIns="0" rtlCol="0" anchor="ctr">
            <a:noAutofit/>
          </a:bodyPr>
          <a:lstStyle/>
          <a:p>
            <a:pPr algn="l" marL="0" indent="0" rtl="0">
              <a:spcBef>
                <a:spcPts val="0"/>
              </a:spcBef>
              <a:spcAft>
                <a:spcPts val="200"/>
              </a:spcAft>
              <a:buNone/>
            </a:pPr>
            <a:r>
              <a:rPr lang="en-GB" sz="1050" b="1" dirty="0">
                <a:solidFill>
                  <a:srgbClr val="0D3B29"/>
                </a:solidFill>
                <a:latin typeface="Arial"/>
                <a:ea typeface="Arial"/>
                <a:cs typeface="Arial"/>
                <a:sym typeface="Arial"/>
              </a:rPr>
              <a:t>Cooperative admin</a:t>
            </a:r>
            <a:endParaRPr lang="en-GB" sz="1050" dirty="0"/>
          </a:p>
          <a:p>
            <a:pPr algn="l" marL="0" indent="0" rtl="0">
              <a:spcBef>
                <a:spcPts val="0"/>
              </a:spcBef>
              <a:spcAft>
                <a:spcPts val="0"/>
              </a:spcAft>
              <a:buNone/>
            </a:pPr>
            <a:r>
              <a:rPr lang="en-GB" sz="900" b="0" dirty="0">
                <a:solidFill>
                  <a:srgbClr val="56655B"/>
                </a:solidFill>
                <a:latin typeface="Arial"/>
                <a:ea typeface="Arial"/>
                <a:cs typeface="Arial"/>
                <a:sym typeface="Arial"/>
              </a:rPr>
              <a:t>desktop</a:t>
            </a:r>
            <a:endParaRPr lang="en-GB" sz="900" dirty="0"/>
          </a:p>
          <a:p>
            <a:pPr algn="l" marL="0" indent="0" rtl="0">
              <a:spcBef>
                <a:spcPts val="0"/>
              </a:spcBef>
              <a:spcAft>
                <a:spcPts val="0"/>
              </a:spcAft>
              <a:buNone/>
            </a:pPr>
            <a:r>
              <a:rPr lang="en-GB" sz="900" b="0" dirty="0">
                <a:solidFill>
                  <a:srgbClr val="56655B"/>
                </a:solidFill>
                <a:latin typeface="Arial"/>
                <a:ea typeface="Arial"/>
                <a:cs typeface="Arial"/>
                <a:sym typeface="Arial"/>
              </a:rPr>
              <a:t>dashboard</a:t>
            </a:r>
            <a:endParaRPr lang="en-GB" sz="900" dirty="0"/>
          </a:p>
        </p:txBody>
      </p:sp>
      <p:sp>
        <p:nvSpPr>
          <p:cNvPr id="122" name="L3B1"/>
          <p:cNvSpPr/>
          <p:nvPr/>
        </p:nvSpPr>
        <p:spPr>
          <a:xfrm>
            <a:off x="1371600" y="4023360"/>
            <a:ext cx="1280160" cy="603504"/>
          </a:xfrm>
          <a:prstGeom prst="roundRect">
            <a:avLst>
              <a:gd name="adj" fmla="val 10606"/>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Live dashboard</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counts by status</a:t>
            </a:r>
            <a:endParaRPr lang="en-GB" sz="900" dirty="0"/>
          </a:p>
        </p:txBody>
      </p:sp>
      <p:cxnSp>
        <p:nvCxnSpPr>
          <p:cNvPr id="123" name="L3 arrow 1"/>
          <p:cNvCxnSpPr/>
          <p:nvPr/>
        </p:nvCxnSpPr>
        <p:spPr>
          <a:xfrm>
            <a:off x="2670048" y="4325112"/>
            <a:ext cx="224028" cy="0"/>
          </a:xfrm>
          <a:prstGeom prst="line">
            <a:avLst/>
          </a:prstGeom>
          <a:ln w="19050">
            <a:solidFill>
              <a:srgbClr val="14513A"/>
            </a:solidFill>
            <a:round/>
            <a:tailEnd type="triangle" w="med" len="med"/>
          </a:ln>
        </p:spPr>
      </p:cxnSp>
      <p:sp>
        <p:nvSpPr>
          <p:cNvPr id="124" name="L3B2"/>
          <p:cNvSpPr/>
          <p:nvPr/>
        </p:nvSpPr>
        <p:spPr>
          <a:xfrm>
            <a:off x="2912364" y="4023360"/>
            <a:ext cx="1280160" cy="603504"/>
          </a:xfrm>
          <a:prstGeom prst="roundRect">
            <a:avLst>
              <a:gd name="adj" fmla="val 10606"/>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Filter</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status · issue · member</a:t>
            </a:r>
            <a:endParaRPr lang="en-GB" sz="900" dirty="0"/>
          </a:p>
        </p:txBody>
      </p:sp>
      <p:cxnSp>
        <p:nvCxnSpPr>
          <p:cNvPr id="125" name="L3 arrow 2"/>
          <p:cNvCxnSpPr/>
          <p:nvPr/>
        </p:nvCxnSpPr>
        <p:spPr>
          <a:xfrm>
            <a:off x="4210812" y="4325112"/>
            <a:ext cx="224028" cy="0"/>
          </a:xfrm>
          <a:prstGeom prst="line">
            <a:avLst/>
          </a:prstGeom>
          <a:ln w="19050">
            <a:solidFill>
              <a:srgbClr val="14513A"/>
            </a:solidFill>
            <a:round/>
            <a:tailEnd type="triangle" w="med" len="med"/>
          </a:ln>
        </p:spPr>
      </p:cxnSp>
      <p:sp>
        <p:nvSpPr>
          <p:cNvPr id="126" name="L3B3"/>
          <p:cNvSpPr/>
          <p:nvPr/>
        </p:nvSpPr>
        <p:spPr>
          <a:xfrm>
            <a:off x="4453128" y="4023360"/>
            <a:ext cx="1280160" cy="603504"/>
          </a:xfrm>
          <a:prstGeom prst="roundRect">
            <a:avLst>
              <a:gd name="adj" fmla="val 10606"/>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Open a plot</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reasons, documents, boundary</a:t>
            </a:r>
            <a:endParaRPr lang="en-GB" sz="900" dirty="0"/>
          </a:p>
        </p:txBody>
      </p:sp>
      <p:cxnSp>
        <p:nvCxnSpPr>
          <p:cNvPr id="127" name="L3 arrow 3"/>
          <p:cNvCxnSpPr/>
          <p:nvPr/>
        </p:nvCxnSpPr>
        <p:spPr>
          <a:xfrm>
            <a:off x="5751576" y="4325112"/>
            <a:ext cx="224028" cy="0"/>
          </a:xfrm>
          <a:prstGeom prst="line">
            <a:avLst/>
          </a:prstGeom>
          <a:ln w="19050">
            <a:solidFill>
              <a:srgbClr val="14513A"/>
            </a:solidFill>
            <a:round/>
            <a:tailEnd type="triangle" w="med" len="med"/>
          </a:ln>
        </p:spPr>
      </p:cxnSp>
      <p:sp>
        <p:nvSpPr>
          <p:cNvPr id="128" name="L3B4"/>
          <p:cNvSpPr/>
          <p:nvPr/>
        </p:nvSpPr>
        <p:spPr>
          <a:xfrm>
            <a:off x="5993892" y="4023360"/>
            <a:ext cx="1280160" cy="603504"/>
          </a:xfrm>
          <a:prstGeom prst="roundRect">
            <a:avLst>
              <a:gd name="adj" fmla="val 10606"/>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Export</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dossier (PDF) and CSV summary</a:t>
            </a:r>
            <a:endParaRPr lang="en-GB" sz="900" dirty="0"/>
          </a:p>
        </p:txBody>
      </p:sp>
      <p:cxnSp>
        <p:nvCxnSpPr>
          <p:cNvPr id="129" name="L3 arrow 4"/>
          <p:cNvCxnSpPr/>
          <p:nvPr/>
        </p:nvCxnSpPr>
        <p:spPr>
          <a:xfrm>
            <a:off x="7292340" y="4325112"/>
            <a:ext cx="224028" cy="0"/>
          </a:xfrm>
          <a:prstGeom prst="line">
            <a:avLst/>
          </a:prstGeom>
          <a:ln w="19050">
            <a:solidFill>
              <a:srgbClr val="14513A"/>
            </a:solidFill>
            <a:round/>
            <a:tailEnd type="triangle" w="med" len="med"/>
          </a:ln>
        </p:spPr>
      </p:cxnSp>
      <p:sp>
        <p:nvSpPr>
          <p:cNvPr id="130" name="L3B5"/>
          <p:cNvSpPr/>
          <p:nvPr/>
        </p:nvSpPr>
        <p:spPr>
          <a:xfrm>
            <a:off x="7534656" y="4023360"/>
            <a:ext cx="1280160" cy="603504"/>
          </a:xfrm>
          <a:prstGeom prst="roundRect">
            <a:avLst>
              <a:gd name="adj" fmla="val 10606"/>
            </a:avLst>
          </a:prstGeom>
          <a:solidFill>
            <a:srgbClr val="FFFFFF"/>
          </a:solidFill>
          <a:ln w="12700">
            <a:solidFill>
              <a:srgbClr val="14513A"/>
            </a:solidFill>
          </a:ln>
        </p:spPr>
        <p:txBody>
          <a:bodyPr wrap="square" lIns="45720" tIns="27432" rIns="45720" bIns="27432" rtlCol="0" anchor="ctr">
            <a:noAutofit/>
          </a:bodyPr>
          <a:lstStyle/>
          <a:p>
            <a:pPr algn="ctr" marL="0" indent="0" rtl="0">
              <a:spcBef>
                <a:spcPts val="0"/>
              </a:spcBef>
              <a:spcAft>
                <a:spcPts val="150"/>
              </a:spcAft>
              <a:buNone/>
            </a:pPr>
            <a:r>
              <a:rPr lang="en-GB" sz="1000" b="1" dirty="0">
                <a:solidFill>
                  <a:srgbClr val="0D3B29"/>
                </a:solidFill>
                <a:latin typeface="Arial"/>
                <a:ea typeface="Arial"/>
                <a:cs typeface="Arial"/>
                <a:sym typeface="Arial"/>
              </a:rPr>
              <a:t>Share with buyer</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supporting material for the DDS</a:t>
            </a:r>
            <a:endParaRPr lang="en-GB" sz="900" dirty="0"/>
          </a:p>
        </p:txBody>
      </p:sp>
      <p:cxnSp>
        <p:nvCxnSpPr>
          <p:cNvPr id="131" name="Start to read 1"/>
          <p:cNvCxnSpPr/>
          <p:nvPr/>
        </p:nvCxnSpPr>
        <p:spPr>
          <a:xfrm>
            <a:off x="6633972" y="2322576"/>
            <a:ext cx="0" cy="265176"/>
          </a:xfrm>
          <a:prstGeom prst="line">
            <a:avLst/>
          </a:prstGeom>
          <a:ln w="22225">
            <a:solidFill>
              <a:srgbClr val="C96430"/>
            </a:solidFill>
            <a:round/>
          </a:ln>
        </p:spPr>
      </p:cxnSp>
      <p:cxnSp>
        <p:nvCxnSpPr>
          <p:cNvPr id="132" name="Start to read 2"/>
          <p:cNvCxnSpPr/>
          <p:nvPr/>
        </p:nvCxnSpPr>
        <p:spPr>
          <a:xfrm flipH="1">
            <a:off x="2011680" y="2587752"/>
            <a:ext cx="4622292" cy="0"/>
          </a:xfrm>
          <a:prstGeom prst="line">
            <a:avLst/>
          </a:prstGeom>
          <a:ln w="22225">
            <a:solidFill>
              <a:srgbClr val="C96430"/>
            </a:solidFill>
            <a:round/>
          </a:ln>
        </p:spPr>
      </p:cxnSp>
      <p:cxnSp>
        <p:nvCxnSpPr>
          <p:cNvPr id="133" name="Start to read 3"/>
          <p:cNvCxnSpPr/>
          <p:nvPr/>
        </p:nvCxnSpPr>
        <p:spPr>
          <a:xfrm>
            <a:off x="2011680" y="2587752"/>
            <a:ext cx="0" cy="210312"/>
          </a:xfrm>
          <a:prstGeom prst="line">
            <a:avLst/>
          </a:prstGeom>
          <a:ln w="22225">
            <a:solidFill>
              <a:srgbClr val="C96430"/>
            </a:solidFill>
            <a:round/>
            <a:tailEnd type="triangle" w="med" len="med"/>
          </a:ln>
        </p:spPr>
      </p:cxnSp>
      <p:cxnSp>
        <p:nvCxnSpPr>
          <p:cNvPr id="134" name="Result to phone"/>
          <p:cNvCxnSpPr/>
          <p:nvPr/>
        </p:nvCxnSpPr>
        <p:spPr>
          <a:xfrm flipV="1">
            <a:off x="8174736" y="2340864"/>
            <a:ext cx="0" cy="475488"/>
          </a:xfrm>
          <a:prstGeom prst="line">
            <a:avLst/>
          </a:prstGeom>
          <a:ln w="22225">
            <a:solidFill>
              <a:srgbClr val="B8861A"/>
            </a:solidFill>
            <a:prstDash val="dash"/>
            <a:round/>
            <a:tailEnd type="triangle" w="med" len="med"/>
          </a:ln>
        </p:spPr>
      </p:cxnSp>
      <p:sp>
        <p:nvSpPr>
          <p:cNvPr id="135" name="Live label 1"/>
          <p:cNvSpPr txBox="1"/>
          <p:nvPr/>
        </p:nvSpPr>
        <p:spPr>
          <a:xfrm>
            <a:off x="6848856" y="2340864"/>
            <a:ext cx="1252728" cy="164592"/>
          </a:xfrm>
          <a:prstGeom prst="rect">
            <a:avLst/>
          </a:prstGeom>
          <a:noFill/>
          <a:ln>
            <a:noFill/>
          </a:ln>
        </p:spPr>
        <p:txBody>
          <a:bodyPr wrap="square" lIns="0" tIns="0" rIns="0" bIns="0" rtlCol="0" anchor="ctr">
            <a:noAutofit/>
          </a:bodyPr>
          <a:lstStyle/>
          <a:p>
            <a:pPr algn="r" marL="0" indent="0" rtl="0">
              <a:spcBef>
                <a:spcPts val="0"/>
              </a:spcBef>
              <a:spcAft>
                <a:spcPts val="0"/>
              </a:spcAft>
              <a:buNone/>
            </a:pPr>
            <a:r>
              <a:rPr lang="en-GB" sz="900" b="0" i="1" dirty="0">
                <a:solidFill>
                  <a:srgbClr val="7A5A0C"/>
                </a:solidFill>
                <a:latin typeface="Arial"/>
                <a:ea typeface="Arial"/>
                <a:cs typeface="Arial"/>
                <a:sym typeface="Arial"/>
              </a:rPr>
              <a:t>result appears live</a:t>
            </a:r>
            <a:endParaRPr lang="en-GB" sz="900" dirty="0"/>
          </a:p>
        </p:txBody>
      </p:sp>
      <p:cxnSp>
        <p:nvCxnSpPr>
          <p:cNvPr id="136" name="Live to dashboard 1"/>
          <p:cNvCxnSpPr/>
          <p:nvPr/>
        </p:nvCxnSpPr>
        <p:spPr>
          <a:xfrm>
            <a:off x="8174736" y="3547872"/>
            <a:ext cx="0" cy="246888"/>
          </a:xfrm>
          <a:prstGeom prst="line">
            <a:avLst/>
          </a:prstGeom>
          <a:ln w="22225">
            <a:solidFill>
              <a:srgbClr val="B8861A"/>
            </a:solidFill>
            <a:prstDash val="dash"/>
            <a:round/>
          </a:ln>
        </p:spPr>
      </p:cxnSp>
      <p:cxnSp>
        <p:nvCxnSpPr>
          <p:cNvPr id="137" name="Live to dashboard 2"/>
          <p:cNvCxnSpPr/>
          <p:nvPr/>
        </p:nvCxnSpPr>
        <p:spPr>
          <a:xfrm flipH="1">
            <a:off x="2011680" y="3794760"/>
            <a:ext cx="6163056" cy="0"/>
          </a:xfrm>
          <a:prstGeom prst="line">
            <a:avLst/>
          </a:prstGeom>
          <a:ln w="22225">
            <a:solidFill>
              <a:srgbClr val="B8861A"/>
            </a:solidFill>
            <a:prstDash val="dash"/>
            <a:round/>
          </a:ln>
        </p:spPr>
      </p:cxnSp>
      <p:cxnSp>
        <p:nvCxnSpPr>
          <p:cNvPr id="138" name="Live to dashboard 3"/>
          <p:cNvCxnSpPr/>
          <p:nvPr/>
        </p:nvCxnSpPr>
        <p:spPr>
          <a:xfrm>
            <a:off x="2011680" y="3794760"/>
            <a:ext cx="0" cy="210312"/>
          </a:xfrm>
          <a:prstGeom prst="line">
            <a:avLst/>
          </a:prstGeom>
          <a:ln w="22225">
            <a:solidFill>
              <a:srgbClr val="B8861A"/>
            </a:solidFill>
            <a:prstDash val="dash"/>
            <a:round/>
            <a:tailEnd type="triangle" w="med" len="med"/>
          </a:ln>
        </p:spPr>
      </p:cxnSp>
      <p:sp>
        <p:nvSpPr>
          <p:cNvPr id="139" name="Live label 2"/>
          <p:cNvSpPr txBox="1"/>
          <p:nvPr/>
        </p:nvSpPr>
        <p:spPr>
          <a:xfrm>
            <a:off x="3781044" y="3611880"/>
            <a:ext cx="2377440" cy="155448"/>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900" b="0" i="1" dirty="0">
                <a:solidFill>
                  <a:srgbClr val="7A5A0C"/>
                </a:solidFill>
                <a:latin typeface="Arial"/>
                <a:ea typeface="Arial"/>
                <a:cs typeface="Arial"/>
                <a:sym typeface="Arial"/>
              </a:rPr>
              <a:t>the dashboard updates live</a:t>
            </a:r>
            <a:endParaRPr lang="en-GB" sz="900" dirty="0"/>
          </a:p>
        </p:txBody>
      </p:sp>
      <p:cxnSp>
        <p:nvCxnSpPr>
          <p:cNvPr id="140" name="Fix loop 1"/>
          <p:cNvCxnSpPr/>
          <p:nvPr/>
        </p:nvCxnSpPr>
        <p:spPr>
          <a:xfrm flipV="1">
            <a:off x="8174736" y="1609344"/>
            <a:ext cx="0" cy="36576"/>
          </a:xfrm>
          <a:prstGeom prst="line">
            <a:avLst/>
          </a:prstGeom>
          <a:ln w="19050">
            <a:solidFill>
              <a:srgbClr val="368255"/>
            </a:solidFill>
            <a:prstDash val="sysDash"/>
            <a:round/>
          </a:ln>
        </p:spPr>
      </p:cxnSp>
      <p:cxnSp>
        <p:nvCxnSpPr>
          <p:cNvPr id="141" name="Fix loop 2"/>
          <p:cNvCxnSpPr/>
          <p:nvPr/>
        </p:nvCxnSpPr>
        <p:spPr>
          <a:xfrm flipH="1">
            <a:off x="3552444" y="1609344"/>
            <a:ext cx="4622292" cy="0"/>
          </a:xfrm>
          <a:prstGeom prst="line">
            <a:avLst/>
          </a:prstGeom>
          <a:ln w="19050">
            <a:solidFill>
              <a:srgbClr val="368255"/>
            </a:solidFill>
            <a:prstDash val="sysDash"/>
            <a:round/>
          </a:ln>
        </p:spPr>
      </p:cxnSp>
      <p:cxnSp>
        <p:nvCxnSpPr>
          <p:cNvPr id="142" name="Fix loop 3"/>
          <p:cNvCxnSpPr/>
          <p:nvPr/>
        </p:nvCxnSpPr>
        <p:spPr>
          <a:xfrm>
            <a:off x="3552444" y="1609344"/>
            <a:ext cx="0" cy="18288"/>
          </a:xfrm>
          <a:prstGeom prst="line">
            <a:avLst/>
          </a:prstGeom>
          <a:ln w="19050">
            <a:solidFill>
              <a:srgbClr val="368255"/>
            </a:solidFill>
            <a:prstDash val="sysDash"/>
            <a:round/>
            <a:tailEnd type="triangle" w="med" len="med"/>
          </a:ln>
        </p:spPr>
      </p:cxnSp>
      <p:sp>
        <p:nvSpPr>
          <p:cNvPr id="143" name="Loop label"/>
          <p:cNvSpPr txBox="1"/>
          <p:nvPr/>
        </p:nvSpPr>
        <p:spPr>
          <a:xfrm>
            <a:off x="3662172" y="1335024"/>
            <a:ext cx="3840480" cy="155448"/>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900" b="0" i="1" dirty="0">
                <a:solidFill>
                  <a:srgbClr val="14513A"/>
                </a:solidFill>
                <a:latin typeface="Arial"/>
                <a:ea typeface="Arial"/>
                <a:cs typeface="Arial"/>
                <a:sym typeface="Arial"/>
              </a:rPr>
              <a:t>yellow or red: redraw, renew or add a document, then check again</a:t>
            </a:r>
            <a:endParaRPr lang="en-GB" sz="900" dirty="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Wireframes/Mock diagrams of the proposed solution (optional)</a:t>
            </a:r>
            <a:endParaRPr lang="en-GB" sz="1200" dirty="0"/>
          </a:p>
        </p:txBody>
      </p:sp>
      <p:sp>
        <p:nvSpPr>
          <p:cNvPr id="105"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900" b="1" dirty="0">
                <a:solidFill>
                  <a:srgbClr val="0D3B29"/>
                </a:solidFill>
                <a:latin typeface="Arial"/>
                <a:ea typeface="Arial"/>
                <a:cs typeface="Arial"/>
                <a:sym typeface="Arial"/>
              </a:rPr>
              <a:t>Designed for low digital skill: one screen, one task</a:t>
            </a:r>
            <a:endParaRPr lang="en-GB" sz="1900" dirty="0"/>
          </a:p>
        </p:txBody>
      </p:sp>
      <p:pic>
        <p:nvPicPr>
          <p:cNvPr id="106" name="Wireframe 1" descr="Wireframe: photo documents step"/>
          <p:cNvPicPr>
            <a:picLocks noChangeAspect="1"/>
          </p:cNvPicPr>
          <p:nvPr/>
        </p:nvPicPr>
        <p:blipFill>
          <a:blip r:embed="rId5"/>
          <a:stretch>
            <a:fillRect/>
          </a:stretch>
        </p:blipFill>
        <p:spPr>
          <a:xfrm>
            <a:off x="274320" y="1371600"/>
            <a:ext cx="1316736" cy="2555879"/>
          </a:xfrm>
          <a:prstGeom prst="roundRect">
            <a:avLst>
              <a:gd name="adj" fmla="val 11805"/>
            </a:avLst>
          </a:prstGeom>
          <a:ln w="15875">
            <a:solidFill>
              <a:srgbClr val="15231B"/>
            </a:solidFill>
          </a:ln>
          <a:effectLst>
            <a:outerShdw blurRad="95250" dist="28575" dir="5400000" algn="t" rotWithShape="0">
              <a:srgbClr val="000000">
                <a:alpha val="22000"/>
              </a:srgbClr>
            </a:outerShdw>
          </a:effectLst>
        </p:spPr>
      </p:pic>
      <p:sp>
        <p:nvSpPr>
          <p:cNvPr id="107" name="Wireframe caption 1"/>
          <p:cNvSpPr txBox="1"/>
          <p:nvPr/>
        </p:nvSpPr>
        <p:spPr>
          <a:xfrm>
            <a:off x="237744" y="4000631"/>
            <a:ext cx="1389888" cy="384048"/>
          </a:xfrm>
          <a:prstGeom prst="rect">
            <a:avLst/>
          </a:prstGeom>
          <a:noFill/>
          <a:ln>
            <a:noFill/>
          </a:ln>
        </p:spPr>
        <p:txBody>
          <a:bodyPr wrap="square" lIns="0" tIns="0" rIns="0" bIns="0" rtlCol="0" anchor="t">
            <a:noAutofit/>
          </a:bodyPr>
          <a:lstStyle/>
          <a:p>
            <a:pPr algn="ctr" marL="0" indent="0" rtl="0">
              <a:spcBef>
                <a:spcPts val="0"/>
              </a:spcBef>
              <a:spcAft>
                <a:spcPts val="0"/>
              </a:spcAft>
              <a:buNone/>
            </a:pPr>
            <a:r>
              <a:rPr lang="en-GB" sz="1000" b="1" dirty="0">
                <a:solidFill>
                  <a:srgbClr val="0D3B29"/>
                </a:solidFill>
                <a:latin typeface="Arial"/>
                <a:ea typeface="Arial"/>
                <a:cs typeface="Arial"/>
                <a:sym typeface="Arial"/>
              </a:rPr>
              <a:t>1  Photograph the documents</a:t>
            </a:r>
            <a:endParaRPr lang="en-GB" sz="1000" dirty="0"/>
          </a:p>
        </p:txBody>
      </p:sp>
      <p:pic>
        <p:nvPicPr>
          <p:cNvPr id="108" name="Wireframe 2" descr="Wireframe: draw the land on a satellite map"/>
          <p:cNvPicPr>
            <a:picLocks noChangeAspect="1"/>
          </p:cNvPicPr>
          <p:nvPr/>
        </p:nvPicPr>
        <p:blipFill>
          <a:blip r:embed="rId6"/>
          <a:stretch>
            <a:fillRect/>
          </a:stretch>
        </p:blipFill>
        <p:spPr>
          <a:xfrm>
            <a:off x="1737360" y="1371600"/>
            <a:ext cx="1316736" cy="2555879"/>
          </a:xfrm>
          <a:prstGeom prst="roundRect">
            <a:avLst>
              <a:gd name="adj" fmla="val 11805"/>
            </a:avLst>
          </a:prstGeom>
          <a:ln w="15875">
            <a:solidFill>
              <a:srgbClr val="15231B"/>
            </a:solidFill>
          </a:ln>
          <a:effectLst>
            <a:outerShdw blurRad="95250" dist="28575" dir="5400000" algn="t" rotWithShape="0">
              <a:srgbClr val="000000">
                <a:alpha val="22000"/>
              </a:srgbClr>
            </a:outerShdw>
          </a:effectLst>
        </p:spPr>
      </p:pic>
      <p:sp>
        <p:nvSpPr>
          <p:cNvPr id="109" name="Wireframe caption 2"/>
          <p:cNvSpPr txBox="1"/>
          <p:nvPr/>
        </p:nvSpPr>
        <p:spPr>
          <a:xfrm>
            <a:off x="1700784" y="4000631"/>
            <a:ext cx="1389888" cy="384048"/>
          </a:xfrm>
          <a:prstGeom prst="rect">
            <a:avLst/>
          </a:prstGeom>
          <a:noFill/>
          <a:ln>
            <a:noFill/>
          </a:ln>
        </p:spPr>
        <p:txBody>
          <a:bodyPr wrap="square" lIns="0" tIns="0" rIns="0" bIns="0" rtlCol="0" anchor="t">
            <a:noAutofit/>
          </a:bodyPr>
          <a:lstStyle/>
          <a:p>
            <a:pPr algn="ctr" marL="0" indent="0" rtl="0">
              <a:spcBef>
                <a:spcPts val="0"/>
              </a:spcBef>
              <a:spcAft>
                <a:spcPts val="0"/>
              </a:spcAft>
              <a:buNone/>
            </a:pPr>
            <a:r>
              <a:rPr lang="en-GB" sz="1000" b="1" dirty="0">
                <a:solidFill>
                  <a:srgbClr val="0D3B29"/>
                </a:solidFill>
                <a:latin typeface="Arial"/>
                <a:ea typeface="Arial"/>
                <a:cs typeface="Arial"/>
                <a:sym typeface="Arial"/>
              </a:rPr>
              <a:t>2  Draw the boundary</a:t>
            </a:r>
            <a:endParaRPr lang="en-GB" sz="1000" dirty="0"/>
          </a:p>
        </p:txBody>
      </p:sp>
      <p:pic>
        <p:nvPicPr>
          <p:cNvPr id="110" name="Wireframe 3" descr="Wireframe: confirm unclear fields beside the photo"/>
          <p:cNvPicPr>
            <a:picLocks noChangeAspect="1"/>
          </p:cNvPicPr>
          <p:nvPr/>
        </p:nvPicPr>
        <p:blipFill>
          <a:blip r:embed="rId7"/>
          <a:stretch>
            <a:fillRect/>
          </a:stretch>
        </p:blipFill>
        <p:spPr>
          <a:xfrm>
            <a:off x="3200400" y="1371600"/>
            <a:ext cx="1316736" cy="2555879"/>
          </a:xfrm>
          <a:prstGeom prst="roundRect">
            <a:avLst>
              <a:gd name="adj" fmla="val 11805"/>
            </a:avLst>
          </a:prstGeom>
          <a:ln w="15875">
            <a:solidFill>
              <a:srgbClr val="15231B"/>
            </a:solidFill>
          </a:ln>
          <a:effectLst>
            <a:outerShdw blurRad="95250" dist="28575" dir="5400000" algn="t" rotWithShape="0">
              <a:srgbClr val="000000">
                <a:alpha val="22000"/>
              </a:srgbClr>
            </a:outerShdw>
          </a:effectLst>
        </p:spPr>
      </p:pic>
      <p:sp>
        <p:nvSpPr>
          <p:cNvPr id="111" name="Wireframe caption 3"/>
          <p:cNvSpPr txBox="1"/>
          <p:nvPr/>
        </p:nvSpPr>
        <p:spPr>
          <a:xfrm>
            <a:off x="3163824" y="4000631"/>
            <a:ext cx="1389888" cy="384048"/>
          </a:xfrm>
          <a:prstGeom prst="rect">
            <a:avLst/>
          </a:prstGeom>
          <a:noFill/>
          <a:ln>
            <a:noFill/>
          </a:ln>
        </p:spPr>
        <p:txBody>
          <a:bodyPr wrap="square" lIns="0" tIns="0" rIns="0" bIns="0" rtlCol="0" anchor="t">
            <a:noAutofit/>
          </a:bodyPr>
          <a:lstStyle/>
          <a:p>
            <a:pPr algn="ctr" marL="0" indent="0" rtl="0">
              <a:spcBef>
                <a:spcPts val="0"/>
              </a:spcBef>
              <a:spcAft>
                <a:spcPts val="0"/>
              </a:spcAft>
              <a:buNone/>
            </a:pPr>
            <a:r>
              <a:rPr lang="en-GB" sz="1000" b="1" dirty="0">
                <a:solidFill>
                  <a:srgbClr val="0D3B29"/>
                </a:solidFill>
                <a:latin typeface="Arial"/>
                <a:ea typeface="Arial"/>
                <a:cs typeface="Arial"/>
                <a:sym typeface="Arial"/>
              </a:rPr>
              <a:t>3  Confirm what AI could not read</a:t>
            </a:r>
            <a:endParaRPr lang="en-GB" sz="1000" dirty="0"/>
          </a:p>
        </p:txBody>
      </p:sp>
      <p:pic>
        <p:nvPicPr>
          <p:cNvPr id="112" name="Wireframe 4" descr="Wireframe: result screen with to-do list"/>
          <p:cNvPicPr>
            <a:picLocks noChangeAspect="1"/>
          </p:cNvPicPr>
          <p:nvPr/>
        </p:nvPicPr>
        <p:blipFill>
          <a:blip r:embed="rId8"/>
          <a:stretch>
            <a:fillRect/>
          </a:stretch>
        </p:blipFill>
        <p:spPr>
          <a:xfrm>
            <a:off x="4663440" y="1371600"/>
            <a:ext cx="1316736" cy="2555879"/>
          </a:xfrm>
          <a:prstGeom prst="roundRect">
            <a:avLst>
              <a:gd name="adj" fmla="val 11805"/>
            </a:avLst>
          </a:prstGeom>
          <a:ln w="15875">
            <a:solidFill>
              <a:srgbClr val="15231B"/>
            </a:solidFill>
          </a:ln>
          <a:effectLst>
            <a:outerShdw blurRad="95250" dist="28575" dir="5400000" algn="t" rotWithShape="0">
              <a:srgbClr val="000000">
                <a:alpha val="22000"/>
              </a:srgbClr>
            </a:outerShdw>
          </a:effectLst>
        </p:spPr>
      </p:pic>
      <p:sp>
        <p:nvSpPr>
          <p:cNvPr id="113" name="Wireframe caption 4"/>
          <p:cNvSpPr txBox="1"/>
          <p:nvPr/>
        </p:nvSpPr>
        <p:spPr>
          <a:xfrm>
            <a:off x="4626864" y="4000631"/>
            <a:ext cx="1389888" cy="384048"/>
          </a:xfrm>
          <a:prstGeom prst="rect">
            <a:avLst/>
          </a:prstGeom>
          <a:noFill/>
          <a:ln>
            <a:noFill/>
          </a:ln>
        </p:spPr>
        <p:txBody>
          <a:bodyPr wrap="square" lIns="0" tIns="0" rIns="0" bIns="0" rtlCol="0" anchor="t">
            <a:noAutofit/>
          </a:bodyPr>
          <a:lstStyle/>
          <a:p>
            <a:pPr algn="ctr" marL="0" indent="0" rtl="0">
              <a:spcBef>
                <a:spcPts val="0"/>
              </a:spcBef>
              <a:spcAft>
                <a:spcPts val="0"/>
              </a:spcAft>
              <a:buNone/>
            </a:pPr>
            <a:r>
              <a:rPr lang="en-GB" sz="1000" b="1" dirty="0">
                <a:solidFill>
                  <a:srgbClr val="0D3B29"/>
                </a:solidFill>
                <a:latin typeface="Arial"/>
                <a:ea typeface="Arial"/>
                <a:cs typeface="Arial"/>
                <a:sym typeface="Arial"/>
              </a:rPr>
              <a:t>4  Verdict and to-do list</a:t>
            </a:r>
            <a:endParaRPr lang="en-GB" sz="1000" dirty="0"/>
          </a:p>
        </p:txBody>
      </p:sp>
      <p:sp>
        <p:nvSpPr>
          <p:cNvPr id="114" name="Wireframe note"/>
          <p:cNvSpPr txBox="1"/>
          <p:nvPr/>
        </p:nvSpPr>
        <p:spPr>
          <a:xfrm>
            <a:off x="274320" y="4626864"/>
            <a:ext cx="5669280" cy="274320"/>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900" b="0" dirty="0">
                <a:solidFill>
                  <a:srgbClr val="56655B"/>
                </a:solidFill>
                <a:latin typeface="Arial"/>
                <a:ea typeface="Arial"/>
                <a:cs typeface="Arial"/>
                <a:sym typeface="Arial"/>
              </a:rPr>
              <a:t>Low-fidelity wireframes from the design phase (screen text in Malay). The built screens are on the snapshot slides.</a:t>
            </a:r>
            <a:endParaRPr lang="en-GB" sz="900" dirty="0"/>
          </a:p>
        </p:txBody>
      </p:sp>
      <p:sp>
        <p:nvSpPr>
          <p:cNvPr id="115" name="Rules card"/>
          <p:cNvSpPr/>
          <p:nvPr/>
        </p:nvSpPr>
        <p:spPr>
          <a:xfrm>
            <a:off x="6199632" y="1298448"/>
            <a:ext cx="2670048" cy="3621024"/>
          </a:xfrm>
          <a:prstGeom prst="roundRect">
            <a:avLst>
              <a:gd name="adj" fmla="val 3082"/>
            </a:avLst>
          </a:prstGeom>
          <a:solidFill>
            <a:srgbClr val="EDF1EC"/>
          </a:solidFill>
          <a:ln>
            <a:noFill/>
          </a:ln>
        </p:spPr>
      </p:sp>
      <p:sp>
        <p:nvSpPr>
          <p:cNvPr id="116" name="Rules title"/>
          <p:cNvSpPr txBox="1"/>
          <p:nvPr/>
        </p:nvSpPr>
        <p:spPr>
          <a:xfrm>
            <a:off x="6364224" y="1389888"/>
            <a:ext cx="2395728"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14513A"/>
                </a:solidFill>
                <a:latin typeface="Arial"/>
                <a:ea typeface="Arial"/>
                <a:cs typeface="Arial"/>
                <a:sym typeface="Arial"/>
              </a:rPr>
              <a:t>Design rules</a:t>
            </a:r>
            <a:endParaRPr lang="en-GB" sz="1200" dirty="0"/>
          </a:p>
        </p:txBody>
      </p:sp>
      <p:sp>
        <p:nvSpPr>
          <p:cNvPr id="117" name="Rules list"/>
          <p:cNvSpPr txBox="1"/>
          <p:nvPr/>
        </p:nvSpPr>
        <p:spPr>
          <a:xfrm>
            <a:off x="6364224" y="1719072"/>
            <a:ext cx="2359152" cy="3108960"/>
          </a:xfrm>
          <a:prstGeom prst="rect">
            <a:avLst/>
          </a:prstGeom>
          <a:noFill/>
          <a:ln>
            <a:noFill/>
          </a:ln>
        </p:spPr>
        <p:txBody>
          <a:bodyPr wrap="square" lIns="0" tIns="0" rIns="0" bIns="0" rtlCol="0" anchor="t">
            <a:noAutofit/>
          </a:bodyPr>
          <a:lstStyle/>
          <a:p>
            <a:pPr algn="l" marL="146304" indent="-146304" rtl="0">
              <a:spcBef>
                <a:spcPts val="0"/>
              </a:spcBef>
              <a:spcAft>
                <a:spcPts val="600"/>
              </a:spcAft>
              <a:buClr>
                <a:srgbClr val="14513A"/>
              </a:buClr>
              <a:buSzPct val="100000"/>
              <a:buFont typeface="Arial"/>
              <a:buChar char="•"/>
            </a:pPr>
            <a:r>
              <a:rPr lang="en-GB" sz="1000" b="1" dirty="0">
                <a:solidFill>
                  <a:srgbClr val="0D3B29"/>
                </a:solidFill>
                <a:latin typeface="Arial"/>
                <a:ea typeface="Arial"/>
                <a:cs typeface="Arial"/>
                <a:sym typeface="Arial"/>
              </a:rPr>
              <a:t xml:space="preserve">One screen, one task. </a:t>
            </a:r>
            <a:r>
              <a:rPr lang="en-GB" sz="1000" b="0" dirty="0">
                <a:solidFill>
                  <a:srgbClr val="15231B"/>
                </a:solidFill>
                <a:latin typeface="Arial"/>
                <a:ea typeface="Arial"/>
                <a:cs typeface="Arial"/>
                <a:sym typeface="Arial"/>
              </a:rPr>
              <a:t>One main button and a progress bar (Step 1 / 3).</a:t>
            </a:r>
            <a:endParaRPr lang="en-GB" sz="1000" dirty="0"/>
          </a:p>
          <a:p>
            <a:pPr algn="l" marL="146304" indent="-146304" rtl="0">
              <a:spcBef>
                <a:spcPts val="0"/>
              </a:spcBef>
              <a:spcAft>
                <a:spcPts val="600"/>
              </a:spcAft>
              <a:buClr>
                <a:srgbClr val="14513A"/>
              </a:buClr>
              <a:buSzPct val="100000"/>
              <a:buFont typeface="Arial"/>
              <a:buChar char="•"/>
            </a:pPr>
            <a:r>
              <a:rPr lang="en-GB" sz="1000" b="1" dirty="0">
                <a:solidFill>
                  <a:srgbClr val="0D3B29"/>
                </a:solidFill>
                <a:latin typeface="Arial"/>
                <a:ea typeface="Arial"/>
                <a:cs typeface="Arial"/>
                <a:sym typeface="Arial"/>
              </a:rPr>
              <a:t xml:space="preserve">Big buttons in the thumb zone. </a:t>
            </a:r>
            <a:r>
              <a:rPr lang="en-GB" sz="1000" b="0" dirty="0">
                <a:solidFill>
                  <a:srgbClr val="15231B"/>
                </a:solidFill>
                <a:latin typeface="Arial"/>
                <a:ea typeface="Arial"/>
                <a:cs typeface="Arial"/>
                <a:sym typeface="Arial"/>
              </a:rPr>
              <a:t>Touch targets of at least 48 px.</a:t>
            </a:r>
            <a:endParaRPr lang="en-GB" sz="1000" dirty="0"/>
          </a:p>
          <a:p>
            <a:pPr algn="l" marL="146304" indent="-146304" rtl="0">
              <a:spcBef>
                <a:spcPts val="0"/>
              </a:spcBef>
              <a:spcAft>
                <a:spcPts val="600"/>
              </a:spcAft>
              <a:buClr>
                <a:srgbClr val="14513A"/>
              </a:buClr>
              <a:buSzPct val="100000"/>
              <a:buFont typeface="Arial"/>
              <a:buChar char="•"/>
            </a:pPr>
            <a:r>
              <a:rPr lang="en-GB" sz="1000" b="1" dirty="0">
                <a:solidFill>
                  <a:srgbClr val="0D3B29"/>
                </a:solidFill>
                <a:latin typeface="Arial"/>
                <a:ea typeface="Arial"/>
                <a:cs typeface="Arial"/>
                <a:sym typeface="Arial"/>
              </a:rPr>
              <a:t xml:space="preserve">Malay first. </a:t>
            </a:r>
            <a:r>
              <a:rPr lang="en-GB" sz="1000" b="0" dirty="0">
                <a:solidFill>
                  <a:srgbClr val="15231B"/>
                </a:solidFill>
                <a:latin typeface="Arial"/>
                <a:ea typeface="Arial"/>
                <a:cs typeface="Arial"/>
                <a:sym typeface="Arial"/>
              </a:rPr>
              <a:t>English one tap away; icons always with words.</a:t>
            </a:r>
            <a:endParaRPr lang="en-GB" sz="1000" dirty="0"/>
          </a:p>
          <a:p>
            <a:pPr algn="l" marL="146304" indent="-146304" rtl="0">
              <a:spcBef>
                <a:spcPts val="0"/>
              </a:spcBef>
              <a:spcAft>
                <a:spcPts val="600"/>
              </a:spcAft>
              <a:buClr>
                <a:srgbClr val="14513A"/>
              </a:buClr>
              <a:buSzPct val="100000"/>
              <a:buFont typeface="Arial"/>
              <a:buChar char="•"/>
            </a:pPr>
            <a:r>
              <a:rPr lang="en-GB" sz="1000" b="1" dirty="0">
                <a:solidFill>
                  <a:srgbClr val="0D3B29"/>
                </a:solidFill>
                <a:latin typeface="Arial"/>
                <a:ea typeface="Arial"/>
                <a:cs typeface="Arial"/>
                <a:sym typeface="Arial"/>
              </a:rPr>
              <a:t xml:space="preserve">Status is never colour alone. </a:t>
            </a:r>
            <a:r>
              <a:rPr lang="en-GB" sz="1000" b="0" dirty="0">
                <a:solidFill>
                  <a:srgbClr val="15231B"/>
                </a:solidFill>
                <a:latin typeface="Arial"/>
                <a:ea typeface="Arial"/>
                <a:cs typeface="Arial"/>
                <a:sym typeface="Arial"/>
              </a:rPr>
              <a:t>Colour, icon and words together.</a:t>
            </a:r>
            <a:endParaRPr lang="en-GB" sz="1000" dirty="0"/>
          </a:p>
          <a:p>
            <a:pPr algn="l" marL="146304" indent="-146304" rtl="0">
              <a:spcBef>
                <a:spcPts val="0"/>
              </a:spcBef>
              <a:spcAft>
                <a:spcPts val="600"/>
              </a:spcAft>
              <a:buClr>
                <a:srgbClr val="14513A"/>
              </a:buClr>
              <a:buSzPct val="100000"/>
              <a:buFont typeface="Arial"/>
              <a:buChar char="•"/>
            </a:pPr>
            <a:r>
              <a:rPr lang="en-GB" sz="1000" b="1" dirty="0">
                <a:solidFill>
                  <a:srgbClr val="0D3B29"/>
                </a:solidFill>
                <a:latin typeface="Arial"/>
                <a:ea typeface="Arial"/>
                <a:cs typeface="Arial"/>
                <a:sym typeface="Arial"/>
              </a:rPr>
              <a:t xml:space="preserve">Plain, kind words. </a:t>
            </a:r>
            <a:r>
              <a:rPr lang="en-GB" sz="1000" b="0" dirty="0">
                <a:solidFill>
                  <a:srgbClr val="15231B"/>
                </a:solidFill>
                <a:latin typeface="Arial"/>
                <a:ea typeface="Arial"/>
                <a:cs typeface="Arial"/>
                <a:sym typeface="Arial"/>
              </a:rPr>
              <a:t>"Take the picture again", not "Recognition failed".</a:t>
            </a:r>
            <a:endParaRPr lang="en-GB" sz="1000" dirty="0"/>
          </a:p>
          <a:p>
            <a:pPr algn="l" marL="146304" indent="-146304" rtl="0">
              <a:spcBef>
                <a:spcPts val="0"/>
              </a:spcBef>
              <a:spcAft>
                <a:spcPts val="600"/>
              </a:spcAft>
              <a:buClr>
                <a:srgbClr val="14513A"/>
              </a:buClr>
              <a:buSzPct val="100000"/>
              <a:buFont typeface="Arial"/>
              <a:buChar char="•"/>
            </a:pPr>
            <a:r>
              <a:rPr lang="en-GB" sz="1000" b="1" dirty="0">
                <a:solidFill>
                  <a:srgbClr val="0D3B29"/>
                </a:solidFill>
                <a:latin typeface="Arial"/>
                <a:ea typeface="Arial"/>
                <a:cs typeface="Arial"/>
                <a:sym typeface="Arial"/>
              </a:rPr>
              <a:t xml:space="preserve">Forgiving. </a:t>
            </a:r>
            <a:r>
              <a:rPr lang="en-GB" sz="1000" b="0" dirty="0">
                <a:solidFill>
                  <a:srgbClr val="15231B"/>
                </a:solidFill>
                <a:latin typeface="Arial"/>
                <a:ea typeface="Arial"/>
                <a:cs typeface="Arial"/>
                <a:sym typeface="Arial"/>
              </a:rPr>
              <a:t>Skip a document, retake a photo, fix what AI read, leave while it checks.</a:t>
            </a:r>
            <a:endParaRPr lang="en-GB" sz="1000" dirty="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Architecture diagram of the proposed solution</a:t>
            </a:r>
            <a:endParaRPr lang="en-GB" sz="1200" dirty="0"/>
          </a:p>
        </p:txBody>
      </p:sp>
      <p:sp>
        <p:nvSpPr>
          <p:cNvPr id="113"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One Cloud Run service, with Gemini and Earth Engine as tools</a:t>
            </a:r>
            <a:endParaRPr lang="en-GB" sz="2000" dirty="0"/>
          </a:p>
        </p:txBody>
      </p:sp>
      <p:sp>
        <p:nvSpPr>
          <p:cNvPr id="114" name="User 1"/>
          <p:cNvSpPr/>
          <p:nvPr/>
        </p:nvSpPr>
        <p:spPr>
          <a:xfrm>
            <a:off x="274320" y="1444752"/>
            <a:ext cx="1188720" cy="1188720"/>
          </a:xfrm>
          <a:prstGeom prst="roundRect">
            <a:avLst>
              <a:gd name="adj" fmla="val 5384"/>
            </a:avLst>
          </a:prstGeom>
          <a:solidFill>
            <a:srgbClr val="FFFFFF"/>
          </a:solidFill>
          <a:ln w="12700">
            <a:solidFill>
              <a:srgbClr val="14513A"/>
            </a:solidFill>
          </a:ln>
        </p:spPr>
      </p:sp>
      <p:pic>
        <p:nvPicPr>
          <p:cNvPr id="115" name="User 1 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5800" y="1536192"/>
            <a:ext cx="365760" cy="365760"/>
          </a:xfrm>
          <a:prstGeom prst="rect">
            <a:avLst/>
          </a:prstGeom>
          <a:ln>
            <a:noFill/>
          </a:ln>
        </p:spPr>
      </p:pic>
      <p:sp>
        <p:nvSpPr>
          <p:cNvPr id="116" name="User 1 text"/>
          <p:cNvSpPr txBox="1"/>
          <p:nvPr/>
        </p:nvSpPr>
        <p:spPr>
          <a:xfrm>
            <a:off x="320040" y="1938528"/>
            <a:ext cx="1097280" cy="658368"/>
          </a:xfrm>
          <a:prstGeom prst="rect">
            <a:avLst/>
          </a:prstGeom>
          <a:noFill/>
          <a:ln>
            <a:noFill/>
          </a:ln>
        </p:spPr>
        <p:txBody>
          <a:bodyPr wrap="square" lIns="0" tIns="0" rIns="0" bIns="0" rtlCol="0" anchor="t">
            <a:noAutofit/>
          </a:bodyPr>
          <a:lstStyle/>
          <a:p>
            <a:pPr algn="ctr" marL="0" indent="0" rtl="0">
              <a:spcBef>
                <a:spcPts val="0"/>
              </a:spcBef>
              <a:spcAft>
                <a:spcPts val="100"/>
              </a:spcAft>
              <a:buNone/>
            </a:pPr>
            <a:r>
              <a:rPr lang="en-GB" sz="1000" b="1" dirty="0">
                <a:solidFill>
                  <a:srgbClr val="0D3B29"/>
                </a:solidFill>
                <a:latin typeface="Arial"/>
                <a:ea typeface="Arial"/>
                <a:cs typeface="Arial"/>
                <a:sym typeface="Arial"/>
              </a:rPr>
              <a:t>Smallholder or field officer</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phone (installable PWA)</a:t>
            </a:r>
            <a:endParaRPr lang="en-GB" sz="900" dirty="0"/>
          </a:p>
        </p:txBody>
      </p:sp>
      <p:sp>
        <p:nvSpPr>
          <p:cNvPr id="117" name="User 2"/>
          <p:cNvSpPr/>
          <p:nvPr/>
        </p:nvSpPr>
        <p:spPr>
          <a:xfrm>
            <a:off x="274320" y="2980944"/>
            <a:ext cx="1188720" cy="1188720"/>
          </a:xfrm>
          <a:prstGeom prst="roundRect">
            <a:avLst>
              <a:gd name="adj" fmla="val 5384"/>
            </a:avLst>
          </a:prstGeom>
          <a:solidFill>
            <a:srgbClr val="FFFFFF"/>
          </a:solidFill>
          <a:ln w="12700">
            <a:solidFill>
              <a:srgbClr val="14513A"/>
            </a:solidFill>
          </a:ln>
        </p:spPr>
      </p:sp>
      <p:pic>
        <p:nvPicPr>
          <p:cNvPr id="118" name="User 2 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800" y="3072384"/>
            <a:ext cx="365760" cy="365760"/>
          </a:xfrm>
          <a:prstGeom prst="rect">
            <a:avLst/>
          </a:prstGeom>
          <a:ln>
            <a:noFill/>
          </a:ln>
        </p:spPr>
      </p:pic>
      <p:sp>
        <p:nvSpPr>
          <p:cNvPr id="119" name="User 2 text"/>
          <p:cNvSpPr txBox="1"/>
          <p:nvPr/>
        </p:nvSpPr>
        <p:spPr>
          <a:xfrm>
            <a:off x="320040" y="3474720"/>
            <a:ext cx="1097280" cy="658368"/>
          </a:xfrm>
          <a:prstGeom prst="rect">
            <a:avLst/>
          </a:prstGeom>
          <a:noFill/>
          <a:ln>
            <a:noFill/>
          </a:ln>
        </p:spPr>
        <p:txBody>
          <a:bodyPr wrap="square" lIns="0" tIns="0" rIns="0" bIns="0" rtlCol="0" anchor="t">
            <a:noAutofit/>
          </a:bodyPr>
          <a:lstStyle/>
          <a:p>
            <a:pPr algn="ctr" marL="0" indent="0" rtl="0">
              <a:spcBef>
                <a:spcPts val="0"/>
              </a:spcBef>
              <a:spcAft>
                <a:spcPts val="100"/>
              </a:spcAft>
              <a:buNone/>
            </a:pPr>
            <a:r>
              <a:rPr lang="en-GB" sz="1000" b="1" dirty="0">
                <a:solidFill>
                  <a:srgbClr val="0D3B29"/>
                </a:solidFill>
                <a:latin typeface="Arial"/>
                <a:ea typeface="Arial"/>
                <a:cs typeface="Arial"/>
                <a:sym typeface="Arial"/>
              </a:rPr>
              <a:t>Cooperative admin</a:t>
            </a:r>
            <a:endParaRPr lang="en-GB" sz="1000" dirty="0"/>
          </a:p>
          <a:p>
            <a:pPr algn="ctr" marL="0" indent="0" rtl="0">
              <a:spcBef>
                <a:spcPts val="0"/>
              </a:spcBef>
              <a:spcAft>
                <a:spcPts val="0"/>
              </a:spcAft>
              <a:buNone/>
            </a:pPr>
            <a:r>
              <a:rPr lang="en-GB" sz="900" b="0" dirty="0">
                <a:solidFill>
                  <a:srgbClr val="56655B"/>
                </a:solidFill>
                <a:latin typeface="Arial"/>
                <a:ea typeface="Arial"/>
                <a:cs typeface="Arial"/>
                <a:sym typeface="Arial"/>
              </a:rPr>
              <a:t>computer browser</a:t>
            </a:r>
            <a:endParaRPr lang="en-GB" sz="900" dirty="0"/>
          </a:p>
        </p:txBody>
      </p:sp>
      <p:sp>
        <p:nvSpPr>
          <p:cNvPr id="120" name="Front end"/>
          <p:cNvSpPr/>
          <p:nvPr/>
        </p:nvSpPr>
        <p:spPr>
          <a:xfrm>
            <a:off x="1719072" y="1298448"/>
            <a:ext cx="2011680" cy="2999232"/>
          </a:xfrm>
          <a:prstGeom prst="roundRect">
            <a:avLst>
              <a:gd name="adj" fmla="val 3636"/>
            </a:avLst>
          </a:prstGeom>
          <a:solidFill>
            <a:srgbClr val="EDF1EC"/>
          </a:solidFill>
          <a:ln>
            <a:noFill/>
          </a:ln>
        </p:spPr>
      </p:sp>
      <p:sp>
        <p:nvSpPr>
          <p:cNvPr id="121" name="Front end title"/>
          <p:cNvSpPr txBox="1"/>
          <p:nvPr/>
        </p:nvSpPr>
        <p:spPr>
          <a:xfrm>
            <a:off x="1828800" y="1362456"/>
            <a:ext cx="1828800" cy="365760"/>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050" b="1" dirty="0">
                <a:solidFill>
                  <a:srgbClr val="14513A"/>
                </a:solidFill>
                <a:latin typeface="Arial"/>
                <a:ea typeface="Arial"/>
                <a:cs typeface="Arial"/>
                <a:sym typeface="Arial"/>
              </a:rPr>
              <a:t>Firebase Hosting</a:t>
            </a:r>
            <a:endParaRPr lang="en-GB" sz="1050" dirty="0"/>
          </a:p>
          <a:p>
            <a:pPr algn="l" marL="0" indent="0" rtl="0">
              <a:spcBef>
                <a:spcPts val="0"/>
              </a:spcBef>
              <a:spcAft>
                <a:spcPts val="0"/>
              </a:spcAft>
              <a:buNone/>
            </a:pPr>
            <a:r>
              <a:rPr lang="en-GB" sz="900" b="0" dirty="0">
                <a:solidFill>
                  <a:srgbClr val="56655B"/>
                </a:solidFill>
                <a:latin typeface="Arial"/>
                <a:ea typeface="Arial"/>
                <a:cs typeface="Arial"/>
                <a:sym typeface="Arial"/>
              </a:rPr>
              <a:t>Angular 22 progressive web app</a:t>
            </a:r>
            <a:endParaRPr lang="en-GB" sz="900" dirty="0"/>
          </a:p>
        </p:txBody>
      </p:sp>
      <p:sp>
        <p:nvSpPr>
          <p:cNvPr id="122" name="FE item 1"/>
          <p:cNvSpPr/>
          <p:nvPr/>
        </p:nvSpPr>
        <p:spPr>
          <a:xfrm>
            <a:off x="1828800" y="1755648"/>
            <a:ext cx="1792224" cy="566928"/>
          </a:xfrm>
          <a:prstGeom prst="roundRect">
            <a:avLst>
              <a:gd name="adj" fmla="val 9677"/>
            </a:avLst>
          </a:prstGeom>
          <a:solidFill>
            <a:srgbClr val="FFFFFF"/>
          </a:solidFill>
          <a:ln w="9525">
            <a:solidFill>
              <a:srgbClr val="D3DCD0"/>
            </a:solidFill>
          </a:ln>
        </p:spPr>
        <p:txBody>
          <a:bodyPr wrap="square" lIns="73152" tIns="18288" rIns="54864" bIns="18288" rtlCol="0" anchor="ctr">
            <a:noAutofit/>
          </a:bodyPr>
          <a:lstStyle/>
          <a:p>
            <a:pPr algn="l" marL="0" indent="0" rtl="0">
              <a:spcBef>
                <a:spcPts val="0"/>
              </a:spcBef>
              <a:spcAft>
                <a:spcPts val="100"/>
              </a:spcAft>
              <a:buNone/>
            </a:pPr>
            <a:r>
              <a:rPr lang="en-GB" sz="950" b="1" dirty="0">
                <a:solidFill>
                  <a:srgbClr val="0D3B29"/>
                </a:solidFill>
                <a:latin typeface="Arial"/>
                <a:ea typeface="Arial"/>
                <a:cs typeface="Arial"/>
                <a:sym typeface="Arial"/>
              </a:rPr>
              <a:t>Phone screens and cooperative dashboard</a:t>
            </a:r>
            <a:endParaRPr lang="en-GB" sz="950" dirty="0"/>
          </a:p>
          <a:p>
            <a:pPr algn="l" marL="0" indent="0" rtl="0">
              <a:spcBef>
                <a:spcPts val="0"/>
              </a:spcBef>
              <a:spcAft>
                <a:spcPts val="0"/>
              </a:spcAft>
              <a:buNone/>
            </a:pPr>
            <a:r>
              <a:rPr lang="en-GB" sz="900" b="0" dirty="0">
                <a:solidFill>
                  <a:srgbClr val="56655B"/>
                </a:solidFill>
                <a:latin typeface="Arial"/>
                <a:ea typeface="Arial"/>
                <a:cs typeface="Arial"/>
                <a:sym typeface="Arial"/>
              </a:rPr>
              <a:t>Malay and English</a:t>
            </a:r>
            <a:endParaRPr lang="en-GB" sz="900" dirty="0"/>
          </a:p>
        </p:txBody>
      </p:sp>
      <p:sp>
        <p:nvSpPr>
          <p:cNvPr id="123" name="FE item 2"/>
          <p:cNvSpPr/>
          <p:nvPr/>
        </p:nvSpPr>
        <p:spPr>
          <a:xfrm>
            <a:off x="1828800" y="2377440"/>
            <a:ext cx="1792224" cy="566928"/>
          </a:xfrm>
          <a:prstGeom prst="roundRect">
            <a:avLst>
              <a:gd name="adj" fmla="val 9677"/>
            </a:avLst>
          </a:prstGeom>
          <a:solidFill>
            <a:srgbClr val="FFFFFF"/>
          </a:solidFill>
          <a:ln w="9525">
            <a:solidFill>
              <a:srgbClr val="D3DCD0"/>
            </a:solidFill>
          </a:ln>
        </p:spPr>
        <p:txBody>
          <a:bodyPr wrap="square" lIns="73152" tIns="18288" rIns="54864" bIns="18288" rtlCol="0" anchor="ctr">
            <a:noAutofit/>
          </a:bodyPr>
          <a:lstStyle/>
          <a:p>
            <a:pPr algn="l" marL="0" indent="0" rtl="0">
              <a:spcBef>
                <a:spcPts val="0"/>
              </a:spcBef>
              <a:spcAft>
                <a:spcPts val="100"/>
              </a:spcAft>
              <a:buNone/>
            </a:pPr>
            <a:r>
              <a:rPr lang="en-GB" sz="950" b="1" dirty="0">
                <a:solidFill>
                  <a:srgbClr val="0D3B29"/>
                </a:solidFill>
                <a:latin typeface="Arial"/>
                <a:ea typeface="Arial"/>
                <a:cs typeface="Arial"/>
                <a:sym typeface="Arial"/>
              </a:rPr>
              <a:t>Offline queue</a:t>
            </a:r>
            <a:endParaRPr lang="en-GB" sz="950" dirty="0"/>
          </a:p>
          <a:p>
            <a:pPr algn="l" marL="0" indent="0" rtl="0">
              <a:spcBef>
                <a:spcPts val="0"/>
              </a:spcBef>
              <a:spcAft>
                <a:spcPts val="0"/>
              </a:spcAft>
              <a:buNone/>
            </a:pPr>
            <a:r>
              <a:rPr lang="en-GB" sz="900" b="0" dirty="0">
                <a:solidFill>
                  <a:srgbClr val="56655B"/>
                </a:solidFill>
                <a:latin typeface="Arial"/>
                <a:ea typeface="Arial"/>
                <a:cs typeface="Arial"/>
                <a:sym typeface="Arial"/>
              </a:rPr>
              <a:t>Service Worker + IndexedDB</a:t>
            </a:r>
            <a:endParaRPr lang="en-GB" sz="900" dirty="0"/>
          </a:p>
        </p:txBody>
      </p:sp>
      <p:sp>
        <p:nvSpPr>
          <p:cNvPr id="124" name="FE item 3"/>
          <p:cNvSpPr/>
          <p:nvPr/>
        </p:nvSpPr>
        <p:spPr>
          <a:xfrm>
            <a:off x="1828800" y="2999232"/>
            <a:ext cx="1792224" cy="566928"/>
          </a:xfrm>
          <a:prstGeom prst="roundRect">
            <a:avLst>
              <a:gd name="adj" fmla="val 9677"/>
            </a:avLst>
          </a:prstGeom>
          <a:solidFill>
            <a:srgbClr val="FFFFFF"/>
          </a:solidFill>
          <a:ln w="9525">
            <a:solidFill>
              <a:srgbClr val="D3DCD0"/>
            </a:solidFill>
          </a:ln>
        </p:spPr>
        <p:txBody>
          <a:bodyPr wrap="square" lIns="73152" tIns="18288" rIns="54864" bIns="18288" rtlCol="0" anchor="ctr">
            <a:noAutofit/>
          </a:bodyPr>
          <a:lstStyle/>
          <a:p>
            <a:pPr algn="l" marL="0" indent="0" rtl="0">
              <a:spcBef>
                <a:spcPts val="0"/>
              </a:spcBef>
              <a:spcAft>
                <a:spcPts val="100"/>
              </a:spcAft>
              <a:buNone/>
            </a:pPr>
            <a:r>
              <a:rPr lang="en-GB" sz="950" b="1" dirty="0">
                <a:solidFill>
                  <a:srgbClr val="0D3B29"/>
                </a:solidFill>
                <a:latin typeface="Arial"/>
                <a:ea typeface="Arial"/>
                <a:cs typeface="Arial"/>
                <a:sym typeface="Arial"/>
              </a:rPr>
              <a:t>Google Maps JavaScript API</a:t>
            </a:r>
            <a:endParaRPr lang="en-GB" sz="950" dirty="0"/>
          </a:p>
          <a:p>
            <a:pPr algn="l" marL="0" indent="0" rtl="0">
              <a:spcBef>
                <a:spcPts val="0"/>
              </a:spcBef>
              <a:spcAft>
                <a:spcPts val="0"/>
              </a:spcAft>
              <a:buNone/>
            </a:pPr>
            <a:r>
              <a:rPr lang="en-GB" sz="900" b="0" dirty="0">
                <a:solidFill>
                  <a:srgbClr val="56655B"/>
                </a:solidFill>
                <a:latin typeface="Arial"/>
                <a:ea typeface="Arial"/>
                <a:cs typeface="Arial"/>
                <a:sym typeface="Arial"/>
              </a:rPr>
              <a:t>satellite map, boundary drawing</a:t>
            </a:r>
            <a:endParaRPr lang="en-GB" sz="900" dirty="0"/>
          </a:p>
        </p:txBody>
      </p:sp>
      <p:sp>
        <p:nvSpPr>
          <p:cNvPr id="125" name="FE item 4"/>
          <p:cNvSpPr/>
          <p:nvPr/>
        </p:nvSpPr>
        <p:spPr>
          <a:xfrm>
            <a:off x="1828800" y="3621024"/>
            <a:ext cx="1792224" cy="566928"/>
          </a:xfrm>
          <a:prstGeom prst="roundRect">
            <a:avLst>
              <a:gd name="adj" fmla="val 9677"/>
            </a:avLst>
          </a:prstGeom>
          <a:solidFill>
            <a:srgbClr val="FFFFFF"/>
          </a:solidFill>
          <a:ln w="9525">
            <a:solidFill>
              <a:srgbClr val="D3DCD0"/>
            </a:solidFill>
          </a:ln>
        </p:spPr>
        <p:txBody>
          <a:bodyPr wrap="square" lIns="73152" tIns="18288" rIns="54864" bIns="18288" rtlCol="0" anchor="ctr">
            <a:noAutofit/>
          </a:bodyPr>
          <a:lstStyle/>
          <a:p>
            <a:pPr algn="l" marL="0" indent="0" rtl="0">
              <a:spcBef>
                <a:spcPts val="0"/>
              </a:spcBef>
              <a:spcAft>
                <a:spcPts val="100"/>
              </a:spcAft>
              <a:buNone/>
            </a:pPr>
            <a:r>
              <a:rPr lang="en-GB" sz="950" b="1" dirty="0">
                <a:solidFill>
                  <a:srgbClr val="0D3B29"/>
                </a:solidFill>
                <a:latin typeface="Arial"/>
                <a:ea typeface="Arial"/>
                <a:cs typeface="Arial"/>
                <a:sym typeface="Arial"/>
              </a:rPr>
              <a:t>Firebase Authentication</a:t>
            </a:r>
            <a:endParaRPr lang="en-GB" sz="950" dirty="0"/>
          </a:p>
          <a:p>
            <a:pPr algn="l" marL="0" indent="0" rtl="0">
              <a:spcBef>
                <a:spcPts val="0"/>
              </a:spcBef>
              <a:spcAft>
                <a:spcPts val="0"/>
              </a:spcAft>
              <a:buNone/>
            </a:pPr>
            <a:r>
              <a:rPr lang="en-GB" sz="900" b="0" dirty="0">
                <a:solidFill>
                  <a:srgbClr val="56655B"/>
                </a:solidFill>
                <a:latin typeface="Arial"/>
                <a:ea typeface="Arial"/>
                <a:cs typeface="Arial"/>
                <a:sym typeface="Arial"/>
              </a:rPr>
              <a:t>phone code or email sign-in</a:t>
            </a:r>
            <a:endParaRPr lang="en-GB" sz="900" dirty="0"/>
          </a:p>
        </p:txBody>
      </p:sp>
      <p:sp>
        <p:nvSpPr>
          <p:cNvPr id="126" name="Cloud Run"/>
          <p:cNvSpPr/>
          <p:nvPr/>
        </p:nvSpPr>
        <p:spPr>
          <a:xfrm>
            <a:off x="4233672" y="1298448"/>
            <a:ext cx="2240280" cy="2999232"/>
          </a:xfrm>
          <a:prstGeom prst="roundRect">
            <a:avLst>
              <a:gd name="adj" fmla="val 3265"/>
            </a:avLst>
          </a:prstGeom>
          <a:solidFill>
            <a:srgbClr val="F8E9DD"/>
          </a:solidFill>
          <a:ln>
            <a:noFill/>
          </a:ln>
        </p:spPr>
      </p:sp>
      <p:sp>
        <p:nvSpPr>
          <p:cNvPr id="127" name="Cloud Run title"/>
          <p:cNvSpPr txBox="1"/>
          <p:nvPr/>
        </p:nvSpPr>
        <p:spPr>
          <a:xfrm>
            <a:off x="4343400" y="1362456"/>
            <a:ext cx="2057400" cy="365760"/>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050" b="1" dirty="0">
                <a:solidFill>
                  <a:srgbClr val="0D3B29"/>
                </a:solidFill>
                <a:latin typeface="Arial"/>
                <a:ea typeface="Arial"/>
                <a:cs typeface="Arial"/>
                <a:sym typeface="Arial"/>
              </a:rPr>
              <a:t>Cloud Run: kebunsah-api</a:t>
            </a:r>
            <a:endParaRPr lang="en-GB" sz="1050" dirty="0"/>
          </a:p>
          <a:p>
            <a:pPr algn="l" marL="0" indent="0" rtl="0">
              <a:spcBef>
                <a:spcPts val="0"/>
              </a:spcBef>
              <a:spcAft>
                <a:spcPts val="0"/>
              </a:spcAft>
              <a:buNone/>
            </a:pPr>
            <a:r>
              <a:rPr lang="en-GB" sz="900" b="0" dirty="0">
                <a:solidFill>
                  <a:srgbClr val="56655B"/>
                </a:solidFill>
                <a:latin typeface="Arial"/>
                <a:ea typeface="Arial"/>
                <a:cs typeface="Arial"/>
                <a:sym typeface="Arial"/>
              </a:rPr>
              <a:t>one service, region asia-southeast1</a:t>
            </a:r>
            <a:endParaRPr lang="en-GB" sz="900" dirty="0"/>
          </a:p>
        </p:txBody>
      </p:sp>
      <p:sp>
        <p:nvSpPr>
          <p:cNvPr id="128" name="CR item 1"/>
          <p:cNvSpPr/>
          <p:nvPr/>
        </p:nvSpPr>
        <p:spPr>
          <a:xfrm>
            <a:off x="4343400" y="1773936"/>
            <a:ext cx="2020824" cy="786384"/>
          </a:xfrm>
          <a:prstGeom prst="roundRect">
            <a:avLst>
              <a:gd name="adj" fmla="val 6976"/>
            </a:avLst>
          </a:prstGeom>
          <a:solidFill>
            <a:srgbClr val="FFFFFF"/>
          </a:solidFill>
          <a:ln w="12700">
            <a:solidFill>
              <a:srgbClr val="C96430"/>
            </a:solidFill>
          </a:ln>
        </p:spPr>
        <p:txBody>
          <a:bodyPr wrap="square" lIns="73152" tIns="18288" rIns="54864" bIns="18288" rtlCol="0" anchor="ctr">
            <a:noAutofit/>
          </a:bodyPr>
          <a:lstStyle/>
          <a:p>
            <a:pPr algn="l" marL="0" indent="0" rtl="0">
              <a:spcBef>
                <a:spcPts val="0"/>
              </a:spcBef>
              <a:spcAft>
                <a:spcPts val="100"/>
              </a:spcAft>
              <a:buNone/>
            </a:pPr>
            <a:r>
              <a:rPr lang="en-GB" sz="950" b="1" dirty="0">
                <a:solidFill>
                  <a:srgbClr val="0D3B29"/>
                </a:solidFill>
                <a:latin typeface="Arial"/>
                <a:ea typeface="Arial"/>
                <a:cs typeface="Arial"/>
                <a:sym typeface="Arial"/>
              </a:rPr>
              <a:t>FastAPI</a:t>
            </a:r>
            <a:endParaRPr lang="en-GB" sz="950" dirty="0"/>
          </a:p>
          <a:p>
            <a:pPr algn="l" marL="0" indent="0" rtl="0">
              <a:spcBef>
                <a:spcPts val="0"/>
              </a:spcBef>
              <a:spcAft>
                <a:spcPts val="0"/>
              </a:spcAft>
              <a:buNone/>
            </a:pPr>
            <a:r>
              <a:rPr lang="en-GB" sz="900" b="0" dirty="0">
                <a:solidFill>
                  <a:srgbClr val="56655B"/>
                </a:solidFill>
                <a:latin typeface="Arial"/>
                <a:ea typeface="Arial"/>
                <a:cs typeface="Arial"/>
                <a:sym typeface="Arial"/>
              </a:rPr>
              <a:t>checks the Firebase ID token and role, validates input, issues signed upload URLs</a:t>
            </a:r>
            <a:endParaRPr lang="en-GB" sz="900" dirty="0"/>
          </a:p>
        </p:txBody>
      </p:sp>
      <p:cxnSp>
        <p:nvCxnSpPr>
          <p:cNvPr id="129" name="CR arrow 1"/>
          <p:cNvCxnSpPr/>
          <p:nvPr/>
        </p:nvCxnSpPr>
        <p:spPr>
          <a:xfrm>
            <a:off x="5353812" y="2564892"/>
            <a:ext cx="0" cy="64008"/>
          </a:xfrm>
          <a:prstGeom prst="line">
            <a:avLst/>
          </a:prstGeom>
          <a:ln w="15875">
            <a:solidFill>
              <a:srgbClr val="C96430"/>
            </a:solidFill>
            <a:round/>
            <a:tailEnd type="triangle" w="med" len="med"/>
          </a:ln>
        </p:spPr>
      </p:cxnSp>
      <p:sp>
        <p:nvSpPr>
          <p:cNvPr id="130" name="CR item 2"/>
          <p:cNvSpPr/>
          <p:nvPr/>
        </p:nvSpPr>
        <p:spPr>
          <a:xfrm>
            <a:off x="4343400" y="2633472"/>
            <a:ext cx="2020824" cy="786384"/>
          </a:xfrm>
          <a:prstGeom prst="roundRect">
            <a:avLst>
              <a:gd name="adj" fmla="val 6976"/>
            </a:avLst>
          </a:prstGeom>
          <a:solidFill>
            <a:srgbClr val="FFFFFF"/>
          </a:solidFill>
          <a:ln w="12700">
            <a:solidFill>
              <a:srgbClr val="C96430"/>
            </a:solidFill>
          </a:ln>
        </p:spPr>
        <p:txBody>
          <a:bodyPr wrap="square" lIns="73152" tIns="18288" rIns="54864" bIns="18288" rtlCol="0" anchor="ctr">
            <a:noAutofit/>
          </a:bodyPr>
          <a:lstStyle/>
          <a:p>
            <a:pPr algn="l" marL="0" indent="0" rtl="0">
              <a:spcBef>
                <a:spcPts val="0"/>
              </a:spcBef>
              <a:spcAft>
                <a:spcPts val="100"/>
              </a:spcAft>
              <a:buNone/>
            </a:pPr>
            <a:r>
              <a:rPr lang="en-GB" sz="950" b="1" dirty="0">
                <a:solidFill>
                  <a:srgbClr val="0D3B29"/>
                </a:solidFill>
                <a:latin typeface="Arial"/>
                <a:ea typeface="Arial"/>
                <a:cs typeface="Arial"/>
                <a:sym typeface="Arial"/>
              </a:rPr>
              <a:t>Assessment pipeline</a:t>
            </a:r>
            <a:endParaRPr lang="en-GB" sz="950" dirty="0"/>
          </a:p>
          <a:p>
            <a:pPr algn="l" marL="0" indent="0" rtl="0">
              <a:spcBef>
                <a:spcPts val="0"/>
              </a:spcBef>
              <a:spcAft>
                <a:spcPts val="0"/>
              </a:spcAft>
              <a:buNone/>
            </a:pPr>
            <a:r>
              <a:rPr lang="en-GB" sz="900" b="0" dirty="0">
                <a:solidFill>
                  <a:srgbClr val="56655B"/>
                </a:solidFill>
                <a:latin typeface="Arial"/>
                <a:ea typeface="Arial"/>
                <a:cs typeface="Arial"/>
                <a:sym typeface="Arial"/>
              </a:rPr>
              <a:t>background task: read, check, screen forest, explain; writes every step to a log</a:t>
            </a:r>
            <a:endParaRPr lang="en-GB" sz="900" dirty="0"/>
          </a:p>
        </p:txBody>
      </p:sp>
      <p:cxnSp>
        <p:nvCxnSpPr>
          <p:cNvPr id="131" name="CR arrow 2"/>
          <p:cNvCxnSpPr/>
          <p:nvPr/>
        </p:nvCxnSpPr>
        <p:spPr>
          <a:xfrm>
            <a:off x="5353812" y="3424428"/>
            <a:ext cx="0" cy="64008"/>
          </a:xfrm>
          <a:prstGeom prst="line">
            <a:avLst/>
          </a:prstGeom>
          <a:ln w="15875">
            <a:solidFill>
              <a:srgbClr val="C96430"/>
            </a:solidFill>
            <a:round/>
            <a:tailEnd type="triangle" w="med" len="med"/>
          </a:ln>
        </p:spPr>
      </p:cxnSp>
      <p:sp>
        <p:nvSpPr>
          <p:cNvPr id="132" name="CR item 3"/>
          <p:cNvSpPr/>
          <p:nvPr/>
        </p:nvSpPr>
        <p:spPr>
          <a:xfrm>
            <a:off x="4343400" y="3493008"/>
            <a:ext cx="2020824" cy="731520"/>
          </a:xfrm>
          <a:prstGeom prst="roundRect">
            <a:avLst>
              <a:gd name="adj" fmla="val 7500"/>
            </a:avLst>
          </a:prstGeom>
          <a:solidFill>
            <a:srgbClr val="FFFFFF"/>
          </a:solidFill>
          <a:ln w="12700">
            <a:solidFill>
              <a:srgbClr val="C96430"/>
            </a:solidFill>
          </a:ln>
        </p:spPr>
        <p:txBody>
          <a:bodyPr wrap="square" lIns="73152" tIns="18288" rIns="54864" bIns="18288" rtlCol="0" anchor="ctr">
            <a:noAutofit/>
          </a:bodyPr>
          <a:lstStyle/>
          <a:p>
            <a:pPr algn="l" marL="0" indent="0" rtl="0">
              <a:spcBef>
                <a:spcPts val="0"/>
              </a:spcBef>
              <a:spcAft>
                <a:spcPts val="100"/>
              </a:spcAft>
              <a:buNone/>
            </a:pPr>
            <a:r>
              <a:rPr lang="en-GB" sz="950" b="1" dirty="0">
                <a:solidFill>
                  <a:srgbClr val="0D3B29"/>
                </a:solidFill>
                <a:latin typeface="Arial"/>
                <a:ea typeface="Arial"/>
                <a:cs typeface="Arial"/>
                <a:sym typeface="Arial"/>
              </a:rPr>
              <a:t>Rules engine (core/)</a:t>
            </a:r>
            <a:endParaRPr lang="en-GB" sz="950" dirty="0"/>
          </a:p>
          <a:p>
            <a:pPr algn="l" marL="0" indent="0" rtl="0">
              <a:spcBef>
                <a:spcPts val="0"/>
              </a:spcBef>
              <a:spcAft>
                <a:spcPts val="0"/>
              </a:spcAft>
              <a:buNone/>
            </a:pPr>
            <a:r>
              <a:rPr lang="en-GB" sz="900" b="0" dirty="0">
                <a:solidFill>
                  <a:srgbClr val="56655B"/>
                </a:solidFill>
                <a:latin typeface="Arial"/>
                <a:ea typeface="Arial"/>
                <a:cs typeface="Arial"/>
                <a:sym typeface="Arial"/>
              </a:rPr>
              <a:t>pure Python, no cloud imports: area, expiry, name, grading</a:t>
            </a:r>
            <a:endParaRPr lang="en-GB" sz="900" dirty="0"/>
          </a:p>
        </p:txBody>
      </p:sp>
      <p:sp>
        <p:nvSpPr>
          <p:cNvPr id="133" name="Service 1"/>
          <p:cNvSpPr/>
          <p:nvPr/>
        </p:nvSpPr>
        <p:spPr>
          <a:xfrm>
            <a:off x="6748272" y="1298448"/>
            <a:ext cx="2121408" cy="548640"/>
          </a:xfrm>
          <a:prstGeom prst="roundRect">
            <a:avLst>
              <a:gd name="adj" fmla="val 11666"/>
            </a:avLst>
          </a:prstGeom>
          <a:solidFill>
            <a:srgbClr val="FFFFFF"/>
          </a:solidFill>
          <a:ln w="12700">
            <a:solidFill>
              <a:srgbClr val="14513A"/>
            </a:solidFill>
          </a:ln>
        </p:spPr>
      </p:sp>
      <p:pic>
        <p:nvPicPr>
          <p:cNvPr id="134" name="Service 1 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30568" y="1435608"/>
            <a:ext cx="274320" cy="274320"/>
          </a:xfrm>
          <a:prstGeom prst="rect">
            <a:avLst/>
          </a:prstGeom>
          <a:ln>
            <a:noFill/>
          </a:ln>
        </p:spPr>
      </p:pic>
      <p:sp>
        <p:nvSpPr>
          <p:cNvPr id="135" name="Service 1 text"/>
          <p:cNvSpPr txBox="1"/>
          <p:nvPr/>
        </p:nvSpPr>
        <p:spPr>
          <a:xfrm>
            <a:off x="7168896" y="1316736"/>
            <a:ext cx="1645920" cy="512064"/>
          </a:xfrm>
          <a:prstGeom prst="rect">
            <a:avLst/>
          </a:prstGeom>
          <a:noFill/>
          <a:ln>
            <a:noFill/>
          </a:ln>
        </p:spPr>
        <p:txBody>
          <a:bodyPr wrap="square" lIns="0" tIns="0" rIns="0" bIns="0" rtlCol="0" anchor="ctr">
            <a:noAutofit/>
          </a:bodyPr>
          <a:lstStyle/>
          <a:p>
            <a:pPr algn="l" marL="0" indent="0" rtl="0">
              <a:spcBef>
                <a:spcPts val="0"/>
              </a:spcBef>
              <a:spcAft>
                <a:spcPts val="100"/>
              </a:spcAft>
              <a:buNone/>
            </a:pPr>
            <a:r>
              <a:rPr lang="en-GB" sz="1000" b="1" dirty="0">
                <a:solidFill>
                  <a:srgbClr val="0D3B29"/>
                </a:solidFill>
                <a:latin typeface="Arial"/>
                <a:ea typeface="Arial"/>
                <a:cs typeface="Arial"/>
                <a:sym typeface="Arial"/>
              </a:rPr>
              <a:t>Cloud Storage</a:t>
            </a:r>
            <a:endParaRPr lang="en-GB" sz="1000" dirty="0"/>
          </a:p>
          <a:p>
            <a:pPr algn="l" marL="0" indent="0" rtl="0">
              <a:spcBef>
                <a:spcPts val="0"/>
              </a:spcBef>
              <a:spcAft>
                <a:spcPts val="0"/>
              </a:spcAft>
              <a:buNone/>
            </a:pPr>
            <a:r>
              <a:rPr lang="en-GB" sz="900" b="0" dirty="0">
                <a:solidFill>
                  <a:srgbClr val="56655B"/>
                </a:solidFill>
                <a:latin typeface="Arial"/>
                <a:ea typeface="Arial"/>
                <a:cs typeface="Arial"/>
                <a:sym typeface="Arial"/>
              </a:rPr>
              <a:t>photos, uploaded directly with 15-minute signed URLs</a:t>
            </a:r>
            <a:endParaRPr lang="en-GB" sz="900" dirty="0"/>
          </a:p>
        </p:txBody>
      </p:sp>
      <p:sp>
        <p:nvSpPr>
          <p:cNvPr id="136" name="Service 2"/>
          <p:cNvSpPr/>
          <p:nvPr/>
        </p:nvSpPr>
        <p:spPr>
          <a:xfrm>
            <a:off x="6748272" y="1924812"/>
            <a:ext cx="2121408" cy="676656"/>
          </a:xfrm>
          <a:prstGeom prst="roundRect">
            <a:avLst>
              <a:gd name="adj" fmla="val 9459"/>
            </a:avLst>
          </a:prstGeom>
          <a:solidFill>
            <a:srgbClr val="FFFFFF"/>
          </a:solidFill>
          <a:ln w="12700">
            <a:solidFill>
              <a:srgbClr val="14513A"/>
            </a:solidFill>
          </a:ln>
        </p:spPr>
      </p:sp>
      <p:pic>
        <p:nvPicPr>
          <p:cNvPr id="137" name="Service 2 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830568" y="2125980"/>
            <a:ext cx="274320" cy="274320"/>
          </a:xfrm>
          <a:prstGeom prst="rect">
            <a:avLst/>
          </a:prstGeom>
          <a:ln>
            <a:noFill/>
          </a:ln>
        </p:spPr>
      </p:pic>
      <p:sp>
        <p:nvSpPr>
          <p:cNvPr id="138" name="Service 2 text"/>
          <p:cNvSpPr txBox="1"/>
          <p:nvPr/>
        </p:nvSpPr>
        <p:spPr>
          <a:xfrm>
            <a:off x="7168896" y="1943100"/>
            <a:ext cx="1645920" cy="640080"/>
          </a:xfrm>
          <a:prstGeom prst="rect">
            <a:avLst/>
          </a:prstGeom>
          <a:noFill/>
          <a:ln>
            <a:noFill/>
          </a:ln>
        </p:spPr>
        <p:txBody>
          <a:bodyPr wrap="square" lIns="0" tIns="0" rIns="0" bIns="0" rtlCol="0" anchor="ctr">
            <a:noAutofit/>
          </a:bodyPr>
          <a:lstStyle/>
          <a:p>
            <a:pPr algn="l" marL="0" indent="0" rtl="0">
              <a:spcBef>
                <a:spcPts val="0"/>
              </a:spcBef>
              <a:spcAft>
                <a:spcPts val="100"/>
              </a:spcAft>
              <a:buNone/>
            </a:pPr>
            <a:r>
              <a:rPr lang="en-GB" sz="1000" b="1" dirty="0">
                <a:solidFill>
                  <a:srgbClr val="0D3B29"/>
                </a:solidFill>
                <a:latin typeface="Arial"/>
                <a:ea typeface="Arial"/>
                <a:cs typeface="Arial"/>
                <a:sym typeface="Arial"/>
              </a:rPr>
              <a:t>Firestore</a:t>
            </a:r>
            <a:endParaRPr lang="en-GB" sz="1000" dirty="0"/>
          </a:p>
          <a:p>
            <a:pPr algn="l" marL="0" indent="0" rtl="0">
              <a:spcBef>
                <a:spcPts val="0"/>
              </a:spcBef>
              <a:spcAft>
                <a:spcPts val="0"/>
              </a:spcAft>
              <a:buNone/>
            </a:pPr>
            <a:r>
              <a:rPr lang="en-GB" sz="900" b="0" dirty="0">
                <a:solidFill>
                  <a:srgbClr val="56655B"/>
                </a:solidFill>
                <a:latin typeface="Arial"/>
                <a:ea typeface="Arial"/>
                <a:cs typeface="Arial"/>
                <a:sym typeface="Arial"/>
              </a:rPr>
              <a:t>plots, documents, assessments; real-time to the app, read-only there</a:t>
            </a:r>
            <a:endParaRPr lang="en-GB" sz="900" dirty="0"/>
          </a:p>
        </p:txBody>
      </p:sp>
      <p:sp>
        <p:nvSpPr>
          <p:cNvPr id="139" name="Service 3"/>
          <p:cNvSpPr/>
          <p:nvPr/>
        </p:nvSpPr>
        <p:spPr>
          <a:xfrm>
            <a:off x="6748272" y="2679192"/>
            <a:ext cx="2121408" cy="548640"/>
          </a:xfrm>
          <a:prstGeom prst="roundRect">
            <a:avLst>
              <a:gd name="adj" fmla="val 11666"/>
            </a:avLst>
          </a:prstGeom>
          <a:solidFill>
            <a:srgbClr val="FFFFFF"/>
          </a:solidFill>
          <a:ln w="12700">
            <a:solidFill>
              <a:srgbClr val="14513A"/>
            </a:solidFill>
          </a:ln>
        </p:spPr>
      </p:sp>
      <p:pic>
        <p:nvPicPr>
          <p:cNvPr id="140" name="Service 3 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830568" y="2816352"/>
            <a:ext cx="274320" cy="274320"/>
          </a:xfrm>
          <a:prstGeom prst="rect">
            <a:avLst/>
          </a:prstGeom>
          <a:ln>
            <a:noFill/>
          </a:ln>
        </p:spPr>
      </p:pic>
      <p:sp>
        <p:nvSpPr>
          <p:cNvPr id="141" name="Service 3 text"/>
          <p:cNvSpPr txBox="1"/>
          <p:nvPr/>
        </p:nvSpPr>
        <p:spPr>
          <a:xfrm>
            <a:off x="7168896" y="2697480"/>
            <a:ext cx="1645920" cy="512064"/>
          </a:xfrm>
          <a:prstGeom prst="rect">
            <a:avLst/>
          </a:prstGeom>
          <a:noFill/>
          <a:ln>
            <a:noFill/>
          </a:ln>
        </p:spPr>
        <p:txBody>
          <a:bodyPr wrap="square" lIns="0" tIns="0" rIns="0" bIns="0" rtlCol="0" anchor="ctr">
            <a:noAutofit/>
          </a:bodyPr>
          <a:lstStyle/>
          <a:p>
            <a:pPr algn="l" marL="0" indent="0" rtl="0">
              <a:spcBef>
                <a:spcPts val="0"/>
              </a:spcBef>
              <a:spcAft>
                <a:spcPts val="100"/>
              </a:spcAft>
              <a:buNone/>
            </a:pPr>
            <a:r>
              <a:rPr lang="en-GB" sz="1000" b="1" dirty="0">
                <a:solidFill>
                  <a:srgbClr val="0D3B29"/>
                </a:solidFill>
                <a:latin typeface="Arial"/>
                <a:ea typeface="Arial"/>
                <a:cs typeface="Arial"/>
                <a:sym typeface="Arial"/>
              </a:rPr>
              <a:t>Gemini API</a:t>
            </a:r>
            <a:endParaRPr lang="en-GB" sz="1000" dirty="0"/>
          </a:p>
          <a:p>
            <a:pPr algn="l" marL="0" indent="0" rtl="0">
              <a:spcBef>
                <a:spcPts val="0"/>
              </a:spcBef>
              <a:spcAft>
                <a:spcPts val="0"/>
              </a:spcAft>
              <a:buNone/>
            </a:pPr>
            <a:r>
              <a:rPr lang="en-GB" sz="900" b="0" dirty="0">
                <a:solidFill>
                  <a:srgbClr val="56655B"/>
                </a:solidFill>
                <a:latin typeface="Arial"/>
                <a:ea typeface="Arial"/>
                <a:cs typeface="Arial"/>
                <a:sym typeface="Arial"/>
              </a:rPr>
              <a:t>reads documents, writes notes, answers questions</a:t>
            </a:r>
            <a:endParaRPr lang="en-GB" sz="900" dirty="0"/>
          </a:p>
        </p:txBody>
      </p:sp>
      <p:sp>
        <p:nvSpPr>
          <p:cNvPr id="142" name="Service 4"/>
          <p:cNvSpPr/>
          <p:nvPr/>
        </p:nvSpPr>
        <p:spPr>
          <a:xfrm>
            <a:off x="6748272" y="3305556"/>
            <a:ext cx="2121408" cy="548640"/>
          </a:xfrm>
          <a:prstGeom prst="roundRect">
            <a:avLst>
              <a:gd name="adj" fmla="val 11666"/>
            </a:avLst>
          </a:prstGeom>
          <a:solidFill>
            <a:srgbClr val="FFFFFF"/>
          </a:solidFill>
          <a:ln w="12700">
            <a:solidFill>
              <a:srgbClr val="14513A"/>
            </a:solidFill>
          </a:ln>
        </p:spPr>
      </p:sp>
      <p:pic>
        <p:nvPicPr>
          <p:cNvPr id="143" name="Service 4 icon"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830568" y="3442716"/>
            <a:ext cx="274320" cy="274320"/>
          </a:xfrm>
          <a:prstGeom prst="rect">
            <a:avLst/>
          </a:prstGeom>
          <a:ln>
            <a:noFill/>
          </a:ln>
        </p:spPr>
      </p:pic>
      <p:sp>
        <p:nvSpPr>
          <p:cNvPr id="144" name="Service 4 text"/>
          <p:cNvSpPr txBox="1"/>
          <p:nvPr/>
        </p:nvSpPr>
        <p:spPr>
          <a:xfrm>
            <a:off x="7168896" y="3323844"/>
            <a:ext cx="1645920" cy="512064"/>
          </a:xfrm>
          <a:prstGeom prst="rect">
            <a:avLst/>
          </a:prstGeom>
          <a:noFill/>
          <a:ln>
            <a:noFill/>
          </a:ln>
        </p:spPr>
        <p:txBody>
          <a:bodyPr wrap="square" lIns="0" tIns="0" rIns="0" bIns="0" rtlCol="0" anchor="ctr">
            <a:noAutofit/>
          </a:bodyPr>
          <a:lstStyle/>
          <a:p>
            <a:pPr algn="l" marL="0" indent="0" rtl="0">
              <a:spcBef>
                <a:spcPts val="0"/>
              </a:spcBef>
              <a:spcAft>
                <a:spcPts val="100"/>
              </a:spcAft>
              <a:buNone/>
            </a:pPr>
            <a:r>
              <a:rPr lang="en-GB" sz="1000" b="1" dirty="0">
                <a:solidFill>
                  <a:srgbClr val="0D3B29"/>
                </a:solidFill>
                <a:latin typeface="Arial"/>
                <a:ea typeface="Arial"/>
                <a:cs typeface="Arial"/>
                <a:sym typeface="Arial"/>
              </a:rPr>
              <a:t>Earth Engine</a:t>
            </a:r>
            <a:endParaRPr lang="en-GB" sz="1000" dirty="0"/>
          </a:p>
          <a:p>
            <a:pPr algn="l" marL="0" indent="0" rtl="0">
              <a:spcBef>
                <a:spcPts val="0"/>
              </a:spcBef>
              <a:spcAft>
                <a:spcPts val="0"/>
              </a:spcAft>
              <a:buNone/>
            </a:pPr>
            <a:r>
              <a:rPr lang="en-GB" sz="900" b="0" dirty="0">
                <a:solidFill>
                  <a:srgbClr val="56655B"/>
                </a:solidFill>
                <a:latin typeface="Arial"/>
                <a:ea typeface="Arial"/>
                <a:cs typeface="Arial"/>
                <a:sym typeface="Arial"/>
              </a:rPr>
              <a:t>JRC GFC2020 V4 + Hansen v1.13 (forest loss since 2020)</a:t>
            </a:r>
            <a:endParaRPr lang="en-GB" sz="900" dirty="0"/>
          </a:p>
        </p:txBody>
      </p:sp>
      <p:sp>
        <p:nvSpPr>
          <p:cNvPr id="145" name="Service 5"/>
          <p:cNvSpPr/>
          <p:nvPr/>
        </p:nvSpPr>
        <p:spPr>
          <a:xfrm>
            <a:off x="6748272" y="3931920"/>
            <a:ext cx="2121408" cy="365760"/>
          </a:xfrm>
          <a:prstGeom prst="roundRect">
            <a:avLst>
              <a:gd name="adj" fmla="val 22499"/>
            </a:avLst>
          </a:prstGeom>
          <a:solidFill>
            <a:srgbClr val="FFFFFF"/>
          </a:solidFill>
          <a:ln w="12700">
            <a:solidFill>
              <a:srgbClr val="14513A"/>
            </a:solidFill>
          </a:ln>
        </p:spPr>
      </p:sp>
      <p:pic>
        <p:nvPicPr>
          <p:cNvPr id="146" name="Service 5 icon"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6830568" y="3995928"/>
            <a:ext cx="237744" cy="237744"/>
          </a:xfrm>
          <a:prstGeom prst="rect">
            <a:avLst/>
          </a:prstGeom>
          <a:ln>
            <a:noFill/>
          </a:ln>
        </p:spPr>
      </p:pic>
      <p:sp>
        <p:nvSpPr>
          <p:cNvPr id="147" name="Service 5 text"/>
          <p:cNvSpPr txBox="1"/>
          <p:nvPr/>
        </p:nvSpPr>
        <p:spPr>
          <a:xfrm>
            <a:off x="7168896" y="3931920"/>
            <a:ext cx="1645920" cy="365760"/>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000" b="1" dirty="0">
                <a:solidFill>
                  <a:srgbClr val="0D3B29"/>
                </a:solidFill>
                <a:latin typeface="Arial"/>
                <a:ea typeface="Arial"/>
                <a:cs typeface="Arial"/>
                <a:sym typeface="Arial"/>
              </a:rPr>
              <a:t>Secret Manager</a:t>
            </a:r>
            <a:r>
              <a:rPr lang="en-GB" sz="900" b="0" dirty="0">
                <a:solidFill>
                  <a:srgbClr val="56655B"/>
                </a:solidFill>
                <a:latin typeface="Arial"/>
                <a:ea typeface="Arial"/>
                <a:cs typeface="Arial"/>
                <a:sym typeface="Arial"/>
              </a:rPr>
              <a:t xml:space="preserve">  holds the Gemini key</a:t>
            </a:r>
            <a:endParaRPr lang="en-GB" sz="1000" dirty="0"/>
          </a:p>
        </p:txBody>
      </p:sp>
      <p:cxnSp>
        <p:nvCxnSpPr>
          <p:cNvPr id="148" name="HTTPS 1"/>
          <p:cNvCxnSpPr/>
          <p:nvPr/>
        </p:nvCxnSpPr>
        <p:spPr>
          <a:xfrm>
            <a:off x="1472184" y="2029968"/>
            <a:ext cx="237744" cy="0"/>
          </a:xfrm>
          <a:prstGeom prst="line">
            <a:avLst/>
          </a:prstGeom>
          <a:ln w="19050">
            <a:solidFill>
              <a:srgbClr val="14513A"/>
            </a:solidFill>
            <a:round/>
            <a:headEnd type="triangle" w="med" len="med"/>
            <a:tailEnd type="triangle" w="med" len="med"/>
          </a:ln>
        </p:spPr>
      </p:cxnSp>
      <p:cxnSp>
        <p:nvCxnSpPr>
          <p:cNvPr id="149" name="HTTPS 2"/>
          <p:cNvCxnSpPr/>
          <p:nvPr/>
        </p:nvCxnSpPr>
        <p:spPr>
          <a:xfrm>
            <a:off x="1472184" y="3566160"/>
            <a:ext cx="237744" cy="0"/>
          </a:xfrm>
          <a:prstGeom prst="line">
            <a:avLst/>
          </a:prstGeom>
          <a:ln w="19050">
            <a:solidFill>
              <a:srgbClr val="14513A"/>
            </a:solidFill>
            <a:round/>
            <a:headEnd type="triangle" w="med" len="med"/>
            <a:tailEnd type="triangle" w="med" len="med"/>
          </a:ln>
        </p:spPr>
      </p:cxnSp>
      <p:cxnSp>
        <p:nvCxnSpPr>
          <p:cNvPr id="150" name="API calls"/>
          <p:cNvCxnSpPr/>
          <p:nvPr/>
        </p:nvCxnSpPr>
        <p:spPr>
          <a:xfrm>
            <a:off x="3739896" y="2487168"/>
            <a:ext cx="484632" cy="0"/>
          </a:xfrm>
          <a:prstGeom prst="line">
            <a:avLst/>
          </a:prstGeom>
          <a:ln w="19050">
            <a:solidFill>
              <a:srgbClr val="14513A"/>
            </a:solidFill>
            <a:round/>
            <a:headEnd type="triangle" w="med" len="med"/>
            <a:tailEnd type="triangle" w="med" len="med"/>
          </a:ln>
        </p:spPr>
      </p:cxnSp>
      <p:sp>
        <p:nvSpPr>
          <p:cNvPr id="151" name="API calls label"/>
          <p:cNvSpPr txBox="1"/>
          <p:nvPr/>
        </p:nvSpPr>
        <p:spPr>
          <a:xfrm>
            <a:off x="3749040" y="2029968"/>
            <a:ext cx="466344" cy="384048"/>
          </a:xfrm>
          <a:prstGeom prst="rect">
            <a:avLst/>
          </a:prstGeom>
          <a:noFill/>
          <a:ln>
            <a:noFill/>
          </a:ln>
        </p:spPr>
        <p:txBody>
          <a:bodyPr wrap="square" lIns="0" tIns="0" rIns="0" bIns="0" rtlCol="0" anchor="b">
            <a:noAutofit/>
          </a:bodyPr>
          <a:lstStyle/>
          <a:p>
            <a:pPr algn="ctr" marL="0" indent="0" rtl="0">
              <a:spcBef>
                <a:spcPts val="0"/>
              </a:spcBef>
              <a:spcAft>
                <a:spcPts val="0"/>
              </a:spcAft>
              <a:buNone/>
            </a:pPr>
            <a:r>
              <a:rPr lang="en-GB" sz="850" b="0" i="1" dirty="0">
                <a:solidFill>
                  <a:srgbClr val="56655B"/>
                </a:solidFill>
                <a:latin typeface="Arial"/>
                <a:ea typeface="Arial"/>
                <a:cs typeface="Arial"/>
                <a:sym typeface="Arial"/>
              </a:rPr>
              <a:t>REST + ID token</a:t>
            </a:r>
            <a:endParaRPr lang="en-GB" sz="850" dirty="0"/>
          </a:p>
        </p:txBody>
      </p:sp>
      <p:cxnSp>
        <p:nvCxnSpPr>
          <p:cNvPr id="152" name="To service 1"/>
          <p:cNvCxnSpPr/>
          <p:nvPr/>
        </p:nvCxnSpPr>
        <p:spPr>
          <a:xfrm>
            <a:off x="6483096" y="1572768"/>
            <a:ext cx="256032" cy="0"/>
          </a:xfrm>
          <a:prstGeom prst="line">
            <a:avLst/>
          </a:prstGeom>
          <a:ln w="19050">
            <a:solidFill>
              <a:srgbClr val="C96430"/>
            </a:solidFill>
            <a:round/>
            <a:tailEnd type="triangle" w="med" len="med"/>
          </a:ln>
        </p:spPr>
      </p:cxnSp>
      <p:cxnSp>
        <p:nvCxnSpPr>
          <p:cNvPr id="153" name="To service 2"/>
          <p:cNvCxnSpPr/>
          <p:nvPr/>
        </p:nvCxnSpPr>
        <p:spPr>
          <a:xfrm>
            <a:off x="6483096" y="2263140"/>
            <a:ext cx="256032" cy="0"/>
          </a:xfrm>
          <a:prstGeom prst="line">
            <a:avLst/>
          </a:prstGeom>
          <a:ln w="19050">
            <a:solidFill>
              <a:srgbClr val="C96430"/>
            </a:solidFill>
            <a:round/>
            <a:tailEnd type="triangle" w="med" len="med"/>
          </a:ln>
        </p:spPr>
      </p:cxnSp>
      <p:cxnSp>
        <p:nvCxnSpPr>
          <p:cNvPr id="154" name="To service 3"/>
          <p:cNvCxnSpPr/>
          <p:nvPr/>
        </p:nvCxnSpPr>
        <p:spPr>
          <a:xfrm>
            <a:off x="6483096" y="2953512"/>
            <a:ext cx="256032" cy="0"/>
          </a:xfrm>
          <a:prstGeom prst="line">
            <a:avLst/>
          </a:prstGeom>
          <a:ln w="19050">
            <a:solidFill>
              <a:srgbClr val="C96430"/>
            </a:solidFill>
            <a:round/>
            <a:tailEnd type="triangle" w="med" len="med"/>
          </a:ln>
        </p:spPr>
      </p:cxnSp>
      <p:cxnSp>
        <p:nvCxnSpPr>
          <p:cNvPr id="155" name="To service 4"/>
          <p:cNvCxnSpPr/>
          <p:nvPr/>
        </p:nvCxnSpPr>
        <p:spPr>
          <a:xfrm>
            <a:off x="6483096" y="3579876"/>
            <a:ext cx="256032" cy="0"/>
          </a:xfrm>
          <a:prstGeom prst="line">
            <a:avLst/>
          </a:prstGeom>
          <a:ln w="19050">
            <a:solidFill>
              <a:srgbClr val="C96430"/>
            </a:solidFill>
            <a:round/>
            <a:tailEnd type="triangle" w="med" len="med"/>
          </a:ln>
        </p:spPr>
      </p:cxnSp>
      <p:cxnSp>
        <p:nvCxnSpPr>
          <p:cNvPr id="156" name="To service 5"/>
          <p:cNvCxnSpPr/>
          <p:nvPr/>
        </p:nvCxnSpPr>
        <p:spPr>
          <a:xfrm>
            <a:off x="6483096" y="4114800"/>
            <a:ext cx="256032" cy="0"/>
          </a:xfrm>
          <a:prstGeom prst="line">
            <a:avLst/>
          </a:prstGeom>
          <a:ln w="19050">
            <a:solidFill>
              <a:srgbClr val="C96430"/>
            </a:solidFill>
            <a:round/>
            <a:tailEnd type="triangle" w="med" len="med"/>
          </a:ln>
        </p:spPr>
      </p:cxnSp>
      <p:sp>
        <p:nvSpPr>
          <p:cNvPr id="157" name="CI/CD"/>
          <p:cNvSpPr/>
          <p:nvPr/>
        </p:nvSpPr>
        <p:spPr>
          <a:xfrm>
            <a:off x="274320" y="4425696"/>
            <a:ext cx="5074920" cy="566928"/>
          </a:xfrm>
          <a:prstGeom prst="roundRect">
            <a:avLst>
              <a:gd name="adj" fmla="val 11290"/>
            </a:avLst>
          </a:prstGeom>
          <a:solidFill>
            <a:srgbClr val="EDF1EC"/>
          </a:solidFill>
          <a:ln>
            <a:noFill/>
          </a:ln>
        </p:spPr>
        <p:txBody>
          <a:bodyPr wrap="square" lIns="128016" tIns="27432" rIns="109728" bIns="27432" rtlCol="0" anchor="ctr">
            <a:noAutofit/>
          </a:bodyPr>
          <a:lstStyle/>
          <a:p>
            <a:pPr algn="l" marL="0" indent="0" rtl="0">
              <a:spcBef>
                <a:spcPts val="0"/>
              </a:spcBef>
              <a:spcAft>
                <a:spcPts val="0"/>
              </a:spcAft>
              <a:buNone/>
            </a:pPr>
            <a:r>
              <a:rPr lang="en-GB" sz="1000" b="1" dirty="0">
                <a:solidFill>
                  <a:srgbClr val="14513A"/>
                </a:solidFill>
                <a:latin typeface="Arial"/>
                <a:ea typeface="Arial"/>
                <a:cs typeface="Arial"/>
                <a:sym typeface="Arial"/>
              </a:rPr>
              <a:t xml:space="preserve">CI/CD  </a:t>
            </a:r>
            <a:r>
              <a:rPr lang="en-GB" sz="950" b="0" dirty="0">
                <a:solidFill>
                  <a:srgbClr val="15231B"/>
                </a:solidFill>
                <a:latin typeface="Arial"/>
                <a:ea typeface="Arial"/>
                <a:cs typeface="Arial"/>
                <a:sym typeface="Arial"/>
              </a:rPr>
              <a:t>GitHub → Cloud Build → Artifact Registry → Cloud Run and Firebase Hosting. Cloud Run keeps no idle instance (min 0, max 3).</a:t>
            </a:r>
            <a:endParaRPr lang="en-GB" sz="1000" dirty="0"/>
          </a:p>
        </p:txBody>
      </p:sp>
      <p:sp>
        <p:nvSpPr>
          <p:cNvPr id="158" name="Next steps"/>
          <p:cNvSpPr/>
          <p:nvPr/>
        </p:nvSpPr>
        <p:spPr>
          <a:xfrm>
            <a:off x="5440680" y="4425696"/>
            <a:ext cx="3429000" cy="566928"/>
          </a:xfrm>
          <a:prstGeom prst="roundRect">
            <a:avLst>
              <a:gd name="adj" fmla="val 11290"/>
            </a:avLst>
          </a:prstGeom>
          <a:solidFill>
            <a:srgbClr val="FFFFFF"/>
          </a:solidFill>
          <a:ln w="12700">
            <a:solidFill>
              <a:srgbClr val="14513A"/>
            </a:solidFill>
            <a:prstDash val="dash"/>
          </a:ln>
        </p:spPr>
        <p:txBody>
          <a:bodyPr wrap="square" lIns="128016" tIns="27432" rIns="109728" bIns="27432" rtlCol="0" anchor="ctr">
            <a:noAutofit/>
          </a:bodyPr>
          <a:lstStyle/>
          <a:p>
            <a:pPr algn="l" marL="0" indent="0" rtl="0">
              <a:spcBef>
                <a:spcPts val="0"/>
              </a:spcBef>
              <a:spcAft>
                <a:spcPts val="0"/>
              </a:spcAft>
              <a:buNone/>
            </a:pPr>
            <a:r>
              <a:rPr lang="en-GB" sz="1000" b="1" dirty="0">
                <a:solidFill>
                  <a:srgbClr val="14513A"/>
                </a:solidFill>
                <a:latin typeface="Arial"/>
                <a:ea typeface="Arial"/>
                <a:cs typeface="Arial"/>
                <a:sym typeface="Arial"/>
              </a:rPr>
              <a:t xml:space="preserve">Next  </a:t>
            </a:r>
            <a:r>
              <a:rPr lang="en-GB" sz="950" b="0" dirty="0">
                <a:solidFill>
                  <a:srgbClr val="15231B"/>
                </a:solidFill>
                <a:latin typeface="Arial"/>
                <a:ea typeface="Arial"/>
                <a:cs typeface="Arial"/>
                <a:sym typeface="Arial"/>
              </a:rPr>
              <a:t>Cloud Tasks + separate AI worker, Vertex AI quotas, cooperative-scoped Firestore rules.</a:t>
            </a:r>
            <a:endParaRPr lang="en-GB" sz="1000" dirty="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Technologies to be used in the solution</a:t>
            </a:r>
            <a:endParaRPr lang="en-GB" sz="1200" dirty="0"/>
          </a:p>
        </p:txBody>
      </p:sp>
      <p:sp>
        <p:nvSpPr>
          <p:cNvPr id="121"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Google Cloud AI at the core, standard open tools around it</a:t>
            </a:r>
            <a:endParaRPr lang="en-GB" sz="2000" dirty="0"/>
          </a:p>
        </p:txBody>
      </p:sp>
      <p:sp>
        <p:nvSpPr>
          <p:cNvPr id="122" name="Tech 1"/>
          <p:cNvSpPr/>
          <p:nvPr/>
        </p:nvSpPr>
        <p:spPr>
          <a:xfrm>
            <a:off x="274320" y="1298448"/>
            <a:ext cx="2791663" cy="1755648"/>
          </a:xfrm>
          <a:prstGeom prst="roundRect">
            <a:avLst>
              <a:gd name="adj" fmla="val 4687"/>
            </a:avLst>
          </a:prstGeom>
          <a:solidFill>
            <a:srgbClr val="EDF1EC"/>
          </a:solidFill>
          <a:ln>
            <a:noFill/>
          </a:ln>
        </p:spPr>
      </p:sp>
      <p:sp>
        <p:nvSpPr>
          <p:cNvPr id="123" name="Tech 1 badge"/>
          <p:cNvSpPr/>
          <p:nvPr/>
        </p:nvSpPr>
        <p:spPr>
          <a:xfrm>
            <a:off x="402336" y="1408176"/>
            <a:ext cx="365760" cy="365760"/>
          </a:xfrm>
          <a:prstGeom prst="ellipse">
            <a:avLst/>
          </a:prstGeom>
          <a:solidFill>
            <a:srgbClr val="14513A"/>
          </a:solidFill>
          <a:ln>
            <a:noFill/>
          </a:ln>
        </p:spPr>
      </p:sp>
      <p:pic>
        <p:nvPicPr>
          <p:cNvPr id="124" name="Tech 1 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82803" y="1488643"/>
            <a:ext cx="204826" cy="204826"/>
          </a:xfrm>
          <a:prstGeom prst="rect">
            <a:avLst/>
          </a:prstGeom>
          <a:ln>
            <a:noFill/>
          </a:ln>
        </p:spPr>
      </p:pic>
      <p:sp>
        <p:nvSpPr>
          <p:cNvPr id="125" name="Tech 1 title"/>
          <p:cNvSpPr txBox="1"/>
          <p:nvPr/>
        </p:nvSpPr>
        <p:spPr>
          <a:xfrm>
            <a:off x="877824" y="1389888"/>
            <a:ext cx="2060143" cy="402336"/>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Google AI</a:t>
            </a:r>
            <a:endParaRPr lang="en-GB" sz="1150" dirty="0"/>
          </a:p>
        </p:txBody>
      </p:sp>
      <p:sp>
        <p:nvSpPr>
          <p:cNvPr id="126" name="Tech 1 items"/>
          <p:cNvSpPr txBox="1"/>
          <p:nvPr/>
        </p:nvSpPr>
        <p:spPr>
          <a:xfrm>
            <a:off x="420624" y="1828800"/>
            <a:ext cx="2535631" cy="1188720"/>
          </a:xfrm>
          <a:prstGeom prst="rect">
            <a:avLst/>
          </a:prstGeom>
          <a:noFill/>
          <a:ln>
            <a:noFill/>
          </a:ln>
        </p:spPr>
        <p:txBody>
          <a:bodyPr wrap="square" lIns="0" tIns="0" rIns="0" bIns="0" rtlCol="0" anchor="t">
            <a:noAutofit/>
          </a:bodyPr>
          <a:lstStyle/>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Gemini 3.5 Flash, with fallback to other Flash and Flash-Lite models</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Photo reading: JSON schema output, temperature 0, confidence per field</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Notes and typed or spoken Q&amp;A</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Earth Engine forest-loss datasets</a:t>
            </a:r>
            <a:endParaRPr lang="en-GB" sz="950" dirty="0"/>
          </a:p>
        </p:txBody>
      </p:sp>
      <p:sp>
        <p:nvSpPr>
          <p:cNvPr id="127" name="Tech 2"/>
          <p:cNvSpPr/>
          <p:nvPr/>
        </p:nvSpPr>
        <p:spPr>
          <a:xfrm>
            <a:off x="3175711" y="1298448"/>
            <a:ext cx="2791663" cy="1755648"/>
          </a:xfrm>
          <a:prstGeom prst="roundRect">
            <a:avLst>
              <a:gd name="adj" fmla="val 4687"/>
            </a:avLst>
          </a:prstGeom>
          <a:solidFill>
            <a:srgbClr val="EDF1EC"/>
          </a:solidFill>
          <a:ln>
            <a:noFill/>
          </a:ln>
        </p:spPr>
      </p:sp>
      <p:sp>
        <p:nvSpPr>
          <p:cNvPr id="128" name="Tech 2 badge"/>
          <p:cNvSpPr/>
          <p:nvPr/>
        </p:nvSpPr>
        <p:spPr>
          <a:xfrm>
            <a:off x="3303727" y="1408176"/>
            <a:ext cx="365760" cy="365760"/>
          </a:xfrm>
          <a:prstGeom prst="ellipse">
            <a:avLst/>
          </a:prstGeom>
          <a:solidFill>
            <a:srgbClr val="14513A"/>
          </a:solidFill>
          <a:ln>
            <a:noFill/>
          </a:ln>
        </p:spPr>
      </p:sp>
      <p:pic>
        <p:nvPicPr>
          <p:cNvPr id="129" name="Tech 2 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384194" y="1488643"/>
            <a:ext cx="204826" cy="204826"/>
          </a:xfrm>
          <a:prstGeom prst="rect">
            <a:avLst/>
          </a:prstGeom>
          <a:ln>
            <a:noFill/>
          </a:ln>
        </p:spPr>
      </p:pic>
      <p:sp>
        <p:nvSpPr>
          <p:cNvPr id="130" name="Tech 2 title"/>
          <p:cNvSpPr txBox="1"/>
          <p:nvPr/>
        </p:nvSpPr>
        <p:spPr>
          <a:xfrm>
            <a:off x="3779215" y="1389888"/>
            <a:ext cx="2060143" cy="402336"/>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Google Cloud and Firebase</a:t>
            </a:r>
            <a:endParaRPr lang="en-GB" sz="1150" dirty="0"/>
          </a:p>
        </p:txBody>
      </p:sp>
      <p:sp>
        <p:nvSpPr>
          <p:cNvPr id="131" name="Tech 2 items"/>
          <p:cNvSpPr txBox="1"/>
          <p:nvPr/>
        </p:nvSpPr>
        <p:spPr>
          <a:xfrm>
            <a:off x="3322015" y="1828800"/>
            <a:ext cx="2535631" cy="1188720"/>
          </a:xfrm>
          <a:prstGeom prst="rect">
            <a:avLst/>
          </a:prstGeom>
          <a:noFill/>
          <a:ln>
            <a:noFill/>
          </a:ln>
        </p:spPr>
        <p:txBody>
          <a:bodyPr wrap="square" lIns="0" tIns="0" rIns="0" bIns="0" rtlCol="0" anchor="t">
            <a:noAutofit/>
          </a:bodyPr>
          <a:lstStyle/>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Cloud Run (scales to zero), Cloud Build, Artifact Registry</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Firebase Hosting and Authentication (phone code, email)</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Firestore, Cloud Storage (signed URLs), Secret Manager</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Maps JavaScript API for the satellite map</a:t>
            </a:r>
            <a:endParaRPr lang="en-GB" sz="950" dirty="0"/>
          </a:p>
        </p:txBody>
      </p:sp>
      <p:sp>
        <p:nvSpPr>
          <p:cNvPr id="132" name="Tech 3"/>
          <p:cNvSpPr/>
          <p:nvPr/>
        </p:nvSpPr>
        <p:spPr>
          <a:xfrm>
            <a:off x="6077102" y="1298448"/>
            <a:ext cx="2791663" cy="1755648"/>
          </a:xfrm>
          <a:prstGeom prst="roundRect">
            <a:avLst>
              <a:gd name="adj" fmla="val 4687"/>
            </a:avLst>
          </a:prstGeom>
          <a:solidFill>
            <a:srgbClr val="EDF1EC"/>
          </a:solidFill>
          <a:ln>
            <a:noFill/>
          </a:ln>
        </p:spPr>
      </p:sp>
      <p:sp>
        <p:nvSpPr>
          <p:cNvPr id="133" name="Tech 3 badge"/>
          <p:cNvSpPr/>
          <p:nvPr/>
        </p:nvSpPr>
        <p:spPr>
          <a:xfrm>
            <a:off x="6205118" y="1408176"/>
            <a:ext cx="365760" cy="365760"/>
          </a:xfrm>
          <a:prstGeom prst="ellipse">
            <a:avLst/>
          </a:prstGeom>
          <a:solidFill>
            <a:srgbClr val="14513A"/>
          </a:solidFill>
          <a:ln>
            <a:noFill/>
          </a:ln>
        </p:spPr>
      </p:sp>
      <p:pic>
        <p:nvPicPr>
          <p:cNvPr id="134" name="Tech 3 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285586" y="1488643"/>
            <a:ext cx="204826" cy="204826"/>
          </a:xfrm>
          <a:prstGeom prst="rect">
            <a:avLst/>
          </a:prstGeom>
          <a:ln>
            <a:noFill/>
          </a:ln>
        </p:spPr>
      </p:pic>
      <p:sp>
        <p:nvSpPr>
          <p:cNvPr id="135" name="Tech 3 title"/>
          <p:cNvSpPr txBox="1"/>
          <p:nvPr/>
        </p:nvSpPr>
        <p:spPr>
          <a:xfrm>
            <a:off x="6680606" y="1389888"/>
            <a:ext cx="2060143" cy="402336"/>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Front end</a:t>
            </a:r>
            <a:endParaRPr lang="en-GB" sz="1150" dirty="0"/>
          </a:p>
        </p:txBody>
      </p:sp>
      <p:sp>
        <p:nvSpPr>
          <p:cNvPr id="136" name="Tech 3 items"/>
          <p:cNvSpPr txBox="1"/>
          <p:nvPr/>
        </p:nvSpPr>
        <p:spPr>
          <a:xfrm>
            <a:off x="6223406" y="1828800"/>
            <a:ext cx="2535631" cy="1188720"/>
          </a:xfrm>
          <a:prstGeom prst="rect">
            <a:avLst/>
          </a:prstGeom>
          <a:noFill/>
          <a:ln>
            <a:noFill/>
          </a:ln>
        </p:spPr>
        <p:txBody>
          <a:bodyPr wrap="square" lIns="0" tIns="0" rIns="0" bIns="0" rtlCol="0" anchor="t">
            <a:noAutofit/>
          </a:bodyPr>
          <a:lstStyle/>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Angular 22, TypeScript, installable PWA</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Service Worker and IndexedDB offline queue</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Turf.js area preview; MediaRecorder voice input; browser speech output</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Vitest: 993 tests</a:t>
            </a:r>
            <a:endParaRPr lang="en-GB" sz="950" dirty="0"/>
          </a:p>
        </p:txBody>
      </p:sp>
      <p:sp>
        <p:nvSpPr>
          <p:cNvPr id="137" name="Tech 4"/>
          <p:cNvSpPr/>
          <p:nvPr/>
        </p:nvSpPr>
        <p:spPr>
          <a:xfrm>
            <a:off x="274320" y="3163824"/>
            <a:ext cx="2791663" cy="1755648"/>
          </a:xfrm>
          <a:prstGeom prst="roundRect">
            <a:avLst>
              <a:gd name="adj" fmla="val 4687"/>
            </a:avLst>
          </a:prstGeom>
          <a:solidFill>
            <a:srgbClr val="EDF1EC"/>
          </a:solidFill>
          <a:ln>
            <a:noFill/>
          </a:ln>
        </p:spPr>
      </p:sp>
      <p:sp>
        <p:nvSpPr>
          <p:cNvPr id="138" name="Tech 4 badge"/>
          <p:cNvSpPr/>
          <p:nvPr/>
        </p:nvSpPr>
        <p:spPr>
          <a:xfrm>
            <a:off x="402336" y="3273552"/>
            <a:ext cx="365760" cy="365760"/>
          </a:xfrm>
          <a:prstGeom prst="ellipse">
            <a:avLst/>
          </a:prstGeom>
          <a:solidFill>
            <a:srgbClr val="14513A"/>
          </a:solidFill>
          <a:ln>
            <a:noFill/>
          </a:ln>
        </p:spPr>
      </p:sp>
      <p:pic>
        <p:nvPicPr>
          <p:cNvPr id="139" name="Tech 4 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82803" y="3354019"/>
            <a:ext cx="204826" cy="204826"/>
          </a:xfrm>
          <a:prstGeom prst="rect">
            <a:avLst/>
          </a:prstGeom>
          <a:ln>
            <a:noFill/>
          </a:ln>
        </p:spPr>
      </p:pic>
      <p:sp>
        <p:nvSpPr>
          <p:cNvPr id="140" name="Tech 4 title"/>
          <p:cNvSpPr txBox="1"/>
          <p:nvPr/>
        </p:nvSpPr>
        <p:spPr>
          <a:xfrm>
            <a:off x="877824" y="3255264"/>
            <a:ext cx="2060143" cy="402336"/>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Back end</a:t>
            </a:r>
            <a:endParaRPr lang="en-GB" sz="1150" dirty="0"/>
          </a:p>
        </p:txBody>
      </p:sp>
      <p:sp>
        <p:nvSpPr>
          <p:cNvPr id="141" name="Tech 4 items"/>
          <p:cNvSpPr txBox="1"/>
          <p:nvPr/>
        </p:nvSpPr>
        <p:spPr>
          <a:xfrm>
            <a:off x="420624" y="3694176"/>
            <a:ext cx="2535631" cy="1188720"/>
          </a:xfrm>
          <a:prstGeom prst="rect">
            <a:avLst/>
          </a:prstGeom>
          <a:noFill/>
          <a:ln>
            <a:noFill/>
          </a:ln>
        </p:spPr>
        <p:txBody>
          <a:bodyPr wrap="square" lIns="0" tIns="0" rIns="0" bIns="0" rtlCol="0" anchor="t">
            <a:noAutofit/>
          </a:bodyPr>
          <a:lstStyle/>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Python 3.11, FastAPI, Pydantic (OpenAPI docs built in)</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google-genai, earthengine-api, firebase-admin</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Shapely + pyproj: area on the ellipsoid, server-side</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RapidFuzz name similarity; pytest: 847 tests</a:t>
            </a:r>
            <a:endParaRPr lang="en-GB" sz="950" dirty="0"/>
          </a:p>
        </p:txBody>
      </p:sp>
      <p:sp>
        <p:nvSpPr>
          <p:cNvPr id="142" name="Tech 5"/>
          <p:cNvSpPr/>
          <p:nvPr/>
        </p:nvSpPr>
        <p:spPr>
          <a:xfrm>
            <a:off x="3175711" y="3163824"/>
            <a:ext cx="2791663" cy="1755648"/>
          </a:xfrm>
          <a:prstGeom prst="roundRect">
            <a:avLst>
              <a:gd name="adj" fmla="val 4687"/>
            </a:avLst>
          </a:prstGeom>
          <a:solidFill>
            <a:srgbClr val="EDF1EC"/>
          </a:solidFill>
          <a:ln>
            <a:noFill/>
          </a:ln>
        </p:spPr>
      </p:sp>
      <p:sp>
        <p:nvSpPr>
          <p:cNvPr id="143" name="Tech 5 badge"/>
          <p:cNvSpPr/>
          <p:nvPr/>
        </p:nvSpPr>
        <p:spPr>
          <a:xfrm>
            <a:off x="3303727" y="3273552"/>
            <a:ext cx="365760" cy="365760"/>
          </a:xfrm>
          <a:prstGeom prst="ellipse">
            <a:avLst/>
          </a:prstGeom>
          <a:solidFill>
            <a:srgbClr val="14513A"/>
          </a:solidFill>
          <a:ln>
            <a:noFill/>
          </a:ln>
        </p:spPr>
      </p:sp>
      <p:pic>
        <p:nvPicPr>
          <p:cNvPr id="144" name="Tech 5 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3384194" y="3354019"/>
            <a:ext cx="204826" cy="204826"/>
          </a:xfrm>
          <a:prstGeom prst="rect">
            <a:avLst/>
          </a:prstGeom>
          <a:ln>
            <a:noFill/>
          </a:ln>
        </p:spPr>
      </p:pic>
      <p:sp>
        <p:nvSpPr>
          <p:cNvPr id="145" name="Tech 5 title"/>
          <p:cNvSpPr txBox="1"/>
          <p:nvPr/>
        </p:nvSpPr>
        <p:spPr>
          <a:xfrm>
            <a:off x="3779215" y="3255264"/>
            <a:ext cx="2060143" cy="402336"/>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Reliability and safety</a:t>
            </a:r>
            <a:endParaRPr lang="en-GB" sz="1150" dirty="0"/>
          </a:p>
        </p:txBody>
      </p:sp>
      <p:sp>
        <p:nvSpPr>
          <p:cNvPr id="146" name="Tech 5 items"/>
          <p:cNvSpPr txBox="1"/>
          <p:nvPr/>
        </p:nvSpPr>
        <p:spPr>
          <a:xfrm>
            <a:off x="3322015" y="3694176"/>
            <a:ext cx="2535631" cy="1188720"/>
          </a:xfrm>
          <a:prstGeom prst="rect">
            <a:avLst/>
          </a:prstGeom>
          <a:noFill/>
          <a:ln>
            <a:noFill/>
          </a:ln>
        </p:spPr>
        <p:txBody>
          <a:bodyPr wrap="square" lIns="0" tIns="0" rIns="0" bIns="0" rtlCol="0" anchor="t">
            <a:noAutofit/>
          </a:bodyPr>
          <a:lstStyle/>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Rules in pure Python: same input, same answer</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Retry, back-off and model fallback on API errors</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A failed step becomes "needs review"</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Read-only browser; IDs stored only as a keyed hash</a:t>
            </a:r>
            <a:endParaRPr lang="en-GB" sz="950" dirty="0"/>
          </a:p>
        </p:txBody>
      </p:sp>
      <p:sp>
        <p:nvSpPr>
          <p:cNvPr id="147" name="Tech 6"/>
          <p:cNvSpPr/>
          <p:nvPr/>
        </p:nvSpPr>
        <p:spPr>
          <a:xfrm>
            <a:off x="6077102" y="3163824"/>
            <a:ext cx="2791663" cy="1755648"/>
          </a:xfrm>
          <a:prstGeom prst="roundRect">
            <a:avLst>
              <a:gd name="adj" fmla="val 4687"/>
            </a:avLst>
          </a:prstGeom>
          <a:solidFill>
            <a:srgbClr val="EDF1EC"/>
          </a:solidFill>
          <a:ln>
            <a:noFill/>
          </a:ln>
        </p:spPr>
      </p:sp>
      <p:sp>
        <p:nvSpPr>
          <p:cNvPr id="148" name="Tech 6 badge"/>
          <p:cNvSpPr/>
          <p:nvPr/>
        </p:nvSpPr>
        <p:spPr>
          <a:xfrm>
            <a:off x="6205118" y="3273552"/>
            <a:ext cx="365760" cy="365760"/>
          </a:xfrm>
          <a:prstGeom prst="ellipse">
            <a:avLst/>
          </a:prstGeom>
          <a:solidFill>
            <a:srgbClr val="14513A"/>
          </a:solidFill>
          <a:ln>
            <a:noFill/>
          </a:ln>
        </p:spPr>
      </p:sp>
      <p:pic>
        <p:nvPicPr>
          <p:cNvPr id="149" name="Tech 6 icon"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285586" y="3354019"/>
            <a:ext cx="204826" cy="204826"/>
          </a:xfrm>
          <a:prstGeom prst="rect">
            <a:avLst/>
          </a:prstGeom>
          <a:ln>
            <a:noFill/>
          </a:ln>
        </p:spPr>
      </p:pic>
      <p:sp>
        <p:nvSpPr>
          <p:cNvPr id="150" name="Tech 6 title"/>
          <p:cNvSpPr txBox="1"/>
          <p:nvPr/>
        </p:nvSpPr>
        <p:spPr>
          <a:xfrm>
            <a:off x="6680606" y="3255264"/>
            <a:ext cx="2060143" cy="402336"/>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Delivery</a:t>
            </a:r>
            <a:endParaRPr lang="en-GB" sz="1150" dirty="0"/>
          </a:p>
        </p:txBody>
      </p:sp>
      <p:sp>
        <p:nvSpPr>
          <p:cNvPr id="151" name="Tech 6 items"/>
          <p:cNvSpPr txBox="1"/>
          <p:nvPr/>
        </p:nvSpPr>
        <p:spPr>
          <a:xfrm>
            <a:off x="6223406" y="3694176"/>
            <a:ext cx="2535631" cy="1188720"/>
          </a:xfrm>
          <a:prstGeom prst="rect">
            <a:avLst/>
          </a:prstGeom>
          <a:noFill/>
          <a:ln>
            <a:noFill/>
          </a:ln>
        </p:spPr>
        <p:txBody>
          <a:bodyPr wrap="square" lIns="0" tIns="0" rIns="0" bIns="0" rtlCol="0" anchor="t">
            <a:noAutofit/>
          </a:bodyPr>
          <a:lstStyle/>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GitHub + Cloud Build: a push to main deploys API and app</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200 synthetic demo plots, watermarked sample documents</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Full journey driven in a real browser on the deployed service</a:t>
            </a:r>
            <a:endParaRPr lang="en-GB" sz="950" dirty="0"/>
          </a:p>
          <a:p>
            <a:pPr algn="l" marL="128016" indent="-128016" rtl="0">
              <a:spcBef>
                <a:spcPts val="0"/>
              </a:spcBef>
              <a:spcAft>
                <a:spcPts val="300"/>
              </a:spcAft>
              <a:buClr>
                <a:srgbClr val="14513A"/>
              </a:buClr>
              <a:buSzPct val="100000"/>
              <a:buFont typeface="Arial"/>
              <a:buChar char="•"/>
            </a:pPr>
            <a:r>
              <a:rPr lang="en-GB" sz="950" b="0" dirty="0">
                <a:solidFill>
                  <a:srgbClr val="15231B"/>
                </a:solidFill>
                <a:latin typeface="Arial"/>
                <a:ea typeface="Arial"/>
                <a:cs typeface="Arial"/>
                <a:sym typeface="Arial"/>
              </a:rPr>
              <a:t>Public repo, English README, judge access</a:t>
            </a:r>
            <a:endParaRPr lang="en-GB" sz="950" dirty="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Estimated implementation cost (optional)</a:t>
            </a:r>
            <a:endParaRPr lang="en-GB" sz="1200" dirty="0"/>
          </a:p>
        </p:txBody>
      </p:sp>
      <p:sp>
        <p:nvSpPr>
          <p:cNvPr id="129"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Cents per check, and free tiers carry the prototype</a:t>
            </a:r>
            <a:endParaRPr lang="en-GB" sz="2000" dirty="0"/>
          </a:p>
        </p:txBody>
      </p:sp>
      <p:graphicFrame>
        <p:nvGraphicFramePr>
          <p:cNvPr id="130" name="Cost table"/>
          <p:cNvGraphicFramePr>
            <a:graphicFrameLocks noGrp="1"/>
          </p:cNvGraphicFramePr>
          <p:nvPr/>
        </p:nvGraphicFramePr>
        <p:xfrm>
          <a:off x="274320" y="1298448"/>
          <a:ext cx="5212080" cy="2693479"/>
        </p:xfrm>
        <a:graphic>
          <a:graphicData uri="http://schemas.openxmlformats.org/drawingml/2006/table">
            <a:tbl>
              <a:tblPr firstRow="1"/>
              <a:tblGrid>
                <a:gridCol w="1481328"/>
                <a:gridCol w="1627632"/>
                <a:gridCol w="2103120"/>
              </a:tblGrid>
              <a:tr h="364617">
                <a:tc>
                  <a:txBody>
                    <a:bodyPr/>
                    <a:lstStyle/>
                    <a:p>
                      <a:pPr algn="l" marL="0" indent="0" rtl="0">
                        <a:spcBef>
                          <a:spcPts val="0"/>
                        </a:spcBef>
                        <a:spcAft>
                          <a:spcPts val="0"/>
                        </a:spcAft>
                        <a:buNone/>
                      </a:pPr>
                      <a:r>
                        <a:rPr lang="en-GB" sz="950" b="1" dirty="0">
                          <a:solidFill>
                            <a:srgbClr val="FFFFFF"/>
                          </a:solidFill>
                          <a:latin typeface="Arial"/>
                          <a:ea typeface="Arial"/>
                          <a:cs typeface="Arial"/>
                          <a:sym typeface="Arial"/>
                        </a:rPr>
                        <a:t>Cost item</a:t>
                      </a:r>
                      <a:endParaRPr lang="en-GB" sz="950" dirty="0"/>
                    </a:p>
                  </a:txBody>
                  <a:tcPr marL="64008" marR="64008" marT="41148" marB="41148" anchor="ctr">
                    <a:lnL w="0">
                      <a:noFill/>
                    </a:lnL>
                    <a:lnR w="0">
                      <a:noFill/>
                    </a:lnR>
                    <a:lnT w="0">
                      <a:noFill/>
                    </a:lnT>
                    <a:lnB w="9525">
                      <a:solidFill>
                        <a:srgbClr val="D3DCD0"/>
                      </a:solidFill>
                    </a:lnB>
                    <a:solidFill>
                      <a:srgbClr val="14513A"/>
                    </a:solidFill>
                  </a:tcPr>
                </a:tc>
                <a:tc>
                  <a:txBody>
                    <a:bodyPr/>
                    <a:lstStyle/>
                    <a:p>
                      <a:pPr algn="l" marL="0" indent="0" rtl="0">
                        <a:spcBef>
                          <a:spcPts val="0"/>
                        </a:spcBef>
                        <a:spcAft>
                          <a:spcPts val="0"/>
                        </a:spcAft>
                        <a:buNone/>
                      </a:pPr>
                      <a:r>
                        <a:rPr lang="en-GB" sz="950" b="1" dirty="0">
                          <a:solidFill>
                            <a:srgbClr val="FFFFFF"/>
                          </a:solidFill>
                          <a:latin typeface="Arial"/>
                          <a:ea typeface="Arial"/>
                          <a:cs typeface="Arial"/>
                          <a:sym typeface="Arial"/>
                        </a:rPr>
                        <a:t>Prototype today</a:t>
                      </a:r>
                      <a:endParaRPr lang="en-GB" sz="950" dirty="0"/>
                    </a:p>
                  </a:txBody>
                  <a:tcPr marL="64008" marR="64008" marT="41148" marB="41148" anchor="ctr">
                    <a:lnL w="0">
                      <a:noFill/>
                    </a:lnL>
                    <a:lnR w="0">
                      <a:noFill/>
                    </a:lnR>
                    <a:lnT w="0">
                      <a:noFill/>
                    </a:lnT>
                    <a:lnB w="9525">
                      <a:solidFill>
                        <a:srgbClr val="D3DCD0"/>
                      </a:solidFill>
                    </a:lnB>
                    <a:solidFill>
                      <a:srgbClr val="14513A"/>
                    </a:solidFill>
                  </a:tcPr>
                </a:tc>
                <a:tc>
                  <a:txBody>
                    <a:bodyPr/>
                    <a:lstStyle/>
                    <a:p>
                      <a:pPr algn="l" marL="0" indent="0" rtl="0">
                        <a:spcBef>
                          <a:spcPts val="0"/>
                        </a:spcBef>
                        <a:spcAft>
                          <a:spcPts val="0"/>
                        </a:spcAft>
                        <a:buNone/>
                      </a:pPr>
                      <a:r>
                        <a:rPr lang="en-GB" sz="950" b="1" dirty="0">
                          <a:solidFill>
                            <a:srgbClr val="FFFFFF"/>
                          </a:solidFill>
                          <a:latin typeface="Arial"/>
                          <a:ea typeface="Arial"/>
                          <a:cs typeface="Arial"/>
                          <a:sym typeface="Arial"/>
                        </a:rPr>
                        <a:t>Pilot: one cooperative, ~1,000 plots</a:t>
                      </a:r>
                      <a:endParaRPr lang="en-GB" sz="950" dirty="0"/>
                    </a:p>
                  </a:txBody>
                  <a:tcPr marL="64008" marR="64008" marT="41148" marB="41148" anchor="ctr">
                    <a:lnL w="0">
                      <a:noFill/>
                    </a:lnL>
                    <a:lnR w="0">
                      <a:noFill/>
                    </a:lnR>
                    <a:lnT w="0">
                      <a:noFill/>
                    </a:lnT>
                    <a:lnB w="9525">
                      <a:solidFill>
                        <a:srgbClr val="D3DCD0"/>
                      </a:solidFill>
                    </a:lnB>
                    <a:solidFill>
                      <a:srgbClr val="14513A"/>
                    </a:solidFill>
                  </a:tcPr>
                </a:tc>
              </a:tr>
              <a:tr h="505778">
                <a:tc>
                  <a:txBody>
                    <a:bodyPr/>
                    <a:lstStyle/>
                    <a:p>
                      <a:pPr algn="l" marL="0" indent="0" rtl="0">
                        <a:spcBef>
                          <a:spcPts val="0"/>
                        </a:spcBef>
                        <a:spcAft>
                          <a:spcPts val="0"/>
                        </a:spcAft>
                        <a:buNone/>
                      </a:pPr>
                      <a:r>
                        <a:rPr lang="en-GB" sz="950" b="1" dirty="0">
                          <a:solidFill>
                            <a:srgbClr val="15231B"/>
                          </a:solidFill>
                          <a:latin typeface="Arial"/>
                          <a:ea typeface="Arial"/>
                          <a:cs typeface="Arial"/>
                          <a:sym typeface="Arial"/>
                        </a:rPr>
                        <a:t>Gemini API</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Free tier or pay-as-you-go; est. under US$10 for build, tests and judging</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 US$30–60 per full pass of checks (≈ 3–6 US cents per check: 3 photo reads + 1 note)</a:t>
                      </a:r>
                      <a:endParaRPr lang="en-GB" sz="950" dirty="0"/>
                    </a:p>
                  </a:txBody>
                  <a:tcPr marL="64008" marR="64008" marT="41148" marB="41148" anchor="ctr">
                    <a:lnL w="0">
                      <a:noFill/>
                    </a:lnL>
                    <a:lnR w="0">
                      <a:noFill/>
                    </a:lnR>
                    <a:lnT w="0">
                      <a:noFill/>
                    </a:lnT>
                    <a:lnB w="9525">
                      <a:solidFill>
                        <a:srgbClr val="D3DCD0"/>
                      </a:solidFill>
                    </a:lnB>
                    <a:noFill/>
                  </a:tcPr>
                </a:tc>
              </a:tr>
              <a:tr h="505778">
                <a:tc>
                  <a:txBody>
                    <a:bodyPr/>
                    <a:lstStyle/>
                    <a:p>
                      <a:pPr algn="l" marL="0" indent="0" rtl="0">
                        <a:spcBef>
                          <a:spcPts val="0"/>
                        </a:spcBef>
                        <a:spcAft>
                          <a:spcPts val="0"/>
                        </a:spcAft>
                        <a:buNone/>
                      </a:pPr>
                      <a:r>
                        <a:rPr lang="en-GB" sz="950" b="1" dirty="0">
                          <a:solidFill>
                            <a:srgbClr val="15231B"/>
                          </a:solidFill>
                          <a:latin typeface="Arial"/>
                          <a:ea typeface="Arial"/>
                          <a:cs typeface="Arial"/>
                          <a:sym typeface="Arial"/>
                        </a:rPr>
                        <a:t>Cloud Run</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Within free-tier limits at demo traffic; no idle instance (min 0, max 3)</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Free tier to low tens of US$ per month</a:t>
                      </a:r>
                      <a:endParaRPr lang="en-GB" sz="950" dirty="0"/>
                    </a:p>
                  </a:txBody>
                  <a:tcPr marL="64008" marR="64008" marT="41148" marB="41148" anchor="ctr">
                    <a:lnL w="0">
                      <a:noFill/>
                    </a:lnL>
                    <a:lnR w="0">
                      <a:noFill/>
                    </a:lnR>
                    <a:lnT w="0">
                      <a:noFill/>
                    </a:lnT>
                    <a:lnB w="9525">
                      <a:solidFill>
                        <a:srgbClr val="D3DCD0"/>
                      </a:solidFill>
                    </a:lnB>
                    <a:noFill/>
                  </a:tcPr>
                </a:tc>
              </a:tr>
              <a:tr h="364617">
                <a:tc>
                  <a:txBody>
                    <a:bodyPr/>
                    <a:lstStyle/>
                    <a:p>
                      <a:pPr algn="l" marL="0" indent="0" rtl="0">
                        <a:spcBef>
                          <a:spcPts val="0"/>
                        </a:spcBef>
                        <a:spcAft>
                          <a:spcPts val="0"/>
                        </a:spcAft>
                        <a:buNone/>
                      </a:pPr>
                      <a:r>
                        <a:rPr lang="en-GB" sz="950" b="1" dirty="0">
                          <a:solidFill>
                            <a:srgbClr val="15231B"/>
                          </a:solidFill>
                          <a:latin typeface="Arial"/>
                          <a:ea typeface="Arial"/>
                          <a:cs typeface="Arial"/>
                          <a:sym typeface="Arial"/>
                        </a:rPr>
                        <a:t>Firestore, Storage, Hosting, Auth</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Free tier or cents</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Low US$ per month; ~1.2 GB of photos per 1,000 plots</a:t>
                      </a:r>
                      <a:endParaRPr lang="en-GB" sz="950" dirty="0"/>
                    </a:p>
                  </a:txBody>
                  <a:tcPr marL="64008" marR="64008" marT="41148" marB="41148" anchor="ctr">
                    <a:lnL w="0">
                      <a:noFill/>
                    </a:lnL>
                    <a:lnR w="0">
                      <a:noFill/>
                    </a:lnR>
                    <a:lnT w="0">
                      <a:noFill/>
                    </a:lnT>
                    <a:lnB w="9525">
                      <a:solidFill>
                        <a:srgbClr val="D3DCD0"/>
                      </a:solidFill>
                    </a:lnB>
                    <a:noFill/>
                  </a:tcPr>
                </a:tc>
              </a:tr>
              <a:tr h="364617">
                <a:tc>
                  <a:txBody>
                    <a:bodyPr/>
                    <a:lstStyle/>
                    <a:p>
                      <a:pPr algn="l" marL="0" indent="0" rtl="0">
                        <a:spcBef>
                          <a:spcPts val="0"/>
                        </a:spcBef>
                        <a:spcAft>
                          <a:spcPts val="0"/>
                        </a:spcAft>
                        <a:buNone/>
                      </a:pPr>
                      <a:r>
                        <a:rPr lang="en-GB" sz="950" b="1" dirty="0">
                          <a:solidFill>
                            <a:srgbClr val="15231B"/>
                          </a:solidFill>
                          <a:latin typeface="Arial"/>
                          <a:ea typeface="Arial"/>
                          <a:cs typeface="Arial"/>
                          <a:sym typeface="Arial"/>
                        </a:rPr>
                        <a:t>Google Maps JavaScript API</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Free monthly allowance</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Beyond the allowance ≈ US$7 per 1,000 map loads</a:t>
                      </a:r>
                      <a:endParaRPr lang="en-GB" sz="950" dirty="0"/>
                    </a:p>
                  </a:txBody>
                  <a:tcPr marL="64008" marR="64008" marT="41148" marB="41148" anchor="ctr">
                    <a:lnL w="0">
                      <a:noFill/>
                    </a:lnL>
                    <a:lnR w="0">
                      <a:noFill/>
                    </a:lnR>
                    <a:lnT w="0">
                      <a:noFill/>
                    </a:lnT>
                    <a:lnB w="9525">
                      <a:solidFill>
                        <a:srgbClr val="D3DCD0"/>
                      </a:solidFill>
                    </a:lnB>
                    <a:noFill/>
                  </a:tcPr>
                </a:tc>
              </a:tr>
              <a:tr h="364617">
                <a:tc>
                  <a:txBody>
                    <a:bodyPr/>
                    <a:lstStyle/>
                    <a:p>
                      <a:pPr algn="l" marL="0" indent="0" rtl="0">
                        <a:spcBef>
                          <a:spcPts val="0"/>
                        </a:spcBef>
                        <a:spcAft>
                          <a:spcPts val="0"/>
                        </a:spcAft>
                        <a:buNone/>
                      </a:pPr>
                      <a:r>
                        <a:rPr lang="en-GB" sz="950" b="1" dirty="0">
                          <a:solidFill>
                            <a:srgbClr val="15231B"/>
                          </a:solidFill>
                          <a:latin typeface="Arial"/>
                          <a:ea typeface="Arial"/>
                          <a:cs typeface="Arial"/>
                          <a:sym typeface="Arial"/>
                        </a:rPr>
                        <a:t>Earth Engine</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Non-commercial use</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A commercial deployment needs a paid plan (from US$500 per month)</a:t>
                      </a:r>
                      <a:endParaRPr lang="en-GB" sz="950" dirty="0"/>
                    </a:p>
                  </a:txBody>
                  <a:tcPr marL="64008" marR="64008" marT="41148" marB="41148" anchor="ctr">
                    <a:lnL w="0">
                      <a:noFill/>
                    </a:lnL>
                    <a:lnR w="0">
                      <a:noFill/>
                    </a:lnR>
                    <a:lnT w="0">
                      <a:noFill/>
                    </a:lnT>
                    <a:lnB w="9525">
                      <a:solidFill>
                        <a:srgbClr val="D3DCD0"/>
                      </a:solidFill>
                    </a:lnB>
                    <a:noFill/>
                  </a:tcPr>
                </a:tc>
              </a:tr>
              <a:tr h="223456">
                <a:tc>
                  <a:txBody>
                    <a:bodyPr/>
                    <a:lstStyle/>
                    <a:p>
                      <a:pPr algn="l" marL="0" indent="0" rtl="0">
                        <a:spcBef>
                          <a:spcPts val="0"/>
                        </a:spcBef>
                        <a:spcAft>
                          <a:spcPts val="0"/>
                        </a:spcAft>
                        <a:buNone/>
                      </a:pPr>
                      <a:r>
                        <a:rPr lang="en-GB" sz="950" b="1" dirty="0">
                          <a:solidFill>
                            <a:srgbClr val="15231B"/>
                          </a:solidFill>
                          <a:latin typeface="Arial"/>
                          <a:ea typeface="Arial"/>
                          <a:cs typeface="Arial"/>
                          <a:sym typeface="Arial"/>
                        </a:rPr>
                        <a:t>People</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2 builders, 10 days</a:t>
                      </a:r>
                      <a:endParaRPr lang="en-GB" sz="95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Cooperative onboarding and support</a:t>
                      </a:r>
                      <a:endParaRPr lang="en-GB" sz="950" dirty="0"/>
                    </a:p>
                  </a:txBody>
                  <a:tcPr marL="64008" marR="64008" marT="41148" marB="41148" anchor="ctr">
                    <a:lnL w="0">
                      <a:noFill/>
                    </a:lnL>
                    <a:lnR w="0">
                      <a:noFill/>
                    </a:lnR>
                    <a:lnT w="0">
                      <a:noFill/>
                    </a:lnT>
                    <a:lnB w="9525">
                      <a:solidFill>
                        <a:srgbClr val="D3DCD0"/>
                      </a:solidFill>
                    </a:lnB>
                    <a:noFill/>
                  </a:tcPr>
                </a:tc>
              </a:tr>
            </a:tbl>
          </a:graphicData>
        </a:graphic>
      </p:graphicFrame>
      <p:sp>
        <p:nvSpPr>
          <p:cNvPr id="131" name="Guardrails card"/>
          <p:cNvSpPr/>
          <p:nvPr/>
        </p:nvSpPr>
        <p:spPr>
          <a:xfrm>
            <a:off x="5687568" y="1298448"/>
            <a:ext cx="3182112" cy="3621024"/>
          </a:xfrm>
          <a:prstGeom prst="roundRect">
            <a:avLst>
              <a:gd name="adj" fmla="val 2586"/>
            </a:avLst>
          </a:prstGeom>
          <a:solidFill>
            <a:srgbClr val="EDF1EC"/>
          </a:solidFill>
          <a:ln>
            <a:noFill/>
          </a:ln>
        </p:spPr>
      </p:sp>
      <p:sp>
        <p:nvSpPr>
          <p:cNvPr id="132" name="Guardrails title"/>
          <p:cNvSpPr txBox="1"/>
          <p:nvPr/>
        </p:nvSpPr>
        <p:spPr>
          <a:xfrm>
            <a:off x="5852160" y="1389888"/>
            <a:ext cx="2907792"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14513A"/>
                </a:solidFill>
                <a:latin typeface="Arial"/>
                <a:ea typeface="Arial"/>
                <a:cs typeface="Arial"/>
                <a:sym typeface="Arial"/>
              </a:rPr>
              <a:t>Cost guardrails built in</a:t>
            </a:r>
            <a:endParaRPr lang="en-GB" sz="1200" dirty="0"/>
          </a:p>
        </p:txBody>
      </p:sp>
      <p:sp>
        <p:nvSpPr>
          <p:cNvPr id="133" name="Guardrails list"/>
          <p:cNvSpPr txBox="1"/>
          <p:nvPr/>
        </p:nvSpPr>
        <p:spPr>
          <a:xfrm>
            <a:off x="5852160" y="1719072"/>
            <a:ext cx="2871216" cy="3108960"/>
          </a:xfrm>
          <a:prstGeom prst="rect">
            <a:avLst/>
          </a:prstGeom>
          <a:noFill/>
          <a:ln>
            <a:noFill/>
          </a:ln>
        </p:spPr>
        <p:txBody>
          <a:bodyPr wrap="square" lIns="0" tIns="0" rIns="0" bIns="0" rtlCol="0" anchor="t">
            <a:noAutofit/>
          </a:bodyPr>
          <a:lstStyle/>
          <a:p>
            <a:pPr algn="l" marL="146304" indent="-146304" rtl="0">
              <a:spcBef>
                <a:spcPts val="0"/>
              </a:spcBef>
              <a:spcAft>
                <a:spcPts val="700"/>
              </a:spcAft>
              <a:buClr>
                <a:srgbClr val="14513A"/>
              </a:buClr>
              <a:buSzPct val="100000"/>
              <a:buFont typeface="Arial"/>
              <a:buChar char="•"/>
            </a:pPr>
            <a:r>
              <a:rPr lang="en-GB" sz="1050" b="1" dirty="0">
                <a:solidFill>
                  <a:srgbClr val="15231B"/>
                </a:solidFill>
                <a:latin typeface="Arial"/>
                <a:ea typeface="Arial"/>
                <a:cs typeface="Arial"/>
                <a:sym typeface="Arial"/>
              </a:rPr>
              <a:t xml:space="preserve">Flash-class models only. </a:t>
            </a:r>
            <a:r>
              <a:rPr lang="en-GB" sz="1050" b="0" dirty="0">
                <a:solidFill>
                  <a:srgbClr val="15231B"/>
                </a:solidFill>
                <a:latin typeface="Arial"/>
                <a:ea typeface="Arial"/>
                <a:cs typeface="Arial"/>
                <a:sym typeface="Arial"/>
              </a:rPr>
              <a:t>Reading a photo does not need a Pro model.</a:t>
            </a:r>
            <a:endParaRPr lang="en-GB" sz="1050" dirty="0"/>
          </a:p>
          <a:p>
            <a:pPr algn="l" marL="146304" indent="-146304" rtl="0">
              <a:spcBef>
                <a:spcPts val="0"/>
              </a:spcBef>
              <a:spcAft>
                <a:spcPts val="700"/>
              </a:spcAft>
              <a:buClr>
                <a:srgbClr val="14513A"/>
              </a:buClr>
              <a:buSzPct val="100000"/>
              <a:buFont typeface="Arial"/>
              <a:buChar char="•"/>
            </a:pPr>
            <a:r>
              <a:rPr lang="en-GB" sz="1050" b="1" dirty="0">
                <a:solidFill>
                  <a:srgbClr val="15231B"/>
                </a:solidFill>
                <a:latin typeface="Arial"/>
                <a:ea typeface="Arial"/>
                <a:cs typeface="Arial"/>
                <a:sym typeface="Arial"/>
              </a:rPr>
              <a:t xml:space="preserve">Up to four Gemini calls per check, </a:t>
            </a:r>
            <a:r>
              <a:rPr lang="en-GB" sz="1050" b="0" dirty="0">
                <a:solidFill>
                  <a:srgbClr val="15231B"/>
                </a:solidFill>
                <a:latin typeface="Arial"/>
                <a:ea typeface="Arial"/>
                <a:cs typeface="Arial"/>
                <a:sym typeface="Arial"/>
              </a:rPr>
              <a:t>and documents already read are reused on a re-check.</a:t>
            </a:r>
            <a:endParaRPr lang="en-GB" sz="1050" dirty="0"/>
          </a:p>
          <a:p>
            <a:pPr algn="l" marL="146304" indent="-146304" rtl="0">
              <a:spcBef>
                <a:spcPts val="0"/>
              </a:spcBef>
              <a:spcAft>
                <a:spcPts val="700"/>
              </a:spcAft>
              <a:buClr>
                <a:srgbClr val="14513A"/>
              </a:buClr>
              <a:buSzPct val="100000"/>
              <a:buFont typeface="Arial"/>
              <a:buChar char="•"/>
            </a:pPr>
            <a:r>
              <a:rPr lang="en-GB" sz="1050" b="1" dirty="0">
                <a:solidFill>
                  <a:srgbClr val="15231B"/>
                </a:solidFill>
                <a:latin typeface="Arial"/>
                <a:ea typeface="Arial"/>
                <a:cs typeface="Arial"/>
                <a:sym typeface="Arial"/>
              </a:rPr>
              <a:t xml:space="preserve">Photos shrunk on the phone </a:t>
            </a:r>
            <a:r>
              <a:rPr lang="en-GB" sz="1050" b="0" dirty="0">
                <a:solidFill>
                  <a:srgbClr val="15231B"/>
                </a:solidFill>
                <a:latin typeface="Arial"/>
                <a:ea typeface="Arial"/>
                <a:cs typeface="Arial"/>
                <a:sym typeface="Arial"/>
              </a:rPr>
              <a:t>to 1,600 px JPEG before upload.</a:t>
            </a:r>
            <a:endParaRPr lang="en-GB" sz="1050" dirty="0"/>
          </a:p>
          <a:p>
            <a:pPr algn="l" marL="146304" indent="-146304" rtl="0">
              <a:spcBef>
                <a:spcPts val="0"/>
              </a:spcBef>
              <a:spcAft>
                <a:spcPts val="700"/>
              </a:spcAft>
              <a:buClr>
                <a:srgbClr val="14513A"/>
              </a:buClr>
              <a:buSzPct val="100000"/>
              <a:buFont typeface="Arial"/>
              <a:buChar char="•"/>
            </a:pPr>
            <a:r>
              <a:rPr lang="en-GB" sz="1050" b="1" dirty="0">
                <a:solidFill>
                  <a:srgbClr val="15231B"/>
                </a:solidFill>
                <a:latin typeface="Arial"/>
                <a:ea typeface="Arial"/>
                <a:cs typeface="Arial"/>
                <a:sym typeface="Arial"/>
              </a:rPr>
              <a:t xml:space="preserve">A hard ceiling: </a:t>
            </a:r>
            <a:r>
              <a:rPr lang="en-GB" sz="1050" b="0" dirty="0">
                <a:solidFill>
                  <a:srgbClr val="15231B"/>
                </a:solidFill>
                <a:latin typeface="Arial"/>
                <a:ea typeface="Arial"/>
                <a:cs typeface="Arial"/>
                <a:sym typeface="Arial"/>
              </a:rPr>
              <a:t>Cloud Run runs at most 3 instances and none when idle.</a:t>
            </a:r>
            <a:endParaRPr lang="en-GB" sz="1050" dirty="0"/>
          </a:p>
          <a:p>
            <a:pPr algn="l" marL="146304" indent="-146304" rtl="0">
              <a:spcBef>
                <a:spcPts val="0"/>
              </a:spcBef>
              <a:spcAft>
                <a:spcPts val="700"/>
              </a:spcAft>
              <a:buClr>
                <a:srgbClr val="14513A"/>
              </a:buClr>
              <a:buSzPct val="100000"/>
              <a:buFont typeface="Arial"/>
              <a:buChar char="•"/>
            </a:pPr>
            <a:r>
              <a:rPr lang="en-GB" sz="1050" b="1" dirty="0">
                <a:solidFill>
                  <a:srgbClr val="15231B"/>
                </a:solidFill>
                <a:latin typeface="Arial"/>
                <a:ea typeface="Arial"/>
                <a:cs typeface="Arial"/>
                <a:sym typeface="Arial"/>
              </a:rPr>
              <a:t xml:space="preserve">Fallback models and retries </a:t>
            </a:r>
            <a:r>
              <a:rPr lang="en-GB" sz="1050" b="0" dirty="0">
                <a:solidFill>
                  <a:srgbClr val="15231B"/>
                </a:solidFill>
                <a:latin typeface="Arial"/>
                <a:ea typeface="Arial"/>
                <a:cs typeface="Arial"/>
                <a:sym typeface="Arial"/>
              </a:rPr>
              <a:t>absorb quota errors instead of repeating paid calls.</a:t>
            </a:r>
            <a:endParaRPr lang="en-GB" sz="1050" dirty="0"/>
          </a:p>
          <a:p>
            <a:pPr algn="l" marL="146304" indent="-146304" rtl="0">
              <a:spcBef>
                <a:spcPts val="0"/>
              </a:spcBef>
              <a:spcAft>
                <a:spcPts val="700"/>
              </a:spcAft>
              <a:buClr>
                <a:srgbClr val="14513A"/>
              </a:buClr>
              <a:buSzPct val="100000"/>
              <a:buFont typeface="Arial"/>
              <a:buChar char="•"/>
            </a:pPr>
            <a:r>
              <a:rPr lang="en-GB" sz="1050" b="1" dirty="0">
                <a:solidFill>
                  <a:srgbClr val="15231B"/>
                </a:solidFill>
                <a:latin typeface="Arial"/>
                <a:ea typeface="Arial"/>
                <a:cs typeface="Arial"/>
                <a:sym typeface="Arial"/>
              </a:rPr>
              <a:t xml:space="preserve">Token usage is logged </a:t>
            </a:r>
            <a:r>
              <a:rPr lang="en-GB" sz="1050" b="0" dirty="0">
                <a:solidFill>
                  <a:srgbClr val="15231B"/>
                </a:solidFill>
                <a:latin typeface="Arial"/>
                <a:ea typeface="Arial"/>
                <a:cs typeface="Arial"/>
                <a:sym typeface="Arial"/>
              </a:rPr>
              <a:t>for each Gemini call, so spend can be watched.</a:t>
            </a:r>
            <a:endParaRPr lang="en-GB" sz="1050" dirty="0"/>
          </a:p>
        </p:txBody>
      </p:sp>
      <p:sp>
        <p:nvSpPr>
          <p:cNvPr id="134" name="Cost footnote"/>
          <p:cNvSpPr txBox="1"/>
          <p:nvPr/>
        </p:nvSpPr>
        <p:spPr>
          <a:xfrm>
            <a:off x="274320" y="4590288"/>
            <a:ext cx="5303520" cy="31089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800" b="0" dirty="0">
                <a:solidFill>
                  <a:srgbClr val="56655B"/>
                </a:solidFill>
                <a:latin typeface="Arial"/>
                <a:ea typeface="Arial"/>
                <a:cs typeface="Arial"/>
                <a:sym typeface="Arial"/>
              </a:rPr>
              <a:t>Estimates from public list prices (Gemini 3.5 Flash US$1.50 / US$9.00 per 1M input / output tokens, third-party trackers, 18 Oct 2026) and token estimates. Not a quote; verify on Google's pricing pages.</a:t>
            </a:r>
            <a:endParaRPr lang="en-GB" sz="800" dirty="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Snapshots of the prototype</a:t>
            </a:r>
            <a:endParaRPr lang="en-GB" sz="1200" dirty="0"/>
          </a:p>
        </p:txBody>
      </p:sp>
      <p:sp>
        <p:nvSpPr>
          <p:cNvPr id="137"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The phone app: photograph, draw, check, fix</a:t>
            </a:r>
            <a:endParaRPr lang="en-GB" sz="2000" dirty="0"/>
          </a:p>
        </p:txBody>
      </p:sp>
      <p:pic>
        <p:nvPicPr>
          <p:cNvPr id="138" name="Phone screen 1" descr="Sign-in screen"/>
          <p:cNvPicPr>
            <a:picLocks noChangeAspect="1"/>
          </p:cNvPicPr>
          <p:nvPr/>
        </p:nvPicPr>
        <p:blipFill>
          <a:blip r:embed="rId5"/>
          <a:stretch>
            <a:fillRect/>
          </a:stretch>
        </p:blipFill>
        <p:spPr>
          <a:xfrm>
            <a:off x="274320" y="1316736"/>
            <a:ext cx="1261872" cy="2730770"/>
          </a:xfrm>
          <a:prstGeom prst="roundRect">
            <a:avLst>
              <a:gd name="adj" fmla="val 12318"/>
            </a:avLst>
          </a:prstGeom>
          <a:ln w="15875">
            <a:solidFill>
              <a:srgbClr val="15231B"/>
            </a:solidFill>
          </a:ln>
          <a:effectLst>
            <a:outerShdw blurRad="95250" dist="28575" dir="5400000" algn="t" rotWithShape="0">
              <a:srgbClr val="000000">
                <a:alpha val="22000"/>
              </a:srgbClr>
            </a:outerShdw>
          </a:effectLst>
        </p:spPr>
      </p:pic>
      <p:sp>
        <p:nvSpPr>
          <p:cNvPr id="139" name="Phone caption 1"/>
          <p:cNvSpPr txBox="1"/>
          <p:nvPr/>
        </p:nvSpPr>
        <p:spPr>
          <a:xfrm>
            <a:off x="210312" y="4111514"/>
            <a:ext cx="1389888" cy="512064"/>
          </a:xfrm>
          <a:prstGeom prst="rect">
            <a:avLst/>
          </a:prstGeom>
          <a:noFill/>
          <a:ln>
            <a:noFill/>
          </a:ln>
        </p:spPr>
        <p:txBody>
          <a:bodyPr wrap="square" lIns="0" tIns="0" rIns="0" bIns="0" rtlCol="0" anchor="t">
            <a:noAutofit/>
          </a:bodyPr>
          <a:lstStyle/>
          <a:p>
            <a:pPr algn="ctr" marL="0" indent="0" rtl="0">
              <a:spcBef>
                <a:spcPts val="0"/>
              </a:spcBef>
              <a:spcAft>
                <a:spcPts val="100"/>
              </a:spcAft>
              <a:buNone/>
            </a:pPr>
            <a:r>
              <a:rPr lang="en-GB" sz="950" b="1" dirty="0">
                <a:solidFill>
                  <a:srgbClr val="0D3B29"/>
                </a:solidFill>
                <a:latin typeface="Arial"/>
                <a:ea typeface="Arial"/>
                <a:cs typeface="Arial"/>
                <a:sym typeface="Arial"/>
              </a:rPr>
              <a:t>1  Sign in</a:t>
            </a:r>
            <a:endParaRPr lang="en-GB" sz="950" dirty="0"/>
          </a:p>
          <a:p>
            <a:pPr algn="ctr" marL="0" indent="0" rtl="0">
              <a:spcBef>
                <a:spcPts val="0"/>
              </a:spcBef>
              <a:spcAft>
                <a:spcPts val="0"/>
              </a:spcAft>
              <a:buNone/>
            </a:pPr>
            <a:r>
              <a:rPr lang="en-GB" sz="900" b="0" dirty="0">
                <a:solidFill>
                  <a:srgbClr val="56655B"/>
                </a:solidFill>
                <a:latin typeface="Arial"/>
                <a:ea typeface="Arial"/>
                <a:cs typeface="Arial"/>
                <a:sym typeface="Arial"/>
              </a:rPr>
              <a:t>phone number and code; Malay or English</a:t>
            </a:r>
            <a:endParaRPr lang="en-GB" sz="900" dirty="0"/>
          </a:p>
        </p:txBody>
      </p:sp>
      <p:pic>
        <p:nvPicPr>
          <p:cNvPr id="140" name="Phone screen 2" descr="Add land: documents screen with photos attached"/>
          <p:cNvPicPr>
            <a:picLocks noChangeAspect="1"/>
          </p:cNvPicPr>
          <p:nvPr/>
        </p:nvPicPr>
        <p:blipFill>
          <a:blip r:embed="rId6"/>
          <a:stretch>
            <a:fillRect/>
          </a:stretch>
        </p:blipFill>
        <p:spPr>
          <a:xfrm>
            <a:off x="1741018" y="1316736"/>
            <a:ext cx="1261872" cy="2730770"/>
          </a:xfrm>
          <a:prstGeom prst="roundRect">
            <a:avLst>
              <a:gd name="adj" fmla="val 12318"/>
            </a:avLst>
          </a:prstGeom>
          <a:ln w="15875">
            <a:solidFill>
              <a:srgbClr val="15231B"/>
            </a:solidFill>
          </a:ln>
          <a:effectLst>
            <a:outerShdw blurRad="95250" dist="28575" dir="5400000" algn="t" rotWithShape="0">
              <a:srgbClr val="000000">
                <a:alpha val="22000"/>
              </a:srgbClr>
            </a:outerShdw>
          </a:effectLst>
        </p:spPr>
      </p:pic>
      <p:sp>
        <p:nvSpPr>
          <p:cNvPr id="141" name="Phone caption 2"/>
          <p:cNvSpPr txBox="1"/>
          <p:nvPr/>
        </p:nvSpPr>
        <p:spPr>
          <a:xfrm>
            <a:off x="1677010" y="4111514"/>
            <a:ext cx="1389888" cy="512064"/>
          </a:xfrm>
          <a:prstGeom prst="rect">
            <a:avLst/>
          </a:prstGeom>
          <a:noFill/>
          <a:ln>
            <a:noFill/>
          </a:ln>
        </p:spPr>
        <p:txBody>
          <a:bodyPr wrap="square" lIns="0" tIns="0" rIns="0" bIns="0" rtlCol="0" anchor="t">
            <a:noAutofit/>
          </a:bodyPr>
          <a:lstStyle/>
          <a:p>
            <a:pPr algn="ctr" marL="0" indent="0" rtl="0">
              <a:spcBef>
                <a:spcPts val="0"/>
              </a:spcBef>
              <a:spcAft>
                <a:spcPts val="100"/>
              </a:spcAft>
              <a:buNone/>
            </a:pPr>
            <a:r>
              <a:rPr lang="en-GB" sz="950" b="1" dirty="0">
                <a:solidFill>
                  <a:srgbClr val="0D3B29"/>
                </a:solidFill>
                <a:latin typeface="Arial"/>
                <a:ea typeface="Arial"/>
                <a:cs typeface="Arial"/>
                <a:sym typeface="Arial"/>
              </a:rPr>
              <a:t>2  Photograph</a:t>
            </a:r>
            <a:endParaRPr lang="en-GB" sz="950" dirty="0"/>
          </a:p>
          <a:p>
            <a:pPr algn="ctr" marL="0" indent="0" rtl="0">
              <a:spcBef>
                <a:spcPts val="0"/>
              </a:spcBef>
              <a:spcAft>
                <a:spcPts val="0"/>
              </a:spcAft>
              <a:buNone/>
            </a:pPr>
            <a:r>
              <a:rPr lang="en-GB" sz="900" b="0" dirty="0">
                <a:solidFill>
                  <a:srgbClr val="56655B"/>
                </a:solidFill>
                <a:latin typeface="Arial"/>
                <a:ea typeface="Arial"/>
                <a:cs typeface="Arial"/>
                <a:sym typeface="Arial"/>
              </a:rPr>
              <a:t>land title (2 pages), MPOB licence</a:t>
            </a:r>
            <a:endParaRPr lang="en-GB" sz="900" dirty="0"/>
          </a:p>
        </p:txBody>
      </p:sp>
      <p:pic>
        <p:nvPicPr>
          <p:cNvPr id="142" name="Phone screen 3" descr="Draw the boundary on a satellite map with area badge"/>
          <p:cNvPicPr>
            <a:picLocks noChangeAspect="1"/>
          </p:cNvPicPr>
          <p:nvPr/>
        </p:nvPicPr>
        <p:blipFill>
          <a:blip r:embed="rId7"/>
          <a:stretch>
            <a:fillRect/>
          </a:stretch>
        </p:blipFill>
        <p:spPr>
          <a:xfrm>
            <a:off x="3207715" y="1316736"/>
            <a:ext cx="1261872" cy="2730770"/>
          </a:xfrm>
          <a:prstGeom prst="roundRect">
            <a:avLst>
              <a:gd name="adj" fmla="val 12318"/>
            </a:avLst>
          </a:prstGeom>
          <a:ln w="15875">
            <a:solidFill>
              <a:srgbClr val="15231B"/>
            </a:solidFill>
          </a:ln>
          <a:effectLst>
            <a:outerShdw blurRad="95250" dist="28575" dir="5400000" algn="t" rotWithShape="0">
              <a:srgbClr val="000000">
                <a:alpha val="22000"/>
              </a:srgbClr>
            </a:outerShdw>
          </a:effectLst>
        </p:spPr>
      </p:pic>
      <p:sp>
        <p:nvSpPr>
          <p:cNvPr id="143" name="Phone caption 3"/>
          <p:cNvSpPr txBox="1"/>
          <p:nvPr/>
        </p:nvSpPr>
        <p:spPr>
          <a:xfrm>
            <a:off x="3143707" y="4111514"/>
            <a:ext cx="1389888" cy="512064"/>
          </a:xfrm>
          <a:prstGeom prst="rect">
            <a:avLst/>
          </a:prstGeom>
          <a:noFill/>
          <a:ln>
            <a:noFill/>
          </a:ln>
        </p:spPr>
        <p:txBody>
          <a:bodyPr wrap="square" lIns="0" tIns="0" rIns="0" bIns="0" rtlCol="0" anchor="t">
            <a:noAutofit/>
          </a:bodyPr>
          <a:lstStyle/>
          <a:p>
            <a:pPr algn="ctr" marL="0" indent="0" rtl="0">
              <a:spcBef>
                <a:spcPts val="0"/>
              </a:spcBef>
              <a:spcAft>
                <a:spcPts val="100"/>
              </a:spcAft>
              <a:buNone/>
            </a:pPr>
            <a:r>
              <a:rPr lang="en-GB" sz="950" b="1" dirty="0">
                <a:solidFill>
                  <a:srgbClr val="0D3B29"/>
                </a:solidFill>
                <a:latin typeface="Arial"/>
                <a:ea typeface="Arial"/>
                <a:cs typeface="Arial"/>
                <a:sym typeface="Arial"/>
              </a:rPr>
              <a:t>3  Draw</a:t>
            </a:r>
            <a:endParaRPr lang="en-GB" sz="950" dirty="0"/>
          </a:p>
          <a:p>
            <a:pPr algn="ctr" marL="0" indent="0" rtl="0">
              <a:spcBef>
                <a:spcPts val="0"/>
              </a:spcBef>
              <a:spcAft>
                <a:spcPts val="0"/>
              </a:spcAft>
              <a:buNone/>
            </a:pPr>
            <a:r>
              <a:rPr lang="en-GB" sz="900" b="0" dirty="0">
                <a:solidFill>
                  <a:srgbClr val="56655B"/>
                </a:solidFill>
                <a:latin typeface="Arial"/>
                <a:ea typeface="Arial"/>
                <a:cs typeface="Arial"/>
                <a:sym typeface="Arial"/>
              </a:rPr>
              <a:t>boundary on a satellite map, about 3.29 ha</a:t>
            </a:r>
            <a:endParaRPr lang="en-GB" sz="900" dirty="0"/>
          </a:p>
        </p:txBody>
      </p:sp>
      <p:pic>
        <p:nvPicPr>
          <p:cNvPr id="144" name="Phone screen 4" descr="Checking screen with four steps"/>
          <p:cNvPicPr>
            <a:picLocks noChangeAspect="1"/>
          </p:cNvPicPr>
          <p:nvPr/>
        </p:nvPicPr>
        <p:blipFill>
          <a:blip r:embed="rId8"/>
          <a:stretch>
            <a:fillRect/>
          </a:stretch>
        </p:blipFill>
        <p:spPr>
          <a:xfrm>
            <a:off x="4674413" y="1316736"/>
            <a:ext cx="1261872" cy="2730770"/>
          </a:xfrm>
          <a:prstGeom prst="roundRect">
            <a:avLst>
              <a:gd name="adj" fmla="val 12318"/>
            </a:avLst>
          </a:prstGeom>
          <a:ln w="15875">
            <a:solidFill>
              <a:srgbClr val="15231B"/>
            </a:solidFill>
          </a:ln>
          <a:effectLst>
            <a:outerShdw blurRad="95250" dist="28575" dir="5400000" algn="t" rotWithShape="0">
              <a:srgbClr val="000000">
                <a:alpha val="22000"/>
              </a:srgbClr>
            </a:outerShdw>
          </a:effectLst>
        </p:spPr>
      </p:pic>
      <p:sp>
        <p:nvSpPr>
          <p:cNvPr id="145" name="Phone caption 4"/>
          <p:cNvSpPr txBox="1"/>
          <p:nvPr/>
        </p:nvSpPr>
        <p:spPr>
          <a:xfrm>
            <a:off x="4610405" y="4111514"/>
            <a:ext cx="1389888" cy="512064"/>
          </a:xfrm>
          <a:prstGeom prst="rect">
            <a:avLst/>
          </a:prstGeom>
          <a:noFill/>
          <a:ln>
            <a:noFill/>
          </a:ln>
        </p:spPr>
        <p:txBody>
          <a:bodyPr wrap="square" lIns="0" tIns="0" rIns="0" bIns="0" rtlCol="0" anchor="t">
            <a:noAutofit/>
          </a:bodyPr>
          <a:lstStyle/>
          <a:p>
            <a:pPr algn="ctr" marL="0" indent="0" rtl="0">
              <a:spcBef>
                <a:spcPts val="0"/>
              </a:spcBef>
              <a:spcAft>
                <a:spcPts val="100"/>
              </a:spcAft>
              <a:buNone/>
            </a:pPr>
            <a:r>
              <a:rPr lang="en-GB" sz="950" b="1" dirty="0">
                <a:solidFill>
                  <a:srgbClr val="0D3B29"/>
                </a:solidFill>
                <a:latin typeface="Arial"/>
                <a:ea typeface="Arial"/>
                <a:cs typeface="Arial"/>
                <a:sym typeface="Arial"/>
              </a:rPr>
              <a:t>4  Check</a:t>
            </a:r>
            <a:endParaRPr lang="en-GB" sz="950" dirty="0"/>
          </a:p>
          <a:p>
            <a:pPr algn="ctr" marL="0" indent="0" rtl="0">
              <a:spcBef>
                <a:spcPts val="0"/>
              </a:spcBef>
              <a:spcAft>
                <a:spcPts val="0"/>
              </a:spcAft>
              <a:buNone/>
            </a:pPr>
            <a:r>
              <a:rPr lang="en-GB" sz="900" b="0" dirty="0">
                <a:solidFill>
                  <a:srgbClr val="56655B"/>
                </a:solidFill>
                <a:latin typeface="Arial"/>
                <a:ea typeface="Arial"/>
                <a:cs typeface="Arial"/>
                <a:sym typeface="Arial"/>
              </a:rPr>
              <a:t>steps tick off as they finish</a:t>
            </a:r>
            <a:endParaRPr lang="en-GB" sz="900" dirty="0"/>
          </a:p>
        </p:txBody>
      </p:sp>
      <p:pic>
        <p:nvPicPr>
          <p:cNvPr id="146" name="Phone screen 5" descr="Result screen: needs review with a to-do list"/>
          <p:cNvPicPr>
            <a:picLocks noChangeAspect="1"/>
          </p:cNvPicPr>
          <p:nvPr/>
        </p:nvPicPr>
        <p:blipFill>
          <a:blip r:embed="rId9"/>
          <a:stretch>
            <a:fillRect/>
          </a:stretch>
        </p:blipFill>
        <p:spPr>
          <a:xfrm>
            <a:off x="6141110" y="1316736"/>
            <a:ext cx="1261872" cy="2730770"/>
          </a:xfrm>
          <a:prstGeom prst="roundRect">
            <a:avLst>
              <a:gd name="adj" fmla="val 12318"/>
            </a:avLst>
          </a:prstGeom>
          <a:ln w="15875">
            <a:solidFill>
              <a:srgbClr val="15231B"/>
            </a:solidFill>
          </a:ln>
          <a:effectLst>
            <a:outerShdw blurRad="95250" dist="28575" dir="5400000" algn="t" rotWithShape="0">
              <a:srgbClr val="000000">
                <a:alpha val="22000"/>
              </a:srgbClr>
            </a:outerShdw>
          </a:effectLst>
        </p:spPr>
      </p:pic>
      <p:sp>
        <p:nvSpPr>
          <p:cNvPr id="147" name="Phone caption 5"/>
          <p:cNvSpPr txBox="1"/>
          <p:nvPr/>
        </p:nvSpPr>
        <p:spPr>
          <a:xfrm>
            <a:off x="6077102" y="4111514"/>
            <a:ext cx="1389888" cy="512064"/>
          </a:xfrm>
          <a:prstGeom prst="rect">
            <a:avLst/>
          </a:prstGeom>
          <a:noFill/>
          <a:ln>
            <a:noFill/>
          </a:ln>
        </p:spPr>
        <p:txBody>
          <a:bodyPr wrap="square" lIns="0" tIns="0" rIns="0" bIns="0" rtlCol="0" anchor="t">
            <a:noAutofit/>
          </a:bodyPr>
          <a:lstStyle/>
          <a:p>
            <a:pPr algn="ctr" marL="0" indent="0" rtl="0">
              <a:spcBef>
                <a:spcPts val="0"/>
              </a:spcBef>
              <a:spcAft>
                <a:spcPts val="100"/>
              </a:spcAft>
              <a:buNone/>
            </a:pPr>
            <a:r>
              <a:rPr lang="en-GB" sz="950" b="1" dirty="0">
                <a:solidFill>
                  <a:srgbClr val="0D3B29"/>
                </a:solidFill>
                <a:latin typeface="Arial"/>
                <a:ea typeface="Arial"/>
                <a:cs typeface="Arial"/>
                <a:sym typeface="Arial"/>
              </a:rPr>
              <a:t>5  Verdict</a:t>
            </a:r>
            <a:endParaRPr lang="en-GB" sz="950" dirty="0"/>
          </a:p>
          <a:p>
            <a:pPr algn="ctr" marL="0" indent="0" rtl="0">
              <a:spcBef>
                <a:spcPts val="0"/>
              </a:spcBef>
              <a:spcAft>
                <a:spcPts val="0"/>
              </a:spcAft>
              <a:buNone/>
            </a:pPr>
            <a:r>
              <a:rPr lang="en-GB" sz="900" b="0" dirty="0">
                <a:solidFill>
                  <a:srgbClr val="56655B"/>
                </a:solidFill>
                <a:latin typeface="Arial"/>
                <a:ea typeface="Arial"/>
                <a:cs typeface="Arial"/>
                <a:sym typeface="Arial"/>
              </a:rPr>
              <a:t>yellow: two things to do</a:t>
            </a:r>
            <a:endParaRPr lang="en-GB" sz="900" dirty="0"/>
          </a:p>
        </p:txBody>
      </p:sp>
      <p:pic>
        <p:nvPicPr>
          <p:cNvPr id="148" name="Phone screen 6" descr="Issue detail: area mismatch"/>
          <p:cNvPicPr>
            <a:picLocks noChangeAspect="1"/>
          </p:cNvPicPr>
          <p:nvPr/>
        </p:nvPicPr>
        <p:blipFill>
          <a:blip r:embed="rId10"/>
          <a:stretch>
            <a:fillRect/>
          </a:stretch>
        </p:blipFill>
        <p:spPr>
          <a:xfrm>
            <a:off x="7607808" y="1316736"/>
            <a:ext cx="1261872" cy="2730770"/>
          </a:xfrm>
          <a:prstGeom prst="roundRect">
            <a:avLst>
              <a:gd name="adj" fmla="val 12318"/>
            </a:avLst>
          </a:prstGeom>
          <a:ln w="15875">
            <a:solidFill>
              <a:srgbClr val="15231B"/>
            </a:solidFill>
          </a:ln>
          <a:effectLst>
            <a:outerShdw blurRad="95250" dist="28575" dir="5400000" algn="t" rotWithShape="0">
              <a:srgbClr val="000000">
                <a:alpha val="22000"/>
              </a:srgbClr>
            </a:outerShdw>
          </a:effectLst>
        </p:spPr>
      </p:pic>
      <p:sp>
        <p:nvSpPr>
          <p:cNvPr id="149" name="Phone caption 6"/>
          <p:cNvSpPr txBox="1"/>
          <p:nvPr/>
        </p:nvSpPr>
        <p:spPr>
          <a:xfrm>
            <a:off x="7543800" y="4111514"/>
            <a:ext cx="1389888" cy="512064"/>
          </a:xfrm>
          <a:prstGeom prst="rect">
            <a:avLst/>
          </a:prstGeom>
          <a:noFill/>
          <a:ln>
            <a:noFill/>
          </a:ln>
        </p:spPr>
        <p:txBody>
          <a:bodyPr wrap="square" lIns="0" tIns="0" rIns="0" bIns="0" rtlCol="0" anchor="t">
            <a:noAutofit/>
          </a:bodyPr>
          <a:lstStyle/>
          <a:p>
            <a:pPr algn="ctr" marL="0" indent="0" rtl="0">
              <a:spcBef>
                <a:spcPts val="0"/>
              </a:spcBef>
              <a:spcAft>
                <a:spcPts val="100"/>
              </a:spcAft>
              <a:buNone/>
            </a:pPr>
            <a:r>
              <a:rPr lang="en-GB" sz="950" b="1" dirty="0">
                <a:solidFill>
                  <a:srgbClr val="0D3B29"/>
                </a:solidFill>
                <a:latin typeface="Arial"/>
                <a:ea typeface="Arial"/>
                <a:cs typeface="Arial"/>
                <a:sym typeface="Arial"/>
              </a:rPr>
              <a:t>6  Why</a:t>
            </a:r>
            <a:endParaRPr lang="en-GB" sz="950" dirty="0"/>
          </a:p>
          <a:p>
            <a:pPr algn="ctr" marL="0" indent="0" rtl="0">
              <a:spcBef>
                <a:spcPts val="0"/>
              </a:spcBef>
              <a:spcAft>
                <a:spcPts val="0"/>
              </a:spcAft>
              <a:buNone/>
            </a:pPr>
            <a:r>
              <a:rPr lang="en-GB" sz="900" b="0" dirty="0">
                <a:solidFill>
                  <a:srgbClr val="56655B"/>
                </a:solidFill>
                <a:latin typeface="Arial"/>
                <a:ea typeface="Arial"/>
                <a:cs typeface="Arial"/>
                <a:sym typeface="Arial"/>
              </a:rPr>
              <a:t>title 3.04 ha, drawing 3.49 ha</a:t>
            </a:r>
            <a:endParaRPr lang="en-GB" sz="900" dirty="0"/>
          </a:p>
        </p:txBody>
      </p:sp>
      <p:sp>
        <p:nvSpPr>
          <p:cNvPr id="150" name="Snap note A"/>
          <p:cNvSpPr txBox="1"/>
          <p:nvPr/>
        </p:nvSpPr>
        <p:spPr>
          <a:xfrm>
            <a:off x="274320" y="4645152"/>
            <a:ext cx="8595360" cy="274320"/>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850" b="0" dirty="0">
                <a:solidFill>
                  <a:srgbClr val="56655B"/>
                </a:solidFill>
                <a:latin typeface="Arial"/>
                <a:ea typeface="Arial"/>
                <a:cs typeface="Arial"/>
                <a:sym typeface="Arial"/>
              </a:rPr>
              <a:t>Working prototype with synthetic demo data (documents are watermarked SIMULATED). Seeded plots carry pre-computed forest values; new checks call Earth Engine.</a:t>
            </a:r>
            <a:endParaRPr lang="en-GB" sz="850" dirty="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Prototype Performance report/Benchmarking</a:t>
            </a:r>
            <a:endParaRPr lang="en-GB" sz="1200" dirty="0"/>
          </a:p>
        </p:txBody>
      </p:sp>
      <p:sp>
        <p:nvSpPr>
          <p:cNvPr id="145"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Measured on the submitted build: 1,840 tests pass, 40 of 40 fields read</a:t>
            </a:r>
            <a:endParaRPr lang="en-GB" sz="2000" dirty="0"/>
          </a:p>
        </p:txBody>
      </p:sp>
      <p:sp>
        <p:nvSpPr>
          <p:cNvPr id="146" name="KPI 1"/>
          <p:cNvSpPr/>
          <p:nvPr/>
        </p:nvSpPr>
        <p:spPr>
          <a:xfrm>
            <a:off x="274320" y="1298448"/>
            <a:ext cx="2043684" cy="1188720"/>
          </a:xfrm>
          <a:prstGeom prst="roundRect">
            <a:avLst>
              <a:gd name="adj" fmla="val 6923"/>
            </a:avLst>
          </a:prstGeom>
          <a:solidFill>
            <a:srgbClr val="EDF1EC"/>
          </a:solidFill>
          <a:ln>
            <a:noFill/>
          </a:ln>
        </p:spPr>
      </p:sp>
      <p:sp>
        <p:nvSpPr>
          <p:cNvPr id="147" name="KPI 1 number"/>
          <p:cNvSpPr txBox="1"/>
          <p:nvPr/>
        </p:nvSpPr>
        <p:spPr>
          <a:xfrm>
            <a:off x="402336" y="1371600"/>
            <a:ext cx="1787652" cy="43891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2400" b="1" dirty="0">
                <a:solidFill>
                  <a:srgbClr val="C96430"/>
                </a:solidFill>
                <a:latin typeface="Arial"/>
                <a:ea typeface="Arial"/>
                <a:cs typeface="Arial"/>
                <a:sym typeface="Arial"/>
              </a:rPr>
              <a:t>1,840</a:t>
            </a:r>
            <a:endParaRPr lang="en-GB" sz="2400" dirty="0"/>
          </a:p>
        </p:txBody>
      </p:sp>
      <p:sp>
        <p:nvSpPr>
          <p:cNvPr id="148" name="KPI 1 label"/>
          <p:cNvSpPr txBox="1"/>
          <p:nvPr/>
        </p:nvSpPr>
        <p:spPr>
          <a:xfrm>
            <a:off x="402336" y="1828800"/>
            <a:ext cx="1805940" cy="621792"/>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automated tests pass: 847 back end (pytest) and 993 front end (Vitest)</a:t>
            </a:r>
            <a:endParaRPr lang="en-GB" sz="950" dirty="0"/>
          </a:p>
        </p:txBody>
      </p:sp>
      <p:sp>
        <p:nvSpPr>
          <p:cNvPr id="149" name="KPI 2"/>
          <p:cNvSpPr/>
          <p:nvPr/>
        </p:nvSpPr>
        <p:spPr>
          <a:xfrm>
            <a:off x="2457907" y="1298448"/>
            <a:ext cx="2043684" cy="1188720"/>
          </a:xfrm>
          <a:prstGeom prst="roundRect">
            <a:avLst>
              <a:gd name="adj" fmla="val 6923"/>
            </a:avLst>
          </a:prstGeom>
          <a:solidFill>
            <a:srgbClr val="EDF1EC"/>
          </a:solidFill>
          <a:ln>
            <a:noFill/>
          </a:ln>
        </p:spPr>
      </p:sp>
      <p:sp>
        <p:nvSpPr>
          <p:cNvPr id="150" name="KPI 2 number"/>
          <p:cNvSpPr txBox="1"/>
          <p:nvPr/>
        </p:nvSpPr>
        <p:spPr>
          <a:xfrm>
            <a:off x="2585923" y="1371600"/>
            <a:ext cx="1787652" cy="43891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2400" b="1" dirty="0">
                <a:solidFill>
                  <a:srgbClr val="C96430"/>
                </a:solidFill>
                <a:latin typeface="Arial"/>
                <a:ea typeface="Arial"/>
                <a:cs typeface="Arial"/>
                <a:sym typeface="Arial"/>
              </a:rPr>
              <a:t>40 / 40</a:t>
            </a:r>
            <a:endParaRPr lang="en-GB" sz="2400" dirty="0"/>
          </a:p>
        </p:txBody>
      </p:sp>
      <p:sp>
        <p:nvSpPr>
          <p:cNvPr id="151" name="KPI 2 label"/>
          <p:cNvSpPr txBox="1"/>
          <p:nvPr/>
        </p:nvSpPr>
        <p:spPr>
          <a:xfrm>
            <a:off x="2585923" y="1828800"/>
            <a:ext cx="1805940" cy="621792"/>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fields read correctly by Gemini on 16 synthetic photos, with handwriting, blur, tilt and low light</a:t>
            </a:r>
            <a:endParaRPr lang="en-GB" sz="950" dirty="0"/>
          </a:p>
        </p:txBody>
      </p:sp>
      <p:sp>
        <p:nvSpPr>
          <p:cNvPr id="152" name="KPI 3"/>
          <p:cNvSpPr/>
          <p:nvPr/>
        </p:nvSpPr>
        <p:spPr>
          <a:xfrm>
            <a:off x="4641494" y="1298448"/>
            <a:ext cx="2043684" cy="1188720"/>
          </a:xfrm>
          <a:prstGeom prst="roundRect">
            <a:avLst>
              <a:gd name="adj" fmla="val 6923"/>
            </a:avLst>
          </a:prstGeom>
          <a:solidFill>
            <a:srgbClr val="EDF1EC"/>
          </a:solidFill>
          <a:ln>
            <a:noFill/>
          </a:ln>
        </p:spPr>
      </p:sp>
      <p:sp>
        <p:nvSpPr>
          <p:cNvPr id="153" name="KPI 3 number"/>
          <p:cNvSpPr txBox="1"/>
          <p:nvPr/>
        </p:nvSpPr>
        <p:spPr>
          <a:xfrm>
            <a:off x="4769510" y="1371600"/>
            <a:ext cx="1787652" cy="43891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2400" b="1" dirty="0">
                <a:solidFill>
                  <a:srgbClr val="C96430"/>
                </a:solidFill>
                <a:latin typeface="Arial"/>
                <a:ea typeface="Arial"/>
                <a:cs typeface="Arial"/>
                <a:sym typeface="Arial"/>
              </a:rPr>
              <a:t>200 / 200</a:t>
            </a:r>
            <a:endParaRPr lang="en-GB" sz="2400" dirty="0"/>
          </a:p>
        </p:txBody>
      </p:sp>
      <p:sp>
        <p:nvSpPr>
          <p:cNvPr id="154" name="KPI 3 label"/>
          <p:cNvSpPr txBox="1"/>
          <p:nvPr/>
        </p:nvSpPr>
        <p:spPr>
          <a:xfrm>
            <a:off x="4769510" y="1828800"/>
            <a:ext cx="1805940" cy="621792"/>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demo plots get the same verdict from the Python rules engine as from the independent seed generator</a:t>
            </a:r>
            <a:endParaRPr lang="en-GB" sz="950" dirty="0"/>
          </a:p>
        </p:txBody>
      </p:sp>
      <p:sp>
        <p:nvSpPr>
          <p:cNvPr id="155" name="KPI 4"/>
          <p:cNvSpPr/>
          <p:nvPr/>
        </p:nvSpPr>
        <p:spPr>
          <a:xfrm>
            <a:off x="6825082" y="1298448"/>
            <a:ext cx="2043684" cy="1188720"/>
          </a:xfrm>
          <a:prstGeom prst="roundRect">
            <a:avLst>
              <a:gd name="adj" fmla="val 6923"/>
            </a:avLst>
          </a:prstGeom>
          <a:solidFill>
            <a:srgbClr val="EDF1EC"/>
          </a:solidFill>
          <a:ln>
            <a:noFill/>
          </a:ln>
        </p:spPr>
      </p:sp>
      <p:sp>
        <p:nvSpPr>
          <p:cNvPr id="156" name="KPI 4 number"/>
          <p:cNvSpPr txBox="1"/>
          <p:nvPr/>
        </p:nvSpPr>
        <p:spPr>
          <a:xfrm>
            <a:off x="6953098" y="1371600"/>
            <a:ext cx="1787652" cy="43891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2400" b="1" dirty="0">
                <a:solidFill>
                  <a:srgbClr val="14513A"/>
                </a:solidFill>
                <a:latin typeface="Arial"/>
                <a:ea typeface="Arial"/>
                <a:cs typeface="Arial"/>
                <a:sym typeface="Arial"/>
              </a:rPr>
              <a:t>30 s – 2 min</a:t>
            </a:r>
            <a:endParaRPr lang="en-GB" sz="2400" dirty="0"/>
          </a:p>
        </p:txBody>
      </p:sp>
      <p:sp>
        <p:nvSpPr>
          <p:cNvPr id="157" name="KPI 4 label"/>
          <p:cNvSpPr txBox="1"/>
          <p:nvPr/>
        </p:nvSpPr>
        <p:spPr>
          <a:xfrm>
            <a:off x="6953098" y="1828800"/>
            <a:ext cx="1805940" cy="621792"/>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from tap to verdict with real Gemini calls (about 30 s locally; up to 2 min on free-tier quota)</a:t>
            </a:r>
            <a:endParaRPr lang="en-GB" sz="950" dirty="0"/>
          </a:p>
        </p:txBody>
      </p:sp>
      <p:graphicFrame>
        <p:nvGraphicFramePr>
          <p:cNvPr id="158" name="Benchmark table"/>
          <p:cNvGraphicFramePr>
            <a:graphicFrameLocks noGrp="1"/>
          </p:cNvGraphicFramePr>
          <p:nvPr/>
        </p:nvGraphicFramePr>
        <p:xfrm>
          <a:off x="274320" y="2606040"/>
          <a:ext cx="5760720" cy="1831086"/>
        </p:xfrm>
        <a:graphic>
          <a:graphicData uri="http://schemas.openxmlformats.org/drawingml/2006/table">
            <a:tbl>
              <a:tblPr firstRow="1"/>
              <a:tblGrid>
                <a:gridCol w="1234440"/>
                <a:gridCol w="3886200"/>
                <a:gridCol w="640080"/>
              </a:tblGrid>
              <a:tr h="216027">
                <a:tc>
                  <a:txBody>
                    <a:bodyPr/>
                    <a:lstStyle/>
                    <a:p>
                      <a:pPr algn="l" marL="0" indent="0" rtl="0">
                        <a:spcBef>
                          <a:spcPts val="0"/>
                        </a:spcBef>
                        <a:spcAft>
                          <a:spcPts val="0"/>
                        </a:spcAft>
                        <a:buNone/>
                      </a:pPr>
                      <a:r>
                        <a:rPr lang="en-GB" sz="900" b="1" dirty="0">
                          <a:solidFill>
                            <a:srgbClr val="FFFFFF"/>
                          </a:solidFill>
                          <a:latin typeface="Arial"/>
                          <a:ea typeface="Arial"/>
                          <a:cs typeface="Arial"/>
                          <a:sym typeface="Arial"/>
                        </a:rPr>
                        <a:t>What we measured</a:t>
                      </a:r>
                      <a:endParaRPr lang="en-GB" sz="900" dirty="0"/>
                    </a:p>
                  </a:txBody>
                  <a:tcPr marL="64008" marR="64008" marT="41148" marB="41148" anchor="ctr">
                    <a:lnL w="0">
                      <a:noFill/>
                    </a:lnL>
                    <a:lnR w="0">
                      <a:noFill/>
                    </a:lnR>
                    <a:lnT w="0">
                      <a:noFill/>
                    </a:lnT>
                    <a:lnB w="9525">
                      <a:solidFill>
                        <a:srgbClr val="D3DCD0"/>
                      </a:solidFill>
                    </a:lnB>
                    <a:solidFill>
                      <a:srgbClr val="14513A"/>
                    </a:solidFill>
                  </a:tcPr>
                </a:tc>
                <a:tc>
                  <a:txBody>
                    <a:bodyPr/>
                    <a:lstStyle/>
                    <a:p>
                      <a:pPr algn="l" marL="0" indent="0" rtl="0">
                        <a:spcBef>
                          <a:spcPts val="0"/>
                        </a:spcBef>
                        <a:spcAft>
                          <a:spcPts val="0"/>
                        </a:spcAft>
                        <a:buNone/>
                      </a:pPr>
                      <a:r>
                        <a:rPr lang="en-GB" sz="900" b="1" dirty="0">
                          <a:solidFill>
                            <a:srgbClr val="FFFFFF"/>
                          </a:solidFill>
                          <a:latin typeface="Arial"/>
                          <a:ea typeface="Arial"/>
                          <a:cs typeface="Arial"/>
                          <a:sym typeface="Arial"/>
                        </a:rPr>
                        <a:t>How</a:t>
                      </a:r>
                      <a:endParaRPr lang="en-GB" sz="900" dirty="0"/>
                    </a:p>
                  </a:txBody>
                  <a:tcPr marL="64008" marR="64008" marT="41148" marB="41148" anchor="ctr">
                    <a:lnL w="0">
                      <a:noFill/>
                    </a:lnL>
                    <a:lnR w="0">
                      <a:noFill/>
                    </a:lnR>
                    <a:lnT w="0">
                      <a:noFill/>
                    </a:lnT>
                    <a:lnB w="9525">
                      <a:solidFill>
                        <a:srgbClr val="D3DCD0"/>
                      </a:solidFill>
                    </a:lnB>
                    <a:solidFill>
                      <a:srgbClr val="14513A"/>
                    </a:solidFill>
                  </a:tcPr>
                </a:tc>
                <a:tc>
                  <a:txBody>
                    <a:bodyPr/>
                    <a:lstStyle/>
                    <a:p>
                      <a:pPr algn="l" marL="0" indent="0" rtl="0">
                        <a:spcBef>
                          <a:spcPts val="0"/>
                        </a:spcBef>
                        <a:spcAft>
                          <a:spcPts val="0"/>
                        </a:spcAft>
                        <a:buNone/>
                      </a:pPr>
                      <a:r>
                        <a:rPr lang="en-GB" sz="900" b="1" dirty="0">
                          <a:solidFill>
                            <a:srgbClr val="FFFFFF"/>
                          </a:solidFill>
                          <a:latin typeface="Arial"/>
                          <a:ea typeface="Arial"/>
                          <a:cs typeface="Arial"/>
                          <a:sym typeface="Arial"/>
                        </a:rPr>
                        <a:t>Result</a:t>
                      </a:r>
                      <a:endParaRPr lang="en-GB" sz="900" dirty="0"/>
                    </a:p>
                  </a:txBody>
                  <a:tcPr marL="64008" marR="64008" marT="41148" marB="41148" anchor="ctr">
                    <a:lnL w="0">
                      <a:noFill/>
                    </a:lnL>
                    <a:lnR w="0">
                      <a:noFill/>
                    </a:lnR>
                    <a:lnT w="0">
                      <a:noFill/>
                    </a:lnT>
                    <a:lnB w="9525">
                      <a:solidFill>
                        <a:srgbClr val="D3DCD0"/>
                      </a:solidFill>
                    </a:lnB>
                    <a:solidFill>
                      <a:srgbClr val="14513A"/>
                    </a:solidFill>
                  </a:tcPr>
                </a:tc>
              </a:tr>
              <a:tr h="349758">
                <a:tc>
                  <a:txBody>
                    <a:bodyPr/>
                    <a:lstStyle/>
                    <a:p>
                      <a:pPr algn="l" marL="0" indent="0" rtl="0">
                        <a:spcBef>
                          <a:spcPts val="0"/>
                        </a:spcBef>
                        <a:spcAft>
                          <a:spcPts val="0"/>
                        </a:spcAft>
                        <a:buNone/>
                      </a:pPr>
                      <a:r>
                        <a:rPr lang="en-GB" sz="900" b="1" dirty="0">
                          <a:solidFill>
                            <a:srgbClr val="15231B"/>
                          </a:solidFill>
                          <a:latin typeface="Arial"/>
                          <a:ea typeface="Arial"/>
                          <a:cs typeface="Arial"/>
                          <a:sym typeface="Arial"/>
                        </a:rPr>
                        <a:t>Rules engine</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434 tests: area 10% or 0.1 ha, expiry 90 days, name match 0.85, confidence 0.7</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pass</a:t>
                      </a:r>
                      <a:endParaRPr lang="en-GB" sz="900" dirty="0"/>
                    </a:p>
                  </a:txBody>
                  <a:tcPr marL="64008" marR="64008" marT="41148" marB="41148" anchor="ctr">
                    <a:lnL w="0">
                      <a:noFill/>
                    </a:lnL>
                    <a:lnR w="0">
                      <a:noFill/>
                    </a:lnR>
                    <a:lnT w="0">
                      <a:noFill/>
                    </a:lnT>
                    <a:lnB w="9525">
                      <a:solidFill>
                        <a:srgbClr val="D3DCD0"/>
                      </a:solidFill>
                    </a:lnB>
                    <a:noFill/>
                  </a:tcPr>
                </a:tc>
              </a:tr>
              <a:tr h="349758">
                <a:tc>
                  <a:txBody>
                    <a:bodyPr/>
                    <a:lstStyle/>
                    <a:p>
                      <a:pPr algn="l" marL="0" indent="0" rtl="0">
                        <a:spcBef>
                          <a:spcPts val="0"/>
                        </a:spcBef>
                        <a:spcAft>
                          <a:spcPts val="0"/>
                        </a:spcAft>
                        <a:buNone/>
                      </a:pPr>
                      <a:r>
                        <a:rPr lang="en-GB" sz="900" b="1" dirty="0">
                          <a:solidFill>
                            <a:srgbClr val="15231B"/>
                          </a:solidFill>
                          <a:latin typeface="Arial"/>
                          <a:ea typeface="Arial"/>
                          <a:cs typeface="Arial"/>
                          <a:sym typeface="Arial"/>
                        </a:rPr>
                        <a:t>AI pipeline</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295 tests: quota retry, back-off, model fallback, a failed step degrades to review</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pass</a:t>
                      </a:r>
                      <a:endParaRPr lang="en-GB" sz="900" dirty="0"/>
                    </a:p>
                  </a:txBody>
                  <a:tcPr marL="64008" marR="64008" marT="41148" marB="41148" anchor="ctr">
                    <a:lnL w="0">
                      <a:noFill/>
                    </a:lnL>
                    <a:lnR w="0">
                      <a:noFill/>
                    </a:lnR>
                    <a:lnT w="0">
                      <a:noFill/>
                    </a:lnT>
                    <a:lnB w="9525">
                      <a:solidFill>
                        <a:srgbClr val="D3DCD0"/>
                      </a:solidFill>
                    </a:lnB>
                    <a:noFill/>
                  </a:tcPr>
                </a:tc>
              </a:tr>
              <a:tr h="349758">
                <a:tc>
                  <a:txBody>
                    <a:bodyPr/>
                    <a:lstStyle/>
                    <a:p>
                      <a:pPr algn="l" marL="0" indent="0" rtl="0">
                        <a:spcBef>
                          <a:spcPts val="0"/>
                        </a:spcBef>
                        <a:spcAft>
                          <a:spcPts val="0"/>
                        </a:spcAft>
                        <a:buNone/>
                      </a:pPr>
                      <a:r>
                        <a:rPr lang="en-GB" sz="900" b="1" dirty="0">
                          <a:solidFill>
                            <a:srgbClr val="15231B"/>
                          </a:solidFill>
                          <a:latin typeface="Arial"/>
                          <a:ea typeface="Arial"/>
                          <a:cs typeface="Arial"/>
                          <a:sym typeface="Arial"/>
                        </a:rPr>
                        <a:t>API</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118 tests: sign-in, roles (cooperative admin read-only), signed URLs, assess, delete, voice</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pass</a:t>
                      </a:r>
                      <a:endParaRPr lang="en-GB" sz="900" dirty="0"/>
                    </a:p>
                  </a:txBody>
                  <a:tcPr marL="64008" marR="64008" marT="41148" marB="41148" anchor="ctr">
                    <a:lnL w="0">
                      <a:noFill/>
                    </a:lnL>
                    <a:lnR w="0">
                      <a:noFill/>
                    </a:lnR>
                    <a:lnT w="0">
                      <a:noFill/>
                    </a:lnT>
                    <a:lnB w="9525">
                      <a:solidFill>
                        <a:srgbClr val="D3DCD0"/>
                      </a:solidFill>
                    </a:lnB>
                    <a:noFill/>
                  </a:tcPr>
                </a:tc>
              </a:tr>
              <a:tr h="349758">
                <a:tc>
                  <a:txBody>
                    <a:bodyPr/>
                    <a:lstStyle/>
                    <a:p>
                      <a:pPr algn="l" marL="0" indent="0" rtl="0">
                        <a:spcBef>
                          <a:spcPts val="0"/>
                        </a:spcBef>
                        <a:spcAft>
                          <a:spcPts val="0"/>
                        </a:spcAft>
                        <a:buNone/>
                      </a:pPr>
                      <a:r>
                        <a:rPr lang="en-GB" sz="900" b="1" dirty="0">
                          <a:solidFill>
                            <a:srgbClr val="15231B"/>
                          </a:solidFill>
                          <a:latin typeface="Arial"/>
                          <a:ea typeface="Arial"/>
                          <a:cs typeface="Arial"/>
                          <a:sym typeface="Arial"/>
                        </a:rPr>
                        <a:t>Front end</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993 tests; browser code has no Firestore writes; production bundle has no emulator traces</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pass</a:t>
                      </a:r>
                      <a:endParaRPr lang="en-GB" sz="900" dirty="0"/>
                    </a:p>
                  </a:txBody>
                  <a:tcPr marL="64008" marR="64008" marT="41148" marB="41148" anchor="ctr">
                    <a:lnL w="0">
                      <a:noFill/>
                    </a:lnL>
                    <a:lnR w="0">
                      <a:noFill/>
                    </a:lnR>
                    <a:lnT w="0">
                      <a:noFill/>
                    </a:lnT>
                    <a:lnB w="9525">
                      <a:solidFill>
                        <a:srgbClr val="D3DCD0"/>
                      </a:solidFill>
                    </a:lnB>
                    <a:noFill/>
                  </a:tcPr>
                </a:tc>
              </a:tr>
              <a:tr h="216027">
                <a:tc>
                  <a:txBody>
                    <a:bodyPr/>
                    <a:lstStyle/>
                    <a:p>
                      <a:pPr algn="l" marL="0" indent="0" rtl="0">
                        <a:spcBef>
                          <a:spcPts val="0"/>
                        </a:spcBef>
                        <a:spcAft>
                          <a:spcPts val="0"/>
                        </a:spcAft>
                        <a:buNone/>
                      </a:pPr>
                      <a:r>
                        <a:rPr lang="en-GB" sz="900" b="1" dirty="0">
                          <a:solidFill>
                            <a:srgbClr val="15231B"/>
                          </a:solidFill>
                          <a:latin typeface="Arial"/>
                          <a:ea typeface="Arial"/>
                          <a:cs typeface="Arial"/>
                          <a:sym typeface="Arial"/>
                        </a:rPr>
                        <a:t>Phone app weight</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Production build, initial load: 485 kB raw, about 129 kB compressed</a:t>
                      </a:r>
                      <a:endParaRPr lang="en-GB" sz="900" dirty="0"/>
                    </a:p>
                  </a:txBody>
                  <a:tcPr marL="64008" marR="64008" marT="41148" marB="41148"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900" b="0" dirty="0">
                          <a:solidFill>
                            <a:srgbClr val="15231B"/>
                          </a:solidFill>
                          <a:latin typeface="Arial"/>
                          <a:ea typeface="Arial"/>
                          <a:cs typeface="Arial"/>
                          <a:sym typeface="Arial"/>
                        </a:rPr>
                        <a:t>measured</a:t>
                      </a:r>
                      <a:endParaRPr lang="en-GB" sz="900" dirty="0"/>
                    </a:p>
                  </a:txBody>
                  <a:tcPr marL="64008" marR="64008" marT="41148" marB="41148" anchor="ctr">
                    <a:lnL w="0">
                      <a:noFill/>
                    </a:lnL>
                    <a:lnR w="0">
                      <a:noFill/>
                    </a:lnR>
                    <a:lnT w="0">
                      <a:noFill/>
                    </a:lnT>
                    <a:lnB w="9525">
                      <a:solidFill>
                        <a:srgbClr val="D3DCD0"/>
                      </a:solidFill>
                    </a:lnB>
                    <a:noFill/>
                  </a:tcPr>
                </a:tc>
              </a:tr>
            </a:tbl>
          </a:graphicData>
        </a:graphic>
      </p:graphicFrame>
      <p:sp>
        <p:nvSpPr>
          <p:cNvPr id="159" name="Limits card"/>
          <p:cNvSpPr/>
          <p:nvPr/>
        </p:nvSpPr>
        <p:spPr>
          <a:xfrm>
            <a:off x="6199632" y="2606040"/>
            <a:ext cx="2670048" cy="2313432"/>
          </a:xfrm>
          <a:prstGeom prst="roundRect">
            <a:avLst>
              <a:gd name="adj" fmla="val 3557"/>
            </a:avLst>
          </a:prstGeom>
          <a:solidFill>
            <a:srgbClr val="F8F3E8"/>
          </a:solidFill>
          <a:ln w="12700">
            <a:solidFill>
              <a:srgbClr val="B8861A"/>
            </a:solidFill>
          </a:ln>
        </p:spPr>
      </p:sp>
      <p:sp>
        <p:nvSpPr>
          <p:cNvPr id="160" name="Limits title"/>
          <p:cNvSpPr txBox="1"/>
          <p:nvPr/>
        </p:nvSpPr>
        <p:spPr>
          <a:xfrm>
            <a:off x="6345936" y="2679192"/>
            <a:ext cx="2395728" cy="21945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150" b="1" dirty="0">
                <a:solidFill>
                  <a:srgbClr val="7A5A0C"/>
                </a:solidFill>
                <a:latin typeface="Arial"/>
                <a:ea typeface="Arial"/>
                <a:cs typeface="Arial"/>
                <a:sym typeface="Arial"/>
              </a:rPr>
              <a:t>Known limits</a:t>
            </a:r>
            <a:endParaRPr lang="en-GB" sz="1150" dirty="0"/>
          </a:p>
        </p:txBody>
      </p:sp>
      <p:sp>
        <p:nvSpPr>
          <p:cNvPr id="161" name="Limits list"/>
          <p:cNvSpPr txBox="1"/>
          <p:nvPr/>
        </p:nvSpPr>
        <p:spPr>
          <a:xfrm>
            <a:off x="6345936" y="2935224"/>
            <a:ext cx="2395728" cy="1947672"/>
          </a:xfrm>
          <a:prstGeom prst="rect">
            <a:avLst/>
          </a:prstGeom>
          <a:noFill/>
          <a:ln>
            <a:noFill/>
          </a:ln>
        </p:spPr>
        <p:txBody>
          <a:bodyPr wrap="square" lIns="0" tIns="0" rIns="0" bIns="0" rtlCol="0" anchor="t">
            <a:noAutofit/>
          </a:bodyPr>
          <a:lstStyle/>
          <a:p>
            <a:pPr algn="l" marL="118872" indent="-118872" rtl="0">
              <a:spcBef>
                <a:spcPts val="0"/>
              </a:spcBef>
              <a:spcAft>
                <a:spcPts val="300"/>
              </a:spcAft>
              <a:buClr>
                <a:srgbClr val="7A5A0C"/>
              </a:buClr>
              <a:buSzPct val="100000"/>
              <a:buFont typeface="Arial"/>
              <a:buChar char="•"/>
            </a:pPr>
            <a:r>
              <a:rPr lang="en-GB" sz="900" b="0" dirty="0">
                <a:solidFill>
                  <a:srgbClr val="15231B"/>
                </a:solidFill>
                <a:latin typeface="Arial"/>
                <a:ea typeface="Arial"/>
                <a:cs typeface="Arial"/>
                <a:sym typeface="Arial"/>
              </a:rPr>
              <a:t>Free-tier Gemini allows 5 requests a minute per model, so back-to-back checks slow down.</a:t>
            </a:r>
            <a:endParaRPr lang="en-GB" sz="900" dirty="0"/>
          </a:p>
          <a:p>
            <a:pPr algn="l" marL="118872" indent="-118872" rtl="0">
              <a:spcBef>
                <a:spcPts val="0"/>
              </a:spcBef>
              <a:spcAft>
                <a:spcPts val="300"/>
              </a:spcAft>
              <a:buClr>
                <a:srgbClr val="7A5A0C"/>
              </a:buClr>
              <a:buSzPct val="100000"/>
              <a:buFont typeface="Arial"/>
              <a:buChar char="•"/>
            </a:pPr>
            <a:r>
              <a:rPr lang="en-GB" sz="900" b="0" dirty="0">
                <a:solidFill>
                  <a:srgbClr val="15231B"/>
                </a:solidFill>
                <a:latin typeface="Arial"/>
                <a:ea typeface="Arial"/>
                <a:cs typeface="Arial"/>
                <a:sym typeface="Arial"/>
              </a:rPr>
              <a:t>Forest data are public global datasets: a preliminary screening; small plots can be misjudged.</a:t>
            </a:r>
            <a:endParaRPr lang="en-GB" sz="900" dirty="0"/>
          </a:p>
          <a:p>
            <a:pPr algn="l" marL="118872" indent="-118872" rtl="0">
              <a:spcBef>
                <a:spcPts val="0"/>
              </a:spcBef>
              <a:spcAft>
                <a:spcPts val="300"/>
              </a:spcAft>
              <a:buClr>
                <a:srgbClr val="7A5A0C"/>
              </a:buClr>
              <a:buSzPct val="100000"/>
              <a:buFont typeface="Arial"/>
              <a:buChar char="•"/>
            </a:pPr>
            <a:r>
              <a:rPr lang="en-GB" sz="900" b="0" dirty="0">
                <a:solidFill>
                  <a:srgbClr val="15231B"/>
                </a:solidFill>
                <a:latin typeface="Arial"/>
                <a:ea typeface="Arial"/>
                <a:cs typeface="Arial"/>
                <a:sym typeface="Arial"/>
              </a:rPr>
              <a:t>Seeded demo plots carry pre-computed forest values, labelled as such.</a:t>
            </a:r>
            <a:endParaRPr lang="en-GB" sz="900" dirty="0"/>
          </a:p>
          <a:p>
            <a:pPr algn="l" marL="118872" indent="-118872" rtl="0">
              <a:spcBef>
                <a:spcPts val="0"/>
              </a:spcBef>
              <a:spcAft>
                <a:spcPts val="300"/>
              </a:spcAft>
              <a:buClr>
                <a:srgbClr val="7A5A0C"/>
              </a:buClr>
              <a:buSzPct val="100000"/>
              <a:buFont typeface="Arial"/>
              <a:buChar char="•"/>
            </a:pPr>
            <a:r>
              <a:rPr lang="en-GB" sz="900" b="0" dirty="0">
                <a:solidFill>
                  <a:srgbClr val="15231B"/>
                </a:solidFill>
                <a:latin typeface="Arial"/>
                <a:ea typeface="Arial"/>
                <a:cs typeface="Arial"/>
                <a:sym typeface="Arial"/>
              </a:rPr>
              <a:t>The satellite map needs signal; walking the corners and one-point entry work offline.</a:t>
            </a:r>
            <a:endParaRPr lang="en-GB" sz="900" dirty="0"/>
          </a:p>
        </p:txBody>
      </p:sp>
      <p:sp>
        <p:nvSpPr>
          <p:cNvPr id="162" name="Perf footnote"/>
          <p:cNvSpPr txBox="1"/>
          <p:nvPr/>
        </p:nvSpPr>
        <p:spPr>
          <a:xfrm>
            <a:off x="274320" y="4681728"/>
            <a:ext cx="5760720" cy="182880"/>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800" b="0" dirty="0">
                <a:solidFill>
                  <a:srgbClr val="56655B"/>
                </a:solidFill>
                <a:latin typeface="Arial"/>
                <a:ea typeface="Arial"/>
                <a:cs typeface="Arial"/>
                <a:sym typeface="Arial"/>
              </a:rPr>
              <a:t>Run on 18 Oct 2026, commit c9e762c. Gemini accuracy: team smoke test (scripts/gemini_smoke.py).</a:t>
            </a:r>
            <a:endParaRPr lang="en-GB" sz="800" dirty="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Additional Details/Future Development (if any)</a:t>
            </a:r>
            <a:endParaRPr lang="en-GB" sz="1200" dirty="0"/>
          </a:p>
        </p:txBody>
      </p:sp>
      <p:sp>
        <p:nvSpPr>
          <p:cNvPr id="153"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900" b="1" dirty="0">
                <a:solidFill>
                  <a:srgbClr val="0D3B29"/>
                </a:solidFill>
                <a:latin typeface="Arial"/>
                <a:ea typeface="Arial"/>
                <a:cs typeface="Arial"/>
                <a:sym typeface="Arial"/>
              </a:rPr>
              <a:t>Free for smallholders; those who carry the EUDR duty pay</a:t>
            </a:r>
            <a:endParaRPr lang="en-GB" sz="1900" dirty="0"/>
          </a:p>
        </p:txBody>
      </p:sp>
      <p:sp>
        <p:nvSpPr>
          <p:cNvPr id="154" name="Business title"/>
          <p:cNvSpPr txBox="1"/>
          <p:nvPr/>
        </p:nvSpPr>
        <p:spPr>
          <a:xfrm>
            <a:off x="274320" y="1298448"/>
            <a:ext cx="521208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14513A"/>
                </a:solidFill>
                <a:latin typeface="Arial"/>
                <a:ea typeface="Arial"/>
                <a:cs typeface="Arial"/>
                <a:sym typeface="Arial"/>
              </a:rPr>
              <a:t>Business model</a:t>
            </a:r>
            <a:endParaRPr lang="en-GB" sz="1200" dirty="0"/>
          </a:p>
        </p:txBody>
      </p:sp>
      <p:graphicFrame>
        <p:nvGraphicFramePr>
          <p:cNvPr id="155" name="Business table"/>
          <p:cNvGraphicFramePr>
            <a:graphicFrameLocks noGrp="1"/>
          </p:cNvGraphicFramePr>
          <p:nvPr/>
        </p:nvGraphicFramePr>
        <p:xfrm>
          <a:off x="274320" y="1609344"/>
          <a:ext cx="5303520" cy="2082546"/>
        </p:xfrm>
        <a:graphic>
          <a:graphicData uri="http://schemas.openxmlformats.org/drawingml/2006/table">
            <a:tbl>
              <a:tblPr firstRow="1"/>
              <a:tblGrid>
                <a:gridCol w="1600200"/>
                <a:gridCol w="1691640"/>
                <a:gridCol w="2011680"/>
              </a:tblGrid>
              <a:tr h="285750">
                <a:tc>
                  <a:txBody>
                    <a:bodyPr/>
                    <a:lstStyle/>
                    <a:p>
                      <a:pPr algn="l" marL="0" indent="0" rtl="0">
                        <a:spcBef>
                          <a:spcPts val="0"/>
                        </a:spcBef>
                        <a:spcAft>
                          <a:spcPts val="0"/>
                        </a:spcAft>
                        <a:buNone/>
                      </a:pPr>
                      <a:r>
                        <a:rPr lang="en-GB" sz="1000" b="1" dirty="0">
                          <a:solidFill>
                            <a:srgbClr val="FFFFFF"/>
                          </a:solidFill>
                          <a:latin typeface="Arial"/>
                          <a:ea typeface="Arial"/>
                          <a:cs typeface="Arial"/>
                          <a:sym typeface="Arial"/>
                        </a:rPr>
                        <a:t>Who pays</a:t>
                      </a:r>
                      <a:endParaRPr lang="en-GB" sz="1000" dirty="0"/>
                    </a:p>
                  </a:txBody>
                  <a:tcPr marL="73152" marR="73152" marT="68580" marB="68580" anchor="ctr">
                    <a:lnL w="0">
                      <a:noFill/>
                    </a:lnL>
                    <a:lnR w="0">
                      <a:noFill/>
                    </a:lnR>
                    <a:lnT w="0">
                      <a:noFill/>
                    </a:lnT>
                    <a:lnB w="9525">
                      <a:solidFill>
                        <a:srgbClr val="D3DCD0"/>
                      </a:solidFill>
                    </a:lnB>
                    <a:solidFill>
                      <a:srgbClr val="14513A"/>
                    </a:solidFill>
                  </a:tcPr>
                </a:tc>
                <a:tc>
                  <a:txBody>
                    <a:bodyPr/>
                    <a:lstStyle/>
                    <a:p>
                      <a:pPr algn="l" marL="0" indent="0" rtl="0">
                        <a:spcBef>
                          <a:spcPts val="0"/>
                        </a:spcBef>
                        <a:spcAft>
                          <a:spcPts val="0"/>
                        </a:spcAft>
                        <a:buNone/>
                      </a:pPr>
                      <a:r>
                        <a:rPr lang="en-GB" sz="1000" b="1" dirty="0">
                          <a:solidFill>
                            <a:srgbClr val="FFFFFF"/>
                          </a:solidFill>
                          <a:latin typeface="Arial"/>
                          <a:ea typeface="Arial"/>
                          <a:cs typeface="Arial"/>
                          <a:sym typeface="Arial"/>
                        </a:rPr>
                        <a:t>How</a:t>
                      </a:r>
                      <a:endParaRPr lang="en-GB" sz="1000" dirty="0"/>
                    </a:p>
                  </a:txBody>
                  <a:tcPr marL="73152" marR="73152" marT="68580" marB="68580" anchor="ctr">
                    <a:lnL w="0">
                      <a:noFill/>
                    </a:lnL>
                    <a:lnR w="0">
                      <a:noFill/>
                    </a:lnR>
                    <a:lnT w="0">
                      <a:noFill/>
                    </a:lnT>
                    <a:lnB w="9525">
                      <a:solidFill>
                        <a:srgbClr val="D3DCD0"/>
                      </a:solidFill>
                    </a:lnB>
                    <a:solidFill>
                      <a:srgbClr val="14513A"/>
                    </a:solidFill>
                  </a:tcPr>
                </a:tc>
                <a:tc>
                  <a:txBody>
                    <a:bodyPr/>
                    <a:lstStyle/>
                    <a:p>
                      <a:pPr algn="l" marL="0" indent="0" rtl="0">
                        <a:spcBef>
                          <a:spcPts val="0"/>
                        </a:spcBef>
                        <a:spcAft>
                          <a:spcPts val="0"/>
                        </a:spcAft>
                        <a:buNone/>
                      </a:pPr>
                      <a:r>
                        <a:rPr lang="en-GB" sz="1000" b="1" dirty="0">
                          <a:solidFill>
                            <a:srgbClr val="FFFFFF"/>
                          </a:solidFill>
                          <a:latin typeface="Arial"/>
                          <a:ea typeface="Arial"/>
                          <a:cs typeface="Arial"/>
                          <a:sym typeface="Arial"/>
                        </a:rPr>
                        <a:t>What they get</a:t>
                      </a:r>
                      <a:endParaRPr lang="en-GB" sz="1000" dirty="0"/>
                    </a:p>
                  </a:txBody>
                  <a:tcPr marL="73152" marR="73152" marT="68580" marB="68580" anchor="ctr">
                    <a:lnL w="0">
                      <a:noFill/>
                    </a:lnL>
                    <a:lnR w="0">
                      <a:noFill/>
                    </a:lnR>
                    <a:lnT w="0">
                      <a:noFill/>
                    </a:lnT>
                    <a:lnB w="9525">
                      <a:solidFill>
                        <a:srgbClr val="D3DCD0"/>
                      </a:solidFill>
                    </a:lnB>
                    <a:solidFill>
                      <a:srgbClr val="14513A"/>
                    </a:solidFill>
                  </a:tcPr>
                </a:tc>
              </a:tr>
              <a:tr h="449199">
                <a:tc>
                  <a:txBody>
                    <a:bodyPr/>
                    <a:lstStyle/>
                    <a:p>
                      <a:pPr algn="l" marL="0" indent="0" rtl="0">
                        <a:spcBef>
                          <a:spcPts val="0"/>
                        </a:spcBef>
                        <a:spcAft>
                          <a:spcPts val="0"/>
                        </a:spcAft>
                        <a:buNone/>
                      </a:pPr>
                      <a:r>
                        <a:rPr lang="en-GB" sz="1050" b="1" dirty="0">
                          <a:solidFill>
                            <a:srgbClr val="15231B"/>
                          </a:solidFill>
                          <a:latin typeface="Arial"/>
                          <a:ea typeface="Arial"/>
                          <a:cs typeface="Arial"/>
                          <a:sym typeface="Arial"/>
                        </a:rPr>
                        <a:t>Cooperatives</a:t>
                      </a:r>
                      <a:endParaRPr lang="en-GB" sz="1050" dirty="0"/>
                    </a:p>
                  </a:txBody>
                  <a:tcPr marL="73152" marR="73152" marT="68580" marB="68580"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1050" b="0" dirty="0">
                          <a:solidFill>
                            <a:srgbClr val="15231B"/>
                          </a:solidFill>
                          <a:latin typeface="Arial"/>
                          <a:ea typeface="Arial"/>
                          <a:cs typeface="Arial"/>
                          <a:sym typeface="Arial"/>
                        </a:rPr>
                        <a:t>Annual fee per member plot</a:t>
                      </a:r>
                      <a:endParaRPr lang="en-GB" sz="1050" dirty="0"/>
                    </a:p>
                  </a:txBody>
                  <a:tcPr marL="73152" marR="73152" marT="68580" marB="68580"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1050" b="0" dirty="0">
                          <a:solidFill>
                            <a:srgbClr val="15231B"/>
                          </a:solidFill>
                          <a:latin typeface="Arial"/>
                          <a:ea typeface="Arial"/>
                          <a:cs typeface="Arial"/>
                          <a:sym typeface="Arial"/>
                        </a:rPr>
                        <a:t>All members' compliance in one place; dossiers for buyers</a:t>
                      </a:r>
                      <a:endParaRPr lang="en-GB" sz="1050" dirty="0"/>
                    </a:p>
                  </a:txBody>
                  <a:tcPr marL="73152" marR="73152" marT="68580" marB="68580" anchor="ctr">
                    <a:lnL w="0">
                      <a:noFill/>
                    </a:lnL>
                    <a:lnR w="0">
                      <a:noFill/>
                    </a:lnR>
                    <a:lnT w="0">
                      <a:noFill/>
                    </a:lnT>
                    <a:lnB w="9525">
                      <a:solidFill>
                        <a:srgbClr val="D3DCD0"/>
                      </a:solidFill>
                    </a:lnB>
                    <a:noFill/>
                  </a:tcPr>
                </a:tc>
              </a:tr>
              <a:tr h="449199">
                <a:tc>
                  <a:txBody>
                    <a:bodyPr/>
                    <a:lstStyle/>
                    <a:p>
                      <a:pPr algn="l" marL="0" indent="0" rtl="0">
                        <a:spcBef>
                          <a:spcPts val="0"/>
                        </a:spcBef>
                        <a:spcAft>
                          <a:spcPts val="0"/>
                        </a:spcAft>
                        <a:buNone/>
                      </a:pPr>
                      <a:r>
                        <a:rPr lang="en-GB" sz="1050" b="1" dirty="0">
                          <a:solidFill>
                            <a:srgbClr val="15231B"/>
                          </a:solidFill>
                          <a:latin typeface="Arial"/>
                          <a:ea typeface="Arial"/>
                          <a:cs typeface="Arial"/>
                          <a:sym typeface="Arial"/>
                        </a:rPr>
                        <a:t>Mills and dealers</a:t>
                      </a:r>
                      <a:endParaRPr lang="en-GB" sz="1050" dirty="0"/>
                    </a:p>
                  </a:txBody>
                  <a:tcPr marL="73152" marR="73152" marT="68580" marB="68580"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1050" b="0" dirty="0">
                          <a:solidFill>
                            <a:srgbClr val="15231B"/>
                          </a:solidFill>
                          <a:latin typeface="Arial"/>
                          <a:ea typeface="Arial"/>
                          <a:cs typeface="Arial"/>
                          <a:sym typeface="Arial"/>
                        </a:rPr>
                        <a:t>Subscription by fruit volume or supplier plots</a:t>
                      </a:r>
                      <a:endParaRPr lang="en-GB" sz="1050" dirty="0"/>
                    </a:p>
                  </a:txBody>
                  <a:tcPr marL="73152" marR="73152" marT="68580" marB="68580"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1050" b="0" dirty="0">
                          <a:solidFill>
                            <a:srgbClr val="15231B"/>
                          </a:solidFill>
                          <a:latin typeface="Arial"/>
                          <a:ea typeface="Arial"/>
                          <a:cs typeface="Arial"/>
                          <a:sym typeface="Arial"/>
                        </a:rPr>
                        <a:t>Traceable fruit, fewer rejections by EU buyers</a:t>
                      </a:r>
                      <a:endParaRPr lang="en-GB" sz="1050" dirty="0"/>
                    </a:p>
                  </a:txBody>
                  <a:tcPr marL="73152" marR="73152" marT="68580" marB="68580" anchor="ctr">
                    <a:lnL w="0">
                      <a:noFill/>
                    </a:lnL>
                    <a:lnR w="0">
                      <a:noFill/>
                    </a:lnR>
                    <a:lnT w="0">
                      <a:noFill/>
                    </a:lnT>
                    <a:lnB w="9525">
                      <a:solidFill>
                        <a:srgbClr val="D3DCD0"/>
                      </a:solidFill>
                    </a:lnB>
                    <a:noFill/>
                  </a:tcPr>
                </a:tc>
              </a:tr>
              <a:tr h="449199">
                <a:tc>
                  <a:txBody>
                    <a:bodyPr/>
                    <a:lstStyle/>
                    <a:p>
                      <a:pPr algn="l" marL="0" indent="0" rtl="0">
                        <a:spcBef>
                          <a:spcPts val="0"/>
                        </a:spcBef>
                        <a:spcAft>
                          <a:spcPts val="0"/>
                        </a:spcAft>
                        <a:buNone/>
                      </a:pPr>
                      <a:r>
                        <a:rPr lang="en-GB" sz="1050" b="1" dirty="0">
                          <a:solidFill>
                            <a:srgbClr val="15231B"/>
                          </a:solidFill>
                          <a:latin typeface="Arial"/>
                          <a:ea typeface="Arial"/>
                          <a:cs typeface="Arial"/>
                          <a:sym typeface="Arial"/>
                        </a:rPr>
                        <a:t>Exporters and EU buyers</a:t>
                      </a:r>
                      <a:endParaRPr lang="en-GB" sz="1050" dirty="0"/>
                    </a:p>
                  </a:txBody>
                  <a:tcPr marL="73152" marR="73152" marT="68580" marB="68580"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1050" b="0" dirty="0">
                          <a:solidFill>
                            <a:srgbClr val="15231B"/>
                          </a:solidFill>
                          <a:latin typeface="Arial"/>
                          <a:ea typeface="Arial"/>
                          <a:cs typeface="Arial"/>
                          <a:sym typeface="Arial"/>
                        </a:rPr>
                        <a:t>API access fee</a:t>
                      </a:r>
                      <a:endParaRPr lang="en-GB" sz="1050" dirty="0"/>
                    </a:p>
                  </a:txBody>
                  <a:tcPr marL="73152" marR="73152" marT="68580" marB="68580"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1050" b="0" dirty="0">
                          <a:solidFill>
                            <a:srgbClr val="15231B"/>
                          </a:solidFill>
                          <a:latin typeface="Arial"/>
                          <a:ea typeface="Arial"/>
                          <a:cs typeface="Arial"/>
                          <a:sym typeface="Arial"/>
                        </a:rPr>
                        <a:t>Upstream compliance dossiers delivered directly</a:t>
                      </a:r>
                      <a:endParaRPr lang="en-GB" sz="1050" dirty="0"/>
                    </a:p>
                  </a:txBody>
                  <a:tcPr marL="73152" marR="73152" marT="68580" marB="68580" anchor="ctr">
                    <a:lnL w="0">
                      <a:noFill/>
                    </a:lnL>
                    <a:lnR w="0">
                      <a:noFill/>
                    </a:lnR>
                    <a:lnT w="0">
                      <a:noFill/>
                    </a:lnT>
                    <a:lnB w="9525">
                      <a:solidFill>
                        <a:srgbClr val="D3DCD0"/>
                      </a:solidFill>
                    </a:lnB>
                    <a:noFill/>
                  </a:tcPr>
                </a:tc>
              </a:tr>
              <a:tr h="449199">
                <a:tc>
                  <a:txBody>
                    <a:bodyPr/>
                    <a:lstStyle/>
                    <a:p>
                      <a:pPr algn="l" marL="0" indent="0" rtl="0">
                        <a:spcBef>
                          <a:spcPts val="0"/>
                        </a:spcBef>
                        <a:spcAft>
                          <a:spcPts val="0"/>
                        </a:spcAft>
                        <a:buNone/>
                      </a:pPr>
                      <a:r>
                        <a:rPr lang="en-GB" sz="1050" b="1" dirty="0">
                          <a:solidFill>
                            <a:srgbClr val="15231B"/>
                          </a:solidFill>
                          <a:latin typeface="Arial"/>
                          <a:ea typeface="Arial"/>
                          <a:cs typeface="Arial"/>
                          <a:sym typeface="Arial"/>
                        </a:rPr>
                        <a:t>Government and NGO programmes</a:t>
                      </a:r>
                      <a:endParaRPr lang="en-GB" sz="1050" dirty="0"/>
                    </a:p>
                  </a:txBody>
                  <a:tcPr marL="73152" marR="73152" marT="68580" marB="68580"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1050" b="0" dirty="0">
                          <a:solidFill>
                            <a:srgbClr val="15231B"/>
                          </a:solidFill>
                          <a:latin typeface="Arial"/>
                          <a:ea typeface="Arial"/>
                          <a:cs typeface="Arial"/>
                          <a:sym typeface="Arial"/>
                        </a:rPr>
                        <a:t>Project partnerships</a:t>
                      </a:r>
                      <a:endParaRPr lang="en-GB" sz="1050" dirty="0"/>
                    </a:p>
                  </a:txBody>
                  <a:tcPr marL="73152" marR="73152" marT="68580" marB="68580" anchor="ctr">
                    <a:lnL w="0">
                      <a:noFill/>
                    </a:lnL>
                    <a:lnR w="0">
                      <a:noFill/>
                    </a:lnR>
                    <a:lnT w="0">
                      <a:noFill/>
                    </a:lnT>
                    <a:lnB w="9525">
                      <a:solidFill>
                        <a:srgbClr val="D3DCD0"/>
                      </a:solidFill>
                    </a:lnB>
                    <a:noFill/>
                  </a:tcPr>
                </a:tc>
                <a:tc>
                  <a:txBody>
                    <a:bodyPr/>
                    <a:lstStyle/>
                    <a:p>
                      <a:pPr algn="l" marL="0" indent="0" rtl="0">
                        <a:spcBef>
                          <a:spcPts val="0"/>
                        </a:spcBef>
                        <a:spcAft>
                          <a:spcPts val="0"/>
                        </a:spcAft>
                        <a:buNone/>
                      </a:pPr>
                      <a:r>
                        <a:rPr lang="en-GB" sz="1050" b="0" dirty="0">
                          <a:solidFill>
                            <a:srgbClr val="15231B"/>
                          </a:solidFill>
                          <a:latin typeface="Arial"/>
                          <a:ea typeface="Arial"/>
                          <a:cs typeface="Arial"/>
                          <a:sym typeface="Arial"/>
                        </a:rPr>
                        <a:t>Smallholder digitisation at scale</a:t>
                      </a:r>
                      <a:endParaRPr lang="en-GB" sz="1050" dirty="0"/>
                    </a:p>
                  </a:txBody>
                  <a:tcPr marL="73152" marR="73152" marT="68580" marB="68580" anchor="ctr">
                    <a:lnL w="0">
                      <a:noFill/>
                    </a:lnL>
                    <a:lnR w="0">
                      <a:noFill/>
                    </a:lnR>
                    <a:lnT w="0">
                      <a:noFill/>
                    </a:lnT>
                    <a:lnB w="9525">
                      <a:solidFill>
                        <a:srgbClr val="D3DCD0"/>
                      </a:solidFill>
                    </a:lnB>
                    <a:noFill/>
                  </a:tcPr>
                </a:tc>
              </a:tr>
            </a:tbl>
          </a:graphicData>
        </a:graphic>
      </p:graphicFrame>
      <p:sp>
        <p:nvSpPr>
          <p:cNvPr id="156" name="Why they pay"/>
          <p:cNvSpPr/>
          <p:nvPr/>
        </p:nvSpPr>
        <p:spPr>
          <a:xfrm>
            <a:off x="274320" y="4041648"/>
            <a:ext cx="5303520" cy="877824"/>
          </a:xfrm>
          <a:prstGeom prst="roundRect">
            <a:avLst>
              <a:gd name="adj" fmla="val 9375"/>
            </a:avLst>
          </a:prstGeom>
          <a:solidFill>
            <a:srgbClr val="FFFFFF"/>
          </a:solidFill>
          <a:ln w="9525">
            <a:solidFill>
              <a:srgbClr val="D3DCD0"/>
            </a:solidFill>
          </a:ln>
        </p:spPr>
        <p:txBody>
          <a:bodyPr wrap="square" lIns="146304" tIns="45720" rIns="146304" bIns="45720" rtlCol="0" anchor="ctr">
            <a:noAutofit/>
          </a:bodyPr>
          <a:lstStyle/>
          <a:p>
            <a:pPr algn="l" marL="0" indent="0" rtl="0">
              <a:spcBef>
                <a:spcPts val="0"/>
              </a:spcBef>
              <a:spcAft>
                <a:spcPts val="0"/>
              </a:spcAft>
              <a:buNone/>
            </a:pPr>
            <a:r>
              <a:rPr lang="en-GB" sz="1000" b="1" dirty="0">
                <a:solidFill>
                  <a:srgbClr val="0D3B29"/>
                </a:solidFill>
                <a:latin typeface="Arial"/>
                <a:ea typeface="Arial"/>
                <a:cs typeface="Arial"/>
                <a:sym typeface="Arial"/>
              </a:rPr>
              <a:t xml:space="preserve">Why the buyers pay: </a:t>
            </a:r>
            <a:r>
              <a:rPr lang="en-GB" sz="1000" b="0" dirty="0">
                <a:solidFill>
                  <a:srgbClr val="15231B"/>
                </a:solidFill>
                <a:latin typeface="Arial"/>
                <a:ea typeface="Arial"/>
                <a:cs typeface="Arial"/>
                <a:sym typeface="Arial"/>
              </a:rPr>
              <a:t>under the EUDR the due-diligence duty sits with operators and traders, who need clean plot data from thousands of smallholders. KebunSah is how they get it without visiting every farm.</a:t>
            </a:r>
            <a:endParaRPr lang="en-GB" sz="1000" dirty="0"/>
          </a:p>
        </p:txBody>
      </p:sp>
      <p:sp>
        <p:nvSpPr>
          <p:cNvPr id="157" name="Impact card"/>
          <p:cNvSpPr/>
          <p:nvPr/>
        </p:nvSpPr>
        <p:spPr>
          <a:xfrm>
            <a:off x="5742432" y="1298448"/>
            <a:ext cx="3127248" cy="1664208"/>
          </a:xfrm>
          <a:prstGeom prst="roundRect">
            <a:avLst>
              <a:gd name="adj" fmla="val 4945"/>
            </a:avLst>
          </a:prstGeom>
          <a:solidFill>
            <a:srgbClr val="EDF1EC"/>
          </a:solidFill>
          <a:ln>
            <a:noFill/>
          </a:ln>
        </p:spPr>
      </p:sp>
      <p:sp>
        <p:nvSpPr>
          <p:cNvPr id="158" name="Impact title"/>
          <p:cNvSpPr txBox="1"/>
          <p:nvPr/>
        </p:nvSpPr>
        <p:spPr>
          <a:xfrm>
            <a:off x="5907024" y="1389888"/>
            <a:ext cx="2852928"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14513A"/>
                </a:solidFill>
                <a:latin typeface="Arial"/>
                <a:ea typeface="Arial"/>
                <a:cs typeface="Arial"/>
                <a:sym typeface="Arial"/>
              </a:rPr>
              <a:t>Impact</a:t>
            </a:r>
            <a:endParaRPr lang="en-GB" sz="1200" dirty="0"/>
          </a:p>
        </p:txBody>
      </p:sp>
      <p:sp>
        <p:nvSpPr>
          <p:cNvPr id="159" name="Impact list"/>
          <p:cNvSpPr txBox="1"/>
          <p:nvPr/>
        </p:nvSpPr>
        <p:spPr>
          <a:xfrm>
            <a:off x="5907024" y="1682496"/>
            <a:ext cx="2816352" cy="1234440"/>
          </a:xfrm>
          <a:prstGeom prst="rect">
            <a:avLst/>
          </a:prstGeom>
          <a:noFill/>
          <a:ln>
            <a:noFill/>
          </a:ln>
        </p:spPr>
        <p:txBody>
          <a:bodyPr wrap="square" lIns="0" tIns="0" rIns="0" bIns="0" rtlCol="0" anchor="t">
            <a:noAutofit/>
          </a:bodyPr>
          <a:lstStyle/>
          <a:p>
            <a:pPr algn="l" marL="146304" indent="-146304" rtl="0">
              <a:spcBef>
                <a:spcPts val="0"/>
              </a:spcBef>
              <a:spcAft>
                <a:spcPts val="400"/>
              </a:spcAft>
              <a:buClr>
                <a:srgbClr val="14513A"/>
              </a:buClr>
              <a:buSzPct val="100000"/>
              <a:buFont typeface="Arial"/>
              <a:buChar char="•"/>
            </a:pPr>
            <a:r>
              <a:rPr lang="en-GB" sz="1000" b="0" dirty="0">
                <a:solidFill>
                  <a:srgbClr val="15231B"/>
                </a:solidFill>
                <a:latin typeface="Arial"/>
                <a:ea typeface="Arial"/>
                <a:cs typeface="Arial"/>
                <a:sym typeface="Arial"/>
              </a:rPr>
              <a:t>450,000+ Malaysian oil-palm smallholders can learn what is missing before a buyer turns their fruit away.</a:t>
            </a:r>
            <a:endParaRPr lang="en-GB" sz="1000" dirty="0"/>
          </a:p>
          <a:p>
            <a:pPr algn="l" marL="146304" indent="-146304" rtl="0">
              <a:spcBef>
                <a:spcPts val="0"/>
              </a:spcBef>
              <a:spcAft>
                <a:spcPts val="400"/>
              </a:spcAft>
              <a:buClr>
                <a:srgbClr val="14513A"/>
              </a:buClr>
              <a:buSzPct val="100000"/>
              <a:buFont typeface="Arial"/>
              <a:buChar char="•"/>
            </a:pPr>
            <a:r>
              <a:rPr lang="en-GB" sz="1000" b="0" dirty="0">
                <a:solidFill>
                  <a:srgbClr val="15231B"/>
                </a:solidFill>
                <a:latin typeface="Arial"/>
                <a:ea typeface="Arial"/>
                <a:cs typeface="Arial"/>
                <a:sym typeface="Arial"/>
              </a:rPr>
              <a:t>Cooperatives see risk across all members in one view, and can act early.</a:t>
            </a:r>
            <a:endParaRPr lang="en-GB" sz="1000" dirty="0"/>
          </a:p>
        </p:txBody>
      </p:sp>
      <p:sp>
        <p:nvSpPr>
          <p:cNvPr id="160" name="Trust card"/>
          <p:cNvSpPr/>
          <p:nvPr/>
        </p:nvSpPr>
        <p:spPr>
          <a:xfrm>
            <a:off x="5742432" y="3072384"/>
            <a:ext cx="3127248" cy="1847088"/>
          </a:xfrm>
          <a:prstGeom prst="roundRect">
            <a:avLst>
              <a:gd name="adj" fmla="val 4455"/>
            </a:avLst>
          </a:prstGeom>
          <a:solidFill>
            <a:srgbClr val="EDF1EC"/>
          </a:solidFill>
          <a:ln>
            <a:noFill/>
          </a:ln>
        </p:spPr>
      </p:sp>
      <p:sp>
        <p:nvSpPr>
          <p:cNvPr id="161" name="Trust title"/>
          <p:cNvSpPr txBox="1"/>
          <p:nvPr/>
        </p:nvSpPr>
        <p:spPr>
          <a:xfrm>
            <a:off x="5907024" y="3163824"/>
            <a:ext cx="2852928"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14513A"/>
                </a:solidFill>
                <a:latin typeface="Arial"/>
                <a:ea typeface="Arial"/>
                <a:cs typeface="Arial"/>
                <a:sym typeface="Arial"/>
              </a:rPr>
              <a:t>Responsible AI</a:t>
            </a:r>
            <a:endParaRPr lang="en-GB" sz="1200" dirty="0"/>
          </a:p>
        </p:txBody>
      </p:sp>
      <p:sp>
        <p:nvSpPr>
          <p:cNvPr id="162" name="Trust list"/>
          <p:cNvSpPr txBox="1"/>
          <p:nvPr/>
        </p:nvSpPr>
        <p:spPr>
          <a:xfrm>
            <a:off x="5907024" y="3456432"/>
            <a:ext cx="2816352" cy="1417320"/>
          </a:xfrm>
          <a:prstGeom prst="rect">
            <a:avLst/>
          </a:prstGeom>
          <a:noFill/>
          <a:ln>
            <a:noFill/>
          </a:ln>
        </p:spPr>
        <p:txBody>
          <a:bodyPr wrap="square" lIns="0" tIns="0" rIns="0" bIns="0" rtlCol="0" anchor="t">
            <a:noAutofit/>
          </a:bodyPr>
          <a:lstStyle/>
          <a:p>
            <a:pPr algn="l" marL="146304" indent="-146304" rtl="0">
              <a:spcBef>
                <a:spcPts val="0"/>
              </a:spcBef>
              <a:spcAft>
                <a:spcPts val="400"/>
              </a:spcAft>
              <a:buClr>
                <a:srgbClr val="14513A"/>
              </a:buClr>
              <a:buSzPct val="100000"/>
              <a:buFont typeface="Arial"/>
              <a:buChar char="•"/>
            </a:pPr>
            <a:r>
              <a:rPr lang="en-GB" sz="1000" b="0" dirty="0">
                <a:solidFill>
                  <a:srgbClr val="15231B"/>
                </a:solidFill>
                <a:latin typeface="Arial"/>
                <a:ea typeface="Arial"/>
                <a:cs typeface="Arial"/>
                <a:sym typeface="Arial"/>
              </a:rPr>
              <a:t>A preliminary screening, not legal advice or certification; results say so.</a:t>
            </a:r>
            <a:endParaRPr lang="en-GB" sz="1000" dirty="0"/>
          </a:p>
          <a:p>
            <a:pPr algn="l" marL="146304" indent="-146304" rtl="0">
              <a:spcBef>
                <a:spcPts val="0"/>
              </a:spcBef>
              <a:spcAft>
                <a:spcPts val="400"/>
              </a:spcAft>
              <a:buClr>
                <a:srgbClr val="14513A"/>
              </a:buClr>
              <a:buSzPct val="100000"/>
              <a:buFont typeface="Arial"/>
              <a:buChar char="•"/>
            </a:pPr>
            <a:r>
              <a:rPr lang="en-GB" sz="1000" b="0" dirty="0">
                <a:solidFill>
                  <a:srgbClr val="15231B"/>
                </a:solidFill>
                <a:latin typeface="Arial"/>
                <a:ea typeface="Arial"/>
                <a:cs typeface="Arial"/>
                <a:sym typeface="Arial"/>
              </a:rPr>
              <a:t>Gemini reads and explains; rules decide. Unsure fields go back to a person.</a:t>
            </a:r>
            <a:endParaRPr lang="en-GB" sz="1000" dirty="0"/>
          </a:p>
          <a:p>
            <a:pPr algn="l" marL="146304" indent="-146304" rtl="0">
              <a:spcBef>
                <a:spcPts val="0"/>
              </a:spcBef>
              <a:spcAft>
                <a:spcPts val="400"/>
              </a:spcAft>
              <a:buClr>
                <a:srgbClr val="14513A"/>
              </a:buClr>
              <a:buSzPct val="100000"/>
              <a:buFont typeface="Arial"/>
              <a:buChar char="•"/>
            </a:pPr>
            <a:r>
              <a:rPr lang="en-GB" sz="1000" b="0" dirty="0">
                <a:solidFill>
                  <a:srgbClr val="15231B"/>
                </a:solidFill>
                <a:latin typeface="Arial"/>
                <a:ea typeface="Arial"/>
                <a:cs typeface="Arial"/>
                <a:sym typeface="Arial"/>
              </a:rPr>
              <a:t>Synthetic demo data only; ID numbers are never stored in full.</a:t>
            </a:r>
            <a:endParaRPr lang="en-GB" sz="1000" dirty="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Provide links to your:</a:t>
            </a:r>
            <a:endParaRPr lang="en-GB" sz="1200" dirty="0"/>
          </a:p>
        </p:txBody>
      </p:sp>
      <p:sp>
        <p:nvSpPr>
          <p:cNvPr id="161"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Try it, read it, watch it</a:t>
            </a:r>
            <a:endParaRPr lang="en-GB" sz="2000" dirty="0"/>
          </a:p>
        </p:txBody>
      </p:sp>
      <p:sp>
        <p:nvSpPr>
          <p:cNvPr id="162" name="Link row 1"/>
          <p:cNvSpPr/>
          <p:nvPr/>
        </p:nvSpPr>
        <p:spPr>
          <a:xfrm>
            <a:off x="274320" y="1298448"/>
            <a:ext cx="8595360" cy="585216"/>
          </a:xfrm>
          <a:prstGeom prst="roundRect">
            <a:avLst>
              <a:gd name="adj" fmla="val 14062"/>
            </a:avLst>
          </a:prstGeom>
          <a:solidFill>
            <a:srgbClr val="EDF1EC"/>
          </a:solidFill>
          <a:ln>
            <a:noFill/>
          </a:ln>
        </p:spPr>
      </p:sp>
      <p:sp>
        <p:nvSpPr>
          <p:cNvPr id="163" name="Link 1 badge"/>
          <p:cNvSpPr/>
          <p:nvPr/>
        </p:nvSpPr>
        <p:spPr>
          <a:xfrm>
            <a:off x="466344" y="1399032"/>
            <a:ext cx="384048" cy="384048"/>
          </a:xfrm>
          <a:prstGeom prst="ellipse">
            <a:avLst/>
          </a:prstGeom>
          <a:solidFill>
            <a:srgbClr val="14513A"/>
          </a:solidFill>
          <a:ln>
            <a:noFill/>
          </a:ln>
        </p:spPr>
      </p:sp>
      <p:pic>
        <p:nvPicPr>
          <p:cNvPr id="164" name="Link 1 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50835" y="1483523"/>
            <a:ext cx="215067" cy="215067"/>
          </a:xfrm>
          <a:prstGeom prst="rect">
            <a:avLst/>
          </a:prstGeom>
          <a:ln>
            <a:noFill/>
          </a:ln>
        </p:spPr>
      </p:pic>
      <p:sp>
        <p:nvSpPr>
          <p:cNvPr id="165" name="Link 1 label"/>
          <p:cNvSpPr txBox="1"/>
          <p:nvPr/>
        </p:nvSpPr>
        <p:spPr>
          <a:xfrm>
            <a:off x="1042416" y="1325880"/>
            <a:ext cx="2194560" cy="53035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GitHub Public Repository</a:t>
            </a:r>
            <a:endParaRPr lang="en-GB" sz="1150" dirty="0"/>
          </a:p>
        </p:txBody>
      </p:sp>
      <p:sp>
        <p:nvSpPr>
          <p:cNvPr id="166" name="Link 1 url"/>
          <p:cNvSpPr txBox="1"/>
          <p:nvPr/>
        </p:nvSpPr>
        <p:spPr>
          <a:xfrm>
            <a:off x="3246120" y="1325880"/>
            <a:ext cx="5486400" cy="530352"/>
          </a:xfrm>
          <a:prstGeom prst="rect">
            <a:avLst/>
          </a:prstGeom>
          <a:noFill/>
          <a:ln>
            <a:noFill/>
          </a:ln>
        </p:spPr>
        <p:txBody>
          <a:bodyPr wrap="square" lIns="0" tIns="0" rIns="0" bIns="0" rtlCol="0" anchor="ctr">
            <a:noAutofit/>
          </a:bodyPr>
          <a:lstStyle/>
          <a:p>
            <a:pPr algn="l" marL="0" indent="0" rtl="0">
              <a:spcBef>
                <a:spcPts val="0"/>
              </a:spcBef>
              <a:spcAft>
                <a:spcPts val="100"/>
              </a:spcAft>
              <a:buNone/>
            </a:pPr>
            <a:r>
              <a:rPr lang="en-GB" sz="1150" b="1" u="sng" dirty="0">
                <a:solidFill>
                  <a:srgbClr val="14513A"/>
                </a:solidFill>
                <a:latin typeface="Arial"/>
                <a:ea typeface="Arial"/>
                <a:cs typeface="Arial"/>
                <a:sym typeface="Arial"/>
                <a:hlinkClick r:id="rId6">
                  <a:extLst>
                    <a:ext uri="{A12FA001-AC4F-418D-AE19-62706E023703}">
                      <ahyp:hlinkClr val="tx"/>
                    </a:ext>
                  </a:extLst>
                </a:hlinkClick>
              </a:rPr>
              <a:t>github.com/longrong1110/KebunSah</a:t>
            </a:r>
            <a:endParaRPr lang="en-GB" sz="1150" dirty="0"/>
          </a:p>
          <a:p>
            <a:pPr algn="l" marL="0" indent="0" rtl="0">
              <a:spcBef>
                <a:spcPts val="0"/>
              </a:spcBef>
              <a:spcAft>
                <a:spcPts val="0"/>
              </a:spcAft>
              <a:buNone/>
            </a:pPr>
            <a:r>
              <a:rPr lang="en-GB" sz="950" b="0" dirty="0">
                <a:solidFill>
                  <a:srgbClr val="56655B"/>
                </a:solidFill>
                <a:latin typeface="Arial"/>
                <a:ea typeface="Arial"/>
                <a:cs typeface="Arial"/>
                <a:sym typeface="Arial"/>
              </a:rPr>
              <a:t>Source code, English README, tests, API contract and the 200-plot demo data generator.</a:t>
            </a:r>
            <a:endParaRPr lang="en-GB" sz="950" dirty="0"/>
          </a:p>
        </p:txBody>
      </p:sp>
      <p:sp>
        <p:nvSpPr>
          <p:cNvPr id="167" name="Link row 2"/>
          <p:cNvSpPr/>
          <p:nvPr/>
        </p:nvSpPr>
        <p:spPr>
          <a:xfrm>
            <a:off x="274320" y="1975104"/>
            <a:ext cx="8595360" cy="585216"/>
          </a:xfrm>
          <a:prstGeom prst="roundRect">
            <a:avLst>
              <a:gd name="adj" fmla="val 14062"/>
            </a:avLst>
          </a:prstGeom>
          <a:solidFill>
            <a:srgbClr val="EDF1EC"/>
          </a:solidFill>
          <a:ln>
            <a:noFill/>
          </a:ln>
        </p:spPr>
      </p:sp>
      <p:sp>
        <p:nvSpPr>
          <p:cNvPr id="168" name="Link 2 badge"/>
          <p:cNvSpPr/>
          <p:nvPr/>
        </p:nvSpPr>
        <p:spPr>
          <a:xfrm>
            <a:off x="466344" y="2075688"/>
            <a:ext cx="384048" cy="384048"/>
          </a:xfrm>
          <a:prstGeom prst="ellipse">
            <a:avLst/>
          </a:prstGeom>
          <a:solidFill>
            <a:srgbClr val="14513A"/>
          </a:solidFill>
          <a:ln>
            <a:noFill/>
          </a:ln>
        </p:spPr>
      </p:sp>
      <p:pic>
        <p:nvPicPr>
          <p:cNvPr id="169" name="Link 2 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50835" y="2160179"/>
            <a:ext cx="215067" cy="215067"/>
          </a:xfrm>
          <a:prstGeom prst="rect">
            <a:avLst/>
          </a:prstGeom>
          <a:ln>
            <a:noFill/>
          </a:ln>
        </p:spPr>
      </p:pic>
      <p:sp>
        <p:nvSpPr>
          <p:cNvPr id="170" name="Link 2 label"/>
          <p:cNvSpPr txBox="1"/>
          <p:nvPr/>
        </p:nvSpPr>
        <p:spPr>
          <a:xfrm>
            <a:off x="1042416" y="2002536"/>
            <a:ext cx="2194560" cy="53035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Demo Video Link (3 Minutes)</a:t>
            </a:r>
            <a:endParaRPr lang="en-GB" sz="1150" dirty="0"/>
          </a:p>
        </p:txBody>
      </p:sp>
      <p:sp>
        <p:nvSpPr>
          <p:cNvPr id="171" name="Link 2 url"/>
          <p:cNvSpPr txBox="1"/>
          <p:nvPr/>
        </p:nvSpPr>
        <p:spPr>
          <a:xfrm>
            <a:off x="3246120" y="2002536"/>
            <a:ext cx="5486400" cy="530352"/>
          </a:xfrm>
          <a:prstGeom prst="rect">
            <a:avLst/>
          </a:prstGeom>
          <a:noFill/>
          <a:ln>
            <a:noFill/>
          </a:ln>
        </p:spPr>
        <p:txBody>
          <a:bodyPr wrap="square" lIns="0" tIns="0" rIns="0" bIns="0" rtlCol="0" anchor="ctr">
            <a:noAutofit/>
          </a:bodyPr>
          <a:lstStyle/>
          <a:p>
            <a:pPr algn="l" marL="0" indent="0" rtl="0">
              <a:spcBef>
                <a:spcPts val="0"/>
              </a:spcBef>
              <a:spcAft>
                <a:spcPts val="100"/>
              </a:spcAft>
              <a:buNone/>
            </a:pPr>
            <a:r>
              <a:rPr lang="en-GB" sz="1150" b="1" dirty="0">
                <a:solidFill>
                  <a:srgbClr val="C96430"/>
                </a:solidFill>
                <a:latin typeface="Arial"/>
                <a:ea typeface="Arial"/>
                <a:cs typeface="Arial"/>
                <a:sym typeface="Arial"/>
              </a:rPr>
              <a:t>[paste the YouTube / Vimeo / Drive link here]</a:t>
            </a:r>
            <a:endParaRPr lang="en-GB" sz="1150" dirty="0"/>
          </a:p>
          <a:p>
            <a:pPr algn="l" marL="0" indent="0" rtl="0">
              <a:spcBef>
                <a:spcPts val="0"/>
              </a:spcBef>
              <a:spcAft>
                <a:spcPts val="0"/>
              </a:spcAft>
              <a:buNone/>
            </a:pPr>
            <a:r>
              <a:rPr lang="en-GB" sz="950" b="0" dirty="0">
                <a:solidFill>
                  <a:srgbClr val="56655B"/>
                </a:solidFill>
                <a:latin typeface="Arial"/>
                <a:ea typeface="Arial"/>
                <a:cs typeface="Arial"/>
                <a:sym typeface="Arial"/>
              </a:rPr>
              <a:t>Narrated in English: problem, farmer's phone, check, cooperative dashboard, impact.</a:t>
            </a:r>
            <a:endParaRPr lang="en-GB" sz="950" dirty="0"/>
          </a:p>
        </p:txBody>
      </p:sp>
      <p:sp>
        <p:nvSpPr>
          <p:cNvPr id="172" name="Link row 3"/>
          <p:cNvSpPr/>
          <p:nvPr/>
        </p:nvSpPr>
        <p:spPr>
          <a:xfrm>
            <a:off x="274320" y="2651760"/>
            <a:ext cx="8595360" cy="585216"/>
          </a:xfrm>
          <a:prstGeom prst="roundRect">
            <a:avLst>
              <a:gd name="adj" fmla="val 14062"/>
            </a:avLst>
          </a:prstGeom>
          <a:solidFill>
            <a:srgbClr val="EDF1EC"/>
          </a:solidFill>
          <a:ln>
            <a:noFill/>
          </a:ln>
        </p:spPr>
      </p:sp>
      <p:sp>
        <p:nvSpPr>
          <p:cNvPr id="173" name="Link 3 badge"/>
          <p:cNvSpPr/>
          <p:nvPr/>
        </p:nvSpPr>
        <p:spPr>
          <a:xfrm>
            <a:off x="466344" y="2752344"/>
            <a:ext cx="384048" cy="384048"/>
          </a:xfrm>
          <a:prstGeom prst="ellipse">
            <a:avLst/>
          </a:prstGeom>
          <a:solidFill>
            <a:srgbClr val="14513A"/>
          </a:solidFill>
          <a:ln>
            <a:noFill/>
          </a:ln>
        </p:spPr>
      </p:sp>
      <p:pic>
        <p:nvPicPr>
          <p:cNvPr id="174" name="Link 3 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50835" y="2836835"/>
            <a:ext cx="215067" cy="215067"/>
          </a:xfrm>
          <a:prstGeom prst="rect">
            <a:avLst/>
          </a:prstGeom>
          <a:ln>
            <a:noFill/>
          </a:ln>
        </p:spPr>
      </p:pic>
      <p:sp>
        <p:nvSpPr>
          <p:cNvPr id="175" name="Link 3 label"/>
          <p:cNvSpPr txBox="1"/>
          <p:nvPr/>
        </p:nvSpPr>
        <p:spPr>
          <a:xfrm>
            <a:off x="1042416" y="2679192"/>
            <a:ext cx="2194560" cy="53035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1150" b="1" dirty="0">
                <a:solidFill>
                  <a:srgbClr val="0D3B29"/>
                </a:solidFill>
                <a:latin typeface="Arial"/>
                <a:ea typeface="Arial"/>
                <a:cs typeface="Arial"/>
                <a:sym typeface="Arial"/>
              </a:rPr>
              <a:t>Final Product Link</a:t>
            </a:r>
            <a:endParaRPr lang="en-GB" sz="1150" dirty="0"/>
          </a:p>
        </p:txBody>
      </p:sp>
      <p:sp>
        <p:nvSpPr>
          <p:cNvPr id="176" name="Link 3 url"/>
          <p:cNvSpPr txBox="1"/>
          <p:nvPr/>
        </p:nvSpPr>
        <p:spPr>
          <a:xfrm>
            <a:off x="3246120" y="2679192"/>
            <a:ext cx="5486400" cy="530352"/>
          </a:xfrm>
          <a:prstGeom prst="rect">
            <a:avLst/>
          </a:prstGeom>
          <a:noFill/>
          <a:ln>
            <a:noFill/>
          </a:ln>
        </p:spPr>
        <p:txBody>
          <a:bodyPr wrap="square" lIns="0" tIns="0" rIns="0" bIns="0" rtlCol="0" anchor="ctr">
            <a:noAutofit/>
          </a:bodyPr>
          <a:lstStyle/>
          <a:p>
            <a:pPr algn="l" marL="0" indent="0" rtl="0">
              <a:spcBef>
                <a:spcPts val="0"/>
              </a:spcBef>
              <a:spcAft>
                <a:spcPts val="100"/>
              </a:spcAft>
              <a:buNone/>
            </a:pPr>
            <a:r>
              <a:rPr lang="en-GB" sz="1150" b="1" u="sng" dirty="0">
                <a:solidFill>
                  <a:srgbClr val="14513A"/>
                </a:solidFill>
                <a:latin typeface="Arial"/>
                <a:ea typeface="Arial"/>
                <a:cs typeface="Arial"/>
                <a:sym typeface="Arial"/>
                <a:hlinkClick r:id="rId9">
                  <a:extLst>
                    <a:ext uri="{A12FA001-AC4F-418D-AE19-62706E023703}">
                      <ahyp:hlinkClr val="tx"/>
                    </a:ext>
                  </a:extLst>
                </a:hlinkClick>
              </a:rPr>
              <a:t>kebunsah.web.app</a:t>
            </a:r>
            <a:endParaRPr lang="en-GB" sz="1150" dirty="0"/>
          </a:p>
          <a:p>
            <a:pPr algn="l" marL="0" indent="0" rtl="0">
              <a:spcBef>
                <a:spcPts val="0"/>
              </a:spcBef>
              <a:spcAft>
                <a:spcPts val="0"/>
              </a:spcAft>
              <a:buNone/>
            </a:pPr>
            <a:r>
              <a:rPr lang="en-GB" sz="950" b="0" dirty="0">
                <a:solidFill>
                  <a:srgbClr val="56655B"/>
                </a:solidFill>
                <a:latin typeface="Arial"/>
                <a:ea typeface="Arial"/>
                <a:cs typeface="Arial"/>
                <a:sym typeface="Arial"/>
              </a:rPr>
              <a:t>Open on a phone. On the sign-in page use "Demo access for judges".</a:t>
            </a:r>
            <a:endParaRPr lang="en-GB" sz="950" dirty="0"/>
          </a:p>
        </p:txBody>
      </p:sp>
      <p:sp>
        <p:nvSpPr>
          <p:cNvPr id="177" name="Judge access"/>
          <p:cNvSpPr/>
          <p:nvPr/>
        </p:nvSpPr>
        <p:spPr>
          <a:xfrm>
            <a:off x="274320" y="3383280"/>
            <a:ext cx="8595360" cy="1536192"/>
          </a:xfrm>
          <a:prstGeom prst="roundRect">
            <a:avLst>
              <a:gd name="adj" fmla="val 5357"/>
            </a:avLst>
          </a:prstGeom>
          <a:solidFill>
            <a:srgbClr val="FFFFFF"/>
          </a:solidFill>
          <a:ln w="15875">
            <a:solidFill>
              <a:srgbClr val="14513A"/>
            </a:solidFill>
          </a:ln>
        </p:spPr>
      </p:sp>
      <p:sp>
        <p:nvSpPr>
          <p:cNvPr id="178" name="Judge title"/>
          <p:cNvSpPr txBox="1"/>
          <p:nvPr/>
        </p:nvSpPr>
        <p:spPr>
          <a:xfrm>
            <a:off x="438912" y="3456432"/>
            <a:ext cx="365760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14513A"/>
                </a:solidFill>
                <a:latin typeface="Arial"/>
                <a:ea typeface="Arial"/>
                <a:cs typeface="Arial"/>
                <a:sym typeface="Arial"/>
              </a:rPr>
              <a:t>Judge access (all data is synthetic)</a:t>
            </a:r>
            <a:endParaRPr lang="en-GB" sz="1200" dirty="0"/>
          </a:p>
        </p:txBody>
      </p:sp>
      <p:sp>
        <p:nvSpPr>
          <p:cNvPr id="179" name="Judge phone"/>
          <p:cNvSpPr txBox="1"/>
          <p:nvPr/>
        </p:nvSpPr>
        <p:spPr>
          <a:xfrm>
            <a:off x="438912" y="3767328"/>
            <a:ext cx="4114800" cy="1078992"/>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050" b="1" dirty="0">
                <a:solidFill>
                  <a:srgbClr val="0D3B29"/>
                </a:solidFill>
                <a:latin typeface="Arial"/>
                <a:ea typeface="Arial"/>
                <a:cs typeface="Arial"/>
                <a:sym typeface="Arial"/>
              </a:rPr>
              <a:t>Phone app</a:t>
            </a:r>
            <a:endParaRPr lang="en-GB" sz="1050" dirty="0"/>
          </a:p>
          <a:p>
            <a:pPr algn="l" marL="0" indent="0" rtl="0">
              <a:spcBef>
                <a:spcPts val="0"/>
              </a:spcBef>
              <a:spcAft>
                <a:spcPts val="300"/>
              </a:spcAft>
              <a:buNone/>
            </a:pPr>
            <a:r>
              <a:rPr lang="en-GB" sz="950" b="0" dirty="0">
                <a:solidFill>
                  <a:srgbClr val="15231B"/>
                </a:solidFill>
                <a:latin typeface="Arial"/>
                <a:ea typeface="Arial"/>
                <a:cs typeface="Arial"/>
                <a:sym typeface="Arial"/>
              </a:rPr>
              <a:t>Open the Final Product Link on a phone, tap "Demo access for judges". No SMS is sent; the code is 123456.</a:t>
            </a:r>
            <a:endParaRPr lang="en-GB" sz="950" dirty="0"/>
          </a:p>
          <a:p>
            <a:pPr algn="l" marL="0" indent="0" rtl="0">
              <a:spcBef>
                <a:spcPts val="0"/>
              </a:spcBef>
              <a:spcAft>
                <a:spcPts val="0"/>
              </a:spcAft>
              <a:buNone/>
            </a:pPr>
            <a:r>
              <a:rPr lang="en-GB" sz="950" b="1" dirty="0">
                <a:solidFill>
                  <a:srgbClr val="15231B"/>
                </a:solidFill>
                <a:latin typeface="Arial"/>
                <a:ea typeface="Arial"/>
                <a:cs typeface="Arial"/>
                <a:sym typeface="Arial"/>
              </a:rPr>
              <a:t xml:space="preserve">+60 10-000 0011 </a:t>
            </a:r>
            <a:r>
              <a:rPr lang="en-GB" sz="950" b="0" dirty="0">
                <a:solidFill>
                  <a:srgbClr val="56655B"/>
                </a:solidFill>
                <a:latin typeface="Arial"/>
                <a:ea typeface="Arial"/>
                <a:cs typeface="Arial"/>
                <a:sym typeface="Arial"/>
              </a:rPr>
              <a:t>smallholder, mostly green</a:t>
            </a:r>
            <a:endParaRPr lang="en-GB" sz="950" dirty="0"/>
          </a:p>
          <a:p>
            <a:pPr algn="l" marL="0" indent="0" rtl="0">
              <a:spcBef>
                <a:spcPts val="0"/>
              </a:spcBef>
              <a:spcAft>
                <a:spcPts val="0"/>
              </a:spcAft>
              <a:buNone/>
            </a:pPr>
            <a:r>
              <a:rPr lang="en-GB" sz="950" b="1" dirty="0">
                <a:solidFill>
                  <a:srgbClr val="15231B"/>
                </a:solidFill>
                <a:latin typeface="Arial"/>
                <a:ea typeface="Arial"/>
                <a:cs typeface="Arial"/>
                <a:sym typeface="Arial"/>
              </a:rPr>
              <a:t xml:space="preserve">+60 10-000 0012 </a:t>
            </a:r>
            <a:r>
              <a:rPr lang="en-GB" sz="950" b="0" dirty="0">
                <a:solidFill>
                  <a:srgbClr val="56655B"/>
                </a:solidFill>
                <a:latin typeface="Arial"/>
                <a:ea typeface="Arial"/>
                <a:cs typeface="Arial"/>
                <a:sym typeface="Arial"/>
              </a:rPr>
              <a:t>yellow plot</a:t>
            </a:r>
            <a:endParaRPr lang="en-GB" sz="950" dirty="0"/>
          </a:p>
          <a:p>
            <a:pPr algn="l" marL="0" indent="0" rtl="0">
              <a:spcBef>
                <a:spcPts val="0"/>
              </a:spcBef>
              <a:spcAft>
                <a:spcPts val="0"/>
              </a:spcAft>
              <a:buNone/>
            </a:pPr>
            <a:r>
              <a:rPr lang="en-GB" sz="950" b="1" dirty="0">
                <a:solidFill>
                  <a:srgbClr val="15231B"/>
                </a:solidFill>
                <a:latin typeface="Arial"/>
                <a:ea typeface="Arial"/>
                <a:cs typeface="Arial"/>
                <a:sym typeface="Arial"/>
              </a:rPr>
              <a:t xml:space="preserve">+60 10-000 0013 </a:t>
            </a:r>
            <a:r>
              <a:rPr lang="en-GB" sz="950" b="0" dirty="0">
                <a:solidFill>
                  <a:srgbClr val="56655B"/>
                </a:solidFill>
                <a:latin typeface="Arial"/>
                <a:ea typeface="Arial"/>
                <a:cs typeface="Arial"/>
                <a:sym typeface="Arial"/>
              </a:rPr>
              <a:t>red plot</a:t>
            </a:r>
            <a:endParaRPr lang="en-GB" sz="950" dirty="0"/>
          </a:p>
          <a:p>
            <a:pPr algn="l" marL="0" indent="0" rtl="0">
              <a:spcBef>
                <a:spcPts val="0"/>
              </a:spcBef>
              <a:spcAft>
                <a:spcPts val="0"/>
              </a:spcAft>
              <a:buNone/>
            </a:pPr>
            <a:r>
              <a:rPr lang="en-GB" sz="950" b="1" dirty="0">
                <a:solidFill>
                  <a:srgbClr val="15231B"/>
                </a:solidFill>
                <a:latin typeface="Arial"/>
                <a:ea typeface="Arial"/>
                <a:cs typeface="Arial"/>
                <a:sym typeface="Arial"/>
              </a:rPr>
              <a:t xml:space="preserve">+60 10-000 0001 </a:t>
            </a:r>
            <a:r>
              <a:rPr lang="en-GB" sz="950" b="0" dirty="0">
                <a:solidFill>
                  <a:srgbClr val="56655B"/>
                </a:solidFill>
                <a:latin typeface="Arial"/>
                <a:ea typeface="Arial"/>
                <a:cs typeface="Arial"/>
                <a:sym typeface="Arial"/>
              </a:rPr>
              <a:t>field officer</a:t>
            </a:r>
            <a:endParaRPr lang="en-GB" sz="950" dirty="0"/>
          </a:p>
        </p:txBody>
      </p:sp>
      <p:sp>
        <p:nvSpPr>
          <p:cNvPr id="180" name="Judge coop"/>
          <p:cNvSpPr txBox="1"/>
          <p:nvPr/>
        </p:nvSpPr>
        <p:spPr>
          <a:xfrm>
            <a:off x="4800600" y="3767328"/>
            <a:ext cx="3931920" cy="1078992"/>
          </a:xfrm>
          <a:prstGeom prst="rect">
            <a:avLst/>
          </a:prstGeom>
          <a:noFill/>
          <a:ln>
            <a:noFill/>
          </a:ln>
        </p:spPr>
        <p:txBody>
          <a:bodyPr wrap="square" lIns="0" tIns="0" rIns="0" bIns="0" rtlCol="0" anchor="t">
            <a:noAutofit/>
          </a:bodyPr>
          <a:lstStyle/>
          <a:p>
            <a:pPr algn="l" marL="0" indent="0" rtl="0">
              <a:spcBef>
                <a:spcPts val="0"/>
              </a:spcBef>
              <a:spcAft>
                <a:spcPts val="200"/>
              </a:spcAft>
              <a:buNone/>
            </a:pPr>
            <a:r>
              <a:rPr lang="en-GB" sz="1050" b="1" dirty="0">
                <a:solidFill>
                  <a:srgbClr val="0D3B29"/>
                </a:solidFill>
                <a:latin typeface="Arial"/>
                <a:ea typeface="Arial"/>
                <a:cs typeface="Arial"/>
                <a:sym typeface="Arial"/>
              </a:rPr>
              <a:t>Cooperative dashboard (computer)</a:t>
            </a:r>
            <a:endParaRPr lang="en-GB" sz="1050" dirty="0"/>
          </a:p>
          <a:p>
            <a:pPr algn="l" marL="0" indent="0" rtl="0">
              <a:spcBef>
                <a:spcPts val="0"/>
              </a:spcBef>
              <a:spcAft>
                <a:spcPts val="300"/>
              </a:spcAft>
              <a:buNone/>
            </a:pPr>
            <a:r>
              <a:rPr lang="en-GB" sz="950" b="0" dirty="0">
                <a:solidFill>
                  <a:srgbClr val="15231B"/>
                </a:solidFill>
                <a:latin typeface="Arial"/>
                <a:ea typeface="Arial"/>
                <a:cs typeface="Arial"/>
                <a:sym typeface="Arial"/>
              </a:rPr>
              <a:t xml:space="preserve">Open </a:t>
            </a:r>
            <a:r>
              <a:rPr lang="en-GB" sz="950" b="1" u="sng" dirty="0">
                <a:solidFill>
                  <a:srgbClr val="14513A"/>
                </a:solidFill>
                <a:latin typeface="Arial"/>
                <a:ea typeface="Arial"/>
                <a:cs typeface="Arial"/>
                <a:sym typeface="Arial"/>
                <a:hlinkClick r:id="rId10">
                  <a:extLst>
                    <a:ext uri="{A12FA001-AC4F-418D-AE19-62706E023703}">
                      <ahyp:hlinkClr val="tx"/>
                    </a:ext>
                  </a:extLst>
                </a:hlinkClick>
              </a:rPr>
              <a:t>kebunsah.web.app/coop/login</a:t>
            </a:r>
            <a:r>
              <a:rPr lang="en-GB" sz="950" b="0" dirty="0">
                <a:solidFill>
                  <a:srgbClr val="15231B"/>
                </a:solidFill>
                <a:latin typeface="Arial"/>
                <a:ea typeface="Arial"/>
                <a:cs typeface="Arial"/>
                <a:sym typeface="Arial"/>
              </a:rPr>
              <a:t xml:space="preserve"> and use the demo box on that page.</a:t>
            </a:r>
            <a:endParaRPr lang="en-GB" sz="950" dirty="0"/>
          </a:p>
          <a:p>
            <a:pPr algn="l" marL="0" indent="0" rtl="0">
              <a:spcBef>
                <a:spcPts val="0"/>
              </a:spcBef>
              <a:spcAft>
                <a:spcPts val="0"/>
              </a:spcAft>
              <a:buNone/>
            </a:pPr>
            <a:r>
              <a:rPr lang="en-GB" sz="950" b="0" dirty="0">
                <a:solidFill>
                  <a:srgbClr val="56655B"/>
                </a:solidFill>
                <a:latin typeface="Arial"/>
                <a:ea typeface="Arial"/>
                <a:cs typeface="Arial"/>
                <a:sym typeface="Arial"/>
              </a:rPr>
              <a:t xml:space="preserve">Email </a:t>
            </a:r>
            <a:r>
              <a:rPr lang="en-GB" sz="950" b="1" dirty="0">
                <a:solidFill>
                  <a:srgbClr val="15231B"/>
                </a:solidFill>
                <a:latin typeface="Arial"/>
                <a:ea typeface="Arial"/>
                <a:cs typeface="Arial"/>
                <a:sym typeface="Arial"/>
              </a:rPr>
              <a:t>koperasi@kebunsah.demo</a:t>
            </a:r>
            <a:endParaRPr lang="en-GB" sz="950" dirty="0"/>
          </a:p>
          <a:p>
            <a:pPr algn="l" marL="0" indent="0" rtl="0">
              <a:spcBef>
                <a:spcPts val="0"/>
              </a:spcBef>
              <a:spcAft>
                <a:spcPts val="0"/>
              </a:spcAft>
              <a:buNone/>
            </a:pPr>
            <a:r>
              <a:rPr lang="en-GB" sz="950" b="0" dirty="0">
                <a:solidFill>
                  <a:srgbClr val="56655B"/>
                </a:solidFill>
                <a:latin typeface="Arial"/>
                <a:ea typeface="Arial"/>
                <a:cs typeface="Arial"/>
                <a:sym typeface="Arial"/>
              </a:rPr>
              <a:t xml:space="preserve">Password </a:t>
            </a:r>
            <a:r>
              <a:rPr lang="en-GB" sz="950" b="1" dirty="0">
                <a:solidFill>
                  <a:srgbClr val="15231B"/>
                </a:solidFill>
                <a:latin typeface="Arial"/>
                <a:ea typeface="Arial"/>
                <a:cs typeface="Arial"/>
                <a:sym typeface="Arial"/>
              </a:rPr>
              <a:t>Koperasi-Demo-2026</a:t>
            </a:r>
            <a:endParaRPr lang="en-GB" sz="950" dirty="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Additional Details/Future Development (if any)</a:t>
            </a:r>
            <a:endParaRPr lang="en-GB" sz="1200" dirty="0"/>
          </a:p>
        </p:txBody>
      </p:sp>
      <p:sp>
        <p:nvSpPr>
          <p:cNvPr id="168"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900" b="1" dirty="0">
                <a:solidFill>
                  <a:srgbClr val="0D3B29"/>
                </a:solidFill>
                <a:latin typeface="Arial"/>
                <a:ea typeface="Arial"/>
                <a:cs typeface="Arial"/>
                <a:sym typeface="Arial"/>
              </a:rPr>
              <a:t>From Malaysian palm oil to every EUDR commodity</a:t>
            </a:r>
            <a:endParaRPr lang="en-GB" sz="1900" dirty="0"/>
          </a:p>
        </p:txBody>
      </p:sp>
      <p:sp>
        <p:nvSpPr>
          <p:cNvPr id="169" name="Stage 1"/>
          <p:cNvSpPr/>
          <p:nvPr/>
        </p:nvSpPr>
        <p:spPr>
          <a:xfrm>
            <a:off x="274320" y="1298448"/>
            <a:ext cx="1993392" cy="1280160"/>
          </a:xfrm>
          <a:prstGeom prst="roundRect">
            <a:avLst>
              <a:gd name="adj" fmla="val 6428"/>
            </a:avLst>
          </a:prstGeom>
          <a:solidFill>
            <a:srgbClr val="FFFFFF"/>
          </a:solidFill>
          <a:ln w="15875">
            <a:solidFill>
              <a:srgbClr val="14513A"/>
            </a:solidFill>
          </a:ln>
        </p:spPr>
      </p:sp>
      <p:sp>
        <p:nvSpPr>
          <p:cNvPr id="170" name="Stage 1 tag"/>
          <p:cNvSpPr/>
          <p:nvPr/>
        </p:nvSpPr>
        <p:spPr>
          <a:xfrm>
            <a:off x="402336" y="1408176"/>
            <a:ext cx="566928" cy="219456"/>
          </a:xfrm>
          <a:prstGeom prst="roundRect">
            <a:avLst>
              <a:gd name="adj" fmla="val 20833"/>
            </a:avLst>
          </a:prstGeom>
          <a:solidFill>
            <a:srgbClr val="14513A"/>
          </a:solidFill>
          <a:ln>
            <a:noFill/>
          </a:ln>
        </p:spPr>
        <p:txBody>
          <a:bodyPr wrap="square" lIns="0" tIns="0" rIns="0" bIns="0" rtlCol="0" anchor="ctr">
            <a:noAutofit/>
          </a:bodyPr>
          <a:lstStyle/>
          <a:p>
            <a:pPr algn="ctr" marL="0" indent="0" rtl="0">
              <a:spcBef>
                <a:spcPts val="0"/>
              </a:spcBef>
              <a:spcAft>
                <a:spcPts val="0"/>
              </a:spcAft>
              <a:buNone/>
            </a:pPr>
            <a:r>
              <a:rPr lang="en-GB" sz="900" b="1" dirty="0">
                <a:solidFill>
                  <a:srgbClr val="FFFFFF"/>
                </a:solidFill>
                <a:latin typeface="Arial"/>
                <a:ea typeface="Arial"/>
                <a:cs typeface="Arial"/>
                <a:sym typeface="Arial"/>
              </a:rPr>
              <a:t>Today</a:t>
            </a:r>
            <a:endParaRPr lang="en-GB" sz="900" dirty="0"/>
          </a:p>
        </p:txBody>
      </p:sp>
      <p:sp>
        <p:nvSpPr>
          <p:cNvPr id="171" name="Stage 1 title"/>
          <p:cNvSpPr txBox="1"/>
          <p:nvPr/>
        </p:nvSpPr>
        <p:spPr>
          <a:xfrm>
            <a:off x="402336" y="1682496"/>
            <a:ext cx="1737360" cy="21945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100" b="1" dirty="0">
                <a:solidFill>
                  <a:srgbClr val="0D3B29"/>
                </a:solidFill>
                <a:latin typeface="Arial"/>
                <a:ea typeface="Arial"/>
                <a:cs typeface="Arial"/>
                <a:sym typeface="Arial"/>
              </a:rPr>
              <a:t>Malaysia palm oil</a:t>
            </a:r>
            <a:endParaRPr lang="en-GB" sz="1100" dirty="0"/>
          </a:p>
        </p:txBody>
      </p:sp>
      <p:sp>
        <p:nvSpPr>
          <p:cNvPr id="172" name="Stage 1 text"/>
          <p:cNvSpPr txBox="1"/>
          <p:nvPr/>
        </p:nvSpPr>
        <p:spPr>
          <a:xfrm>
            <a:off x="402336" y="1938528"/>
            <a:ext cx="1737360" cy="60350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Prototype live; three document types; Malay and English; synthetic data.</a:t>
            </a:r>
            <a:endParaRPr lang="en-GB" sz="950" dirty="0"/>
          </a:p>
        </p:txBody>
      </p:sp>
      <p:cxnSp>
        <p:nvCxnSpPr>
          <p:cNvPr id="173" name="Stage arrow 1"/>
          <p:cNvCxnSpPr/>
          <p:nvPr/>
        </p:nvCxnSpPr>
        <p:spPr>
          <a:xfrm>
            <a:off x="2286000" y="1938528"/>
            <a:ext cx="170993" cy="0"/>
          </a:xfrm>
          <a:prstGeom prst="line">
            <a:avLst/>
          </a:prstGeom>
          <a:ln w="22225">
            <a:solidFill>
              <a:srgbClr val="368255"/>
            </a:solidFill>
            <a:round/>
            <a:tailEnd type="triangle" w="med" len="med"/>
          </a:ln>
        </p:spPr>
      </p:cxnSp>
      <p:sp>
        <p:nvSpPr>
          <p:cNvPr id="174" name="Stage 2"/>
          <p:cNvSpPr/>
          <p:nvPr/>
        </p:nvSpPr>
        <p:spPr>
          <a:xfrm>
            <a:off x="2475281" y="1298448"/>
            <a:ext cx="1993392" cy="1280160"/>
          </a:xfrm>
          <a:prstGeom prst="roundRect">
            <a:avLst>
              <a:gd name="adj" fmla="val 6428"/>
            </a:avLst>
          </a:prstGeom>
          <a:solidFill>
            <a:srgbClr val="FFFFFF"/>
          </a:solidFill>
          <a:ln w="15875">
            <a:solidFill>
              <a:srgbClr val="14513A"/>
            </a:solidFill>
          </a:ln>
        </p:spPr>
      </p:sp>
      <p:sp>
        <p:nvSpPr>
          <p:cNvPr id="175" name="Stage 2 tag"/>
          <p:cNvSpPr/>
          <p:nvPr/>
        </p:nvSpPr>
        <p:spPr>
          <a:xfrm>
            <a:off x="2603297" y="1408176"/>
            <a:ext cx="566928" cy="219456"/>
          </a:xfrm>
          <a:prstGeom prst="roundRect">
            <a:avLst>
              <a:gd name="adj" fmla="val 20833"/>
            </a:avLst>
          </a:prstGeom>
          <a:solidFill>
            <a:srgbClr val="14513A"/>
          </a:solidFill>
          <a:ln>
            <a:noFill/>
          </a:ln>
        </p:spPr>
        <p:txBody>
          <a:bodyPr wrap="square" lIns="0" tIns="0" rIns="0" bIns="0" rtlCol="0" anchor="ctr">
            <a:noAutofit/>
          </a:bodyPr>
          <a:lstStyle/>
          <a:p>
            <a:pPr algn="ctr" marL="0" indent="0" rtl="0">
              <a:spcBef>
                <a:spcPts val="0"/>
              </a:spcBef>
              <a:spcAft>
                <a:spcPts val="0"/>
              </a:spcAft>
              <a:buNone/>
            </a:pPr>
            <a:r>
              <a:rPr lang="en-GB" sz="900" b="1" dirty="0">
                <a:solidFill>
                  <a:srgbClr val="FFFFFF"/>
                </a:solidFill>
                <a:latin typeface="Arial"/>
                <a:ea typeface="Arial"/>
                <a:cs typeface="Arial"/>
                <a:sym typeface="Arial"/>
              </a:rPr>
              <a:t>Next</a:t>
            </a:r>
            <a:endParaRPr lang="en-GB" sz="900" dirty="0"/>
          </a:p>
        </p:txBody>
      </p:sp>
      <p:sp>
        <p:nvSpPr>
          <p:cNvPr id="176" name="Stage 2 title"/>
          <p:cNvSpPr txBox="1"/>
          <p:nvPr/>
        </p:nvSpPr>
        <p:spPr>
          <a:xfrm>
            <a:off x="2603297" y="1682496"/>
            <a:ext cx="1737360" cy="21945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100" b="1" dirty="0">
                <a:solidFill>
                  <a:srgbClr val="0D3B29"/>
                </a:solidFill>
                <a:latin typeface="Arial"/>
                <a:ea typeface="Arial"/>
                <a:cs typeface="Arial"/>
                <a:sym typeface="Arial"/>
              </a:rPr>
              <a:t>Pilot with a cooperative</a:t>
            </a:r>
            <a:endParaRPr lang="en-GB" sz="1100" dirty="0"/>
          </a:p>
        </p:txBody>
      </p:sp>
      <p:sp>
        <p:nvSpPr>
          <p:cNvPr id="177" name="Stage 2 text"/>
          <p:cNvSpPr txBox="1"/>
          <p:nvPr/>
        </p:nvSpPr>
        <p:spPr>
          <a:xfrm>
            <a:off x="2603297" y="1938528"/>
            <a:ext cx="1737360" cy="60350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Masked real documents from 2–3 smallholders; verify fields against e-MSPO and E-LesenPK.</a:t>
            </a:r>
            <a:endParaRPr lang="en-GB" sz="950" dirty="0"/>
          </a:p>
        </p:txBody>
      </p:sp>
      <p:cxnSp>
        <p:nvCxnSpPr>
          <p:cNvPr id="178" name="Stage arrow 2"/>
          <p:cNvCxnSpPr/>
          <p:nvPr/>
        </p:nvCxnSpPr>
        <p:spPr>
          <a:xfrm>
            <a:off x="4486961" y="1938528"/>
            <a:ext cx="170993" cy="0"/>
          </a:xfrm>
          <a:prstGeom prst="line">
            <a:avLst/>
          </a:prstGeom>
          <a:ln w="22225">
            <a:solidFill>
              <a:srgbClr val="368255"/>
            </a:solidFill>
            <a:round/>
            <a:tailEnd type="triangle" w="med" len="med"/>
          </a:ln>
        </p:spPr>
      </p:cxnSp>
      <p:sp>
        <p:nvSpPr>
          <p:cNvPr id="179" name="Stage 3"/>
          <p:cNvSpPr/>
          <p:nvPr/>
        </p:nvSpPr>
        <p:spPr>
          <a:xfrm>
            <a:off x="4676242" y="1298448"/>
            <a:ext cx="1993392" cy="1280160"/>
          </a:xfrm>
          <a:prstGeom prst="roundRect">
            <a:avLst>
              <a:gd name="adj" fmla="val 6428"/>
            </a:avLst>
          </a:prstGeom>
          <a:solidFill>
            <a:srgbClr val="FFFFFF"/>
          </a:solidFill>
          <a:ln w="15875">
            <a:solidFill>
              <a:srgbClr val="C96430"/>
            </a:solidFill>
          </a:ln>
        </p:spPr>
      </p:sp>
      <p:sp>
        <p:nvSpPr>
          <p:cNvPr id="180" name="Stage 3 tag"/>
          <p:cNvSpPr/>
          <p:nvPr/>
        </p:nvSpPr>
        <p:spPr>
          <a:xfrm>
            <a:off x="4804258" y="1408176"/>
            <a:ext cx="566928" cy="219456"/>
          </a:xfrm>
          <a:prstGeom prst="roundRect">
            <a:avLst>
              <a:gd name="adj" fmla="val 20833"/>
            </a:avLst>
          </a:prstGeom>
          <a:solidFill>
            <a:srgbClr val="C96430"/>
          </a:solidFill>
          <a:ln>
            <a:noFill/>
          </a:ln>
        </p:spPr>
        <p:txBody>
          <a:bodyPr wrap="square" lIns="0" tIns="0" rIns="0" bIns="0" rtlCol="0" anchor="ctr">
            <a:noAutofit/>
          </a:bodyPr>
          <a:lstStyle/>
          <a:p>
            <a:pPr algn="ctr" marL="0" indent="0" rtl="0">
              <a:spcBef>
                <a:spcPts val="0"/>
              </a:spcBef>
              <a:spcAft>
                <a:spcPts val="0"/>
              </a:spcAft>
              <a:buNone/>
            </a:pPr>
            <a:r>
              <a:rPr lang="en-GB" sz="900" b="1" dirty="0">
                <a:solidFill>
                  <a:srgbClr val="FFFFFF"/>
                </a:solidFill>
                <a:latin typeface="Arial"/>
                <a:ea typeface="Arial"/>
                <a:cs typeface="Arial"/>
                <a:sym typeface="Arial"/>
              </a:rPr>
              <a:t>Then</a:t>
            </a:r>
            <a:endParaRPr lang="en-GB" sz="900" dirty="0"/>
          </a:p>
        </p:txBody>
      </p:sp>
      <p:sp>
        <p:nvSpPr>
          <p:cNvPr id="181" name="Stage 3 title"/>
          <p:cNvSpPr txBox="1"/>
          <p:nvPr/>
        </p:nvSpPr>
        <p:spPr>
          <a:xfrm>
            <a:off x="4804258" y="1682496"/>
            <a:ext cx="1737360" cy="21945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100" b="1" dirty="0">
                <a:solidFill>
                  <a:srgbClr val="0D3B29"/>
                </a:solidFill>
                <a:latin typeface="Arial"/>
                <a:ea typeface="Arial"/>
                <a:cs typeface="Arial"/>
                <a:sym typeface="Arial"/>
              </a:rPr>
              <a:t>Indonesia and Thailand</a:t>
            </a:r>
            <a:endParaRPr lang="en-GB" sz="1100" dirty="0"/>
          </a:p>
        </p:txBody>
      </p:sp>
      <p:sp>
        <p:nvSpPr>
          <p:cNvPr id="182" name="Stage 3 text"/>
          <p:cNvSpPr txBox="1"/>
          <p:nvPr/>
        </p:nvSpPr>
        <p:spPr>
          <a:xfrm>
            <a:off x="4804258" y="1938528"/>
            <a:ext cx="1737360" cy="60350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Palm smallholders; language and land-office process become configuration.</a:t>
            </a:r>
            <a:endParaRPr lang="en-GB" sz="950" dirty="0"/>
          </a:p>
        </p:txBody>
      </p:sp>
      <p:cxnSp>
        <p:nvCxnSpPr>
          <p:cNvPr id="183" name="Stage arrow 3"/>
          <p:cNvCxnSpPr/>
          <p:nvPr/>
        </p:nvCxnSpPr>
        <p:spPr>
          <a:xfrm>
            <a:off x="6687922" y="1938528"/>
            <a:ext cx="170993" cy="0"/>
          </a:xfrm>
          <a:prstGeom prst="line">
            <a:avLst/>
          </a:prstGeom>
          <a:ln w="22225">
            <a:solidFill>
              <a:srgbClr val="368255"/>
            </a:solidFill>
            <a:round/>
            <a:tailEnd type="triangle" w="med" len="med"/>
          </a:ln>
        </p:spPr>
      </p:cxnSp>
      <p:sp>
        <p:nvSpPr>
          <p:cNvPr id="184" name="Stage 4"/>
          <p:cNvSpPr/>
          <p:nvPr/>
        </p:nvSpPr>
        <p:spPr>
          <a:xfrm>
            <a:off x="6877202" y="1298448"/>
            <a:ext cx="1993392" cy="1280160"/>
          </a:xfrm>
          <a:prstGeom prst="roundRect">
            <a:avLst>
              <a:gd name="adj" fmla="val 6428"/>
            </a:avLst>
          </a:prstGeom>
          <a:solidFill>
            <a:srgbClr val="FFFFFF"/>
          </a:solidFill>
          <a:ln w="15875">
            <a:solidFill>
              <a:srgbClr val="C96430"/>
            </a:solidFill>
          </a:ln>
        </p:spPr>
      </p:sp>
      <p:sp>
        <p:nvSpPr>
          <p:cNvPr id="185" name="Stage 4 tag"/>
          <p:cNvSpPr/>
          <p:nvPr/>
        </p:nvSpPr>
        <p:spPr>
          <a:xfrm>
            <a:off x="7005218" y="1408176"/>
            <a:ext cx="566928" cy="219456"/>
          </a:xfrm>
          <a:prstGeom prst="roundRect">
            <a:avLst>
              <a:gd name="adj" fmla="val 20833"/>
            </a:avLst>
          </a:prstGeom>
          <a:solidFill>
            <a:srgbClr val="C96430"/>
          </a:solidFill>
          <a:ln>
            <a:noFill/>
          </a:ln>
        </p:spPr>
        <p:txBody>
          <a:bodyPr wrap="square" lIns="0" tIns="0" rIns="0" bIns="0" rtlCol="0" anchor="ctr">
            <a:noAutofit/>
          </a:bodyPr>
          <a:lstStyle/>
          <a:p>
            <a:pPr algn="ctr" marL="0" indent="0" rtl="0">
              <a:spcBef>
                <a:spcPts val="0"/>
              </a:spcBef>
              <a:spcAft>
                <a:spcPts val="0"/>
              </a:spcAft>
              <a:buNone/>
            </a:pPr>
            <a:r>
              <a:rPr lang="en-GB" sz="900" b="1" dirty="0">
                <a:solidFill>
                  <a:srgbClr val="FFFFFF"/>
                </a:solidFill>
                <a:latin typeface="Arial"/>
                <a:ea typeface="Arial"/>
                <a:cs typeface="Arial"/>
                <a:sym typeface="Arial"/>
              </a:rPr>
              <a:t>Later</a:t>
            </a:r>
            <a:endParaRPr lang="en-GB" sz="900" dirty="0"/>
          </a:p>
        </p:txBody>
      </p:sp>
      <p:sp>
        <p:nvSpPr>
          <p:cNvPr id="186" name="Stage 4 title"/>
          <p:cNvSpPr txBox="1"/>
          <p:nvPr/>
        </p:nvSpPr>
        <p:spPr>
          <a:xfrm>
            <a:off x="7005218" y="1682496"/>
            <a:ext cx="1737360" cy="21945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100" b="1" dirty="0">
                <a:solidFill>
                  <a:srgbClr val="0D3B29"/>
                </a:solidFill>
                <a:latin typeface="Arial"/>
                <a:ea typeface="Arial"/>
                <a:cs typeface="Arial"/>
                <a:sym typeface="Arial"/>
              </a:rPr>
              <a:t>Other EUDR commodities</a:t>
            </a:r>
            <a:endParaRPr lang="en-GB" sz="1100" dirty="0"/>
          </a:p>
        </p:txBody>
      </p:sp>
      <p:sp>
        <p:nvSpPr>
          <p:cNvPr id="187" name="Stage 4 text"/>
          <p:cNvSpPr txBox="1"/>
          <p:nvPr/>
        </p:nvSpPr>
        <p:spPr>
          <a:xfrm>
            <a:off x="7005218" y="1938528"/>
            <a:ext cx="1737360" cy="60350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950" b="0" dirty="0">
                <a:solidFill>
                  <a:srgbClr val="15231B"/>
                </a:solidFill>
                <a:latin typeface="Arial"/>
                <a:ea typeface="Arial"/>
                <a:cs typeface="Arial"/>
                <a:sym typeface="Arial"/>
              </a:rPr>
              <a:t>Rubber, cocoa, coffee, timber: new document types and rules, same app.</a:t>
            </a:r>
            <a:endParaRPr lang="en-GB" sz="950" dirty="0"/>
          </a:p>
        </p:txBody>
      </p:sp>
      <p:sp>
        <p:nvSpPr>
          <p:cNvPr id="188" name="Engineering card"/>
          <p:cNvSpPr/>
          <p:nvPr/>
        </p:nvSpPr>
        <p:spPr>
          <a:xfrm>
            <a:off x="274320" y="2706624"/>
            <a:ext cx="5074920" cy="2212848"/>
          </a:xfrm>
          <a:prstGeom prst="roundRect">
            <a:avLst>
              <a:gd name="adj" fmla="val 3719"/>
            </a:avLst>
          </a:prstGeom>
          <a:solidFill>
            <a:srgbClr val="EDF1EC"/>
          </a:solidFill>
          <a:ln>
            <a:noFill/>
          </a:ln>
        </p:spPr>
      </p:sp>
      <p:sp>
        <p:nvSpPr>
          <p:cNvPr id="189" name="Engineering title"/>
          <p:cNvSpPr txBox="1"/>
          <p:nvPr/>
        </p:nvSpPr>
        <p:spPr>
          <a:xfrm>
            <a:off x="438912" y="2779776"/>
            <a:ext cx="365760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14513A"/>
                </a:solidFill>
                <a:latin typeface="Arial"/>
                <a:ea typeface="Arial"/>
                <a:cs typeface="Arial"/>
                <a:sym typeface="Arial"/>
              </a:rPr>
              <a:t>Engineering next</a:t>
            </a:r>
            <a:endParaRPr lang="en-GB" sz="1200" dirty="0"/>
          </a:p>
        </p:txBody>
      </p:sp>
      <p:sp>
        <p:nvSpPr>
          <p:cNvPr id="190" name="Engineering left"/>
          <p:cNvSpPr txBox="1"/>
          <p:nvPr/>
        </p:nvSpPr>
        <p:spPr>
          <a:xfrm>
            <a:off x="438912" y="3090672"/>
            <a:ext cx="2377440" cy="1755648"/>
          </a:xfrm>
          <a:prstGeom prst="rect">
            <a:avLst/>
          </a:prstGeom>
          <a:noFill/>
          <a:ln>
            <a:noFill/>
          </a:ln>
        </p:spPr>
        <p:txBody>
          <a:bodyPr wrap="square" lIns="0" tIns="0" rIns="0" bIns="0" rtlCol="0" anchor="t">
            <a:noAutofit/>
          </a:bodyPr>
          <a:lstStyle/>
          <a:p>
            <a:pPr algn="l" marL="128016" indent="-128016" rtl="0">
              <a:spcBef>
                <a:spcPts val="0"/>
              </a:spcBef>
              <a:spcAft>
                <a:spcPts val="500"/>
              </a:spcAft>
              <a:buClr>
                <a:srgbClr val="14513A"/>
              </a:buClr>
              <a:buSzPct val="100000"/>
              <a:buFont typeface="Arial"/>
              <a:buChar char="•"/>
            </a:pPr>
            <a:r>
              <a:rPr lang="en-GB" sz="1000" b="0" dirty="0">
                <a:solidFill>
                  <a:srgbClr val="15231B"/>
                </a:solidFill>
                <a:latin typeface="Arial"/>
                <a:ea typeface="Arial"/>
                <a:cs typeface="Arial"/>
                <a:sym typeface="Arial"/>
              </a:rPr>
              <a:t>Cloud Tasks and a separate AI worker for volume</a:t>
            </a:r>
            <a:endParaRPr lang="en-GB" sz="1000" dirty="0"/>
          </a:p>
          <a:p>
            <a:pPr algn="l" marL="128016" indent="-128016" rtl="0">
              <a:spcBef>
                <a:spcPts val="0"/>
              </a:spcBef>
              <a:spcAft>
                <a:spcPts val="500"/>
              </a:spcAft>
              <a:buClr>
                <a:srgbClr val="14513A"/>
              </a:buClr>
              <a:buSzPct val="100000"/>
              <a:buFont typeface="Arial"/>
              <a:buChar char="•"/>
            </a:pPr>
            <a:r>
              <a:rPr lang="en-GB" sz="1000" b="0" dirty="0">
                <a:solidFill>
                  <a:srgbClr val="15231B"/>
                </a:solidFill>
                <a:latin typeface="Arial"/>
                <a:ea typeface="Arial"/>
                <a:cs typeface="Arial"/>
                <a:sym typeface="Arial"/>
              </a:rPr>
              <a:t>Vertex AI for production quotas and data residency</a:t>
            </a:r>
            <a:endParaRPr lang="en-GB" sz="1000" dirty="0"/>
          </a:p>
          <a:p>
            <a:pPr algn="l" marL="128016" indent="-128016" rtl="0">
              <a:spcBef>
                <a:spcPts val="0"/>
              </a:spcBef>
              <a:spcAft>
                <a:spcPts val="500"/>
              </a:spcAft>
              <a:buClr>
                <a:srgbClr val="14513A"/>
              </a:buClr>
              <a:buSzPct val="100000"/>
              <a:buFont typeface="Arial"/>
              <a:buChar char="•"/>
            </a:pPr>
            <a:r>
              <a:rPr lang="en-GB" sz="1000" b="0" dirty="0">
                <a:solidFill>
                  <a:srgbClr val="15231B"/>
                </a:solidFill>
                <a:latin typeface="Arial"/>
                <a:ea typeface="Arial"/>
                <a:cs typeface="Arial"/>
                <a:sym typeface="Arial"/>
              </a:rPr>
              <a:t>Firestore rules scoped to each cooperative and farmer</a:t>
            </a:r>
            <a:endParaRPr lang="en-GB" sz="1000" dirty="0"/>
          </a:p>
          <a:p>
            <a:pPr algn="l" marL="128016" indent="-128016" rtl="0">
              <a:spcBef>
                <a:spcPts val="0"/>
              </a:spcBef>
              <a:spcAft>
                <a:spcPts val="500"/>
              </a:spcAft>
              <a:buClr>
                <a:srgbClr val="14513A"/>
              </a:buClr>
              <a:buSzPct val="100000"/>
              <a:buFont typeface="Arial"/>
              <a:buChar char="•"/>
            </a:pPr>
            <a:r>
              <a:rPr lang="en-GB" sz="1000" b="0" dirty="0">
                <a:solidFill>
                  <a:srgbClr val="15231B"/>
                </a:solidFill>
                <a:latin typeface="Arial"/>
                <a:ea typeface="Arial"/>
                <a:cs typeface="Arial"/>
                <a:sym typeface="Arial"/>
              </a:rPr>
              <a:t>Regulation text retrieval, with citations in the notes</a:t>
            </a:r>
            <a:endParaRPr lang="en-GB" sz="1000" dirty="0"/>
          </a:p>
        </p:txBody>
      </p:sp>
      <p:sp>
        <p:nvSpPr>
          <p:cNvPr id="191" name="Engineering right"/>
          <p:cNvSpPr txBox="1"/>
          <p:nvPr/>
        </p:nvSpPr>
        <p:spPr>
          <a:xfrm>
            <a:off x="2880360" y="3090672"/>
            <a:ext cx="2377440" cy="1755648"/>
          </a:xfrm>
          <a:prstGeom prst="rect">
            <a:avLst/>
          </a:prstGeom>
          <a:noFill/>
          <a:ln>
            <a:noFill/>
          </a:ln>
        </p:spPr>
        <p:txBody>
          <a:bodyPr wrap="square" lIns="0" tIns="0" rIns="0" bIns="0" rtlCol="0" anchor="t">
            <a:noAutofit/>
          </a:bodyPr>
          <a:lstStyle/>
          <a:p>
            <a:pPr algn="l" marL="128016" indent="-128016" rtl="0">
              <a:spcBef>
                <a:spcPts val="0"/>
              </a:spcBef>
              <a:spcAft>
                <a:spcPts val="500"/>
              </a:spcAft>
              <a:buClr>
                <a:srgbClr val="14513A"/>
              </a:buClr>
              <a:buSzPct val="100000"/>
              <a:buFont typeface="Arial"/>
              <a:buChar char="•"/>
            </a:pPr>
            <a:r>
              <a:rPr lang="en-GB" sz="1000" b="0" dirty="0">
                <a:solidFill>
                  <a:srgbClr val="15231B"/>
                </a:solidFill>
                <a:latin typeface="Arial"/>
                <a:ea typeface="Arial"/>
                <a:cs typeface="Arial"/>
                <a:sym typeface="Arial"/>
              </a:rPr>
              <a:t>Official-site verification (e-MSPO, MPOB E-LesenPK)</a:t>
            </a:r>
            <a:endParaRPr lang="en-GB" sz="1000" dirty="0"/>
          </a:p>
          <a:p>
            <a:pPr algn="l" marL="128016" indent="-128016" rtl="0">
              <a:spcBef>
                <a:spcPts val="0"/>
              </a:spcBef>
              <a:spcAft>
                <a:spcPts val="500"/>
              </a:spcAft>
              <a:buClr>
                <a:srgbClr val="14513A"/>
              </a:buClr>
              <a:buSzPct val="100000"/>
              <a:buFont typeface="Arial"/>
              <a:buChar char="•"/>
            </a:pPr>
            <a:r>
              <a:rPr lang="en-GB" sz="1000" b="0" dirty="0">
                <a:solidFill>
                  <a:srgbClr val="15231B"/>
                </a:solidFill>
                <a:latin typeface="Arial"/>
                <a:ea typeface="Arial"/>
                <a:cs typeface="Arial"/>
                <a:sym typeface="Arial"/>
              </a:rPr>
              <a:t>Mill ERP integration and chain of custody</a:t>
            </a:r>
            <a:endParaRPr lang="en-GB" sz="1000" dirty="0"/>
          </a:p>
          <a:p>
            <a:pPr algn="l" marL="128016" indent="-128016" rtl="0">
              <a:spcBef>
                <a:spcPts val="0"/>
              </a:spcBef>
              <a:spcAft>
                <a:spcPts val="500"/>
              </a:spcAft>
              <a:buClr>
                <a:srgbClr val="14513A"/>
              </a:buClr>
              <a:buSzPct val="100000"/>
              <a:buFont typeface="Arial"/>
              <a:buChar char="•"/>
            </a:pPr>
            <a:r>
              <a:rPr lang="en-GB" sz="1000" b="0" dirty="0">
                <a:solidFill>
                  <a:srgbClr val="15231B"/>
                </a:solidFill>
                <a:latin typeface="Arial"/>
                <a:ea typeface="Arial"/>
                <a:cs typeface="Arial"/>
                <a:sym typeface="Arial"/>
              </a:rPr>
              <a:t>Sabah and Sarawak land systems</a:t>
            </a:r>
            <a:endParaRPr lang="en-GB" sz="1000" dirty="0"/>
          </a:p>
          <a:p>
            <a:pPr algn="l" marL="128016" indent="-128016" rtl="0">
              <a:spcBef>
                <a:spcPts val="0"/>
              </a:spcBef>
              <a:spcAft>
                <a:spcPts val="500"/>
              </a:spcAft>
              <a:buClr>
                <a:srgbClr val="14513A"/>
              </a:buClr>
              <a:buSzPct val="100000"/>
              <a:buFont typeface="Arial"/>
              <a:buChar char="•"/>
            </a:pPr>
            <a:r>
              <a:rPr lang="en-GB" sz="1000" b="0" dirty="0">
                <a:solidFill>
                  <a:srgbClr val="15231B"/>
                </a:solidFill>
                <a:latin typeface="Arial"/>
                <a:ea typeface="Arial"/>
                <a:cs typeface="Arial"/>
                <a:sym typeface="Arial"/>
              </a:rPr>
              <a:t>Admin override with a reason; server-side PDF</a:t>
            </a:r>
            <a:endParaRPr lang="en-GB" sz="1000" dirty="0"/>
          </a:p>
        </p:txBody>
      </p:sp>
      <p:sp>
        <p:nvSpPr>
          <p:cNvPr id="192" name="Scale card"/>
          <p:cNvSpPr/>
          <p:nvPr/>
        </p:nvSpPr>
        <p:spPr>
          <a:xfrm>
            <a:off x="5458968" y="2706624"/>
            <a:ext cx="3410712" cy="2212848"/>
          </a:xfrm>
          <a:prstGeom prst="roundRect">
            <a:avLst>
              <a:gd name="adj" fmla="val 3719"/>
            </a:avLst>
          </a:prstGeom>
          <a:solidFill>
            <a:srgbClr val="F8E9DD"/>
          </a:solidFill>
          <a:ln>
            <a:noFill/>
          </a:ln>
        </p:spPr>
      </p:sp>
      <p:sp>
        <p:nvSpPr>
          <p:cNvPr id="193" name="Scale title"/>
          <p:cNvSpPr txBox="1"/>
          <p:nvPr/>
        </p:nvSpPr>
        <p:spPr>
          <a:xfrm>
            <a:off x="5623560" y="2779776"/>
            <a:ext cx="3136392"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1" dirty="0">
                <a:solidFill>
                  <a:srgbClr val="C96430"/>
                </a:solidFill>
                <a:latin typeface="Arial"/>
                <a:ea typeface="Arial"/>
                <a:cs typeface="Arial"/>
                <a:sym typeface="Arial"/>
              </a:rPr>
              <a:t>Why it scales</a:t>
            </a:r>
            <a:endParaRPr lang="en-GB" sz="1200" dirty="0"/>
          </a:p>
        </p:txBody>
      </p:sp>
      <p:sp>
        <p:nvSpPr>
          <p:cNvPr id="194" name="Scale list"/>
          <p:cNvSpPr txBox="1"/>
          <p:nvPr/>
        </p:nvSpPr>
        <p:spPr>
          <a:xfrm>
            <a:off x="5623560" y="3090672"/>
            <a:ext cx="3118104" cy="1755648"/>
          </a:xfrm>
          <a:prstGeom prst="rect">
            <a:avLst/>
          </a:prstGeom>
          <a:noFill/>
          <a:ln>
            <a:noFill/>
          </a:ln>
        </p:spPr>
        <p:txBody>
          <a:bodyPr wrap="square" lIns="0" tIns="0" rIns="0" bIns="0" rtlCol="0" anchor="t">
            <a:noAutofit/>
          </a:bodyPr>
          <a:lstStyle/>
          <a:p>
            <a:pPr algn="l" marL="128016" indent="-128016" rtl="0">
              <a:spcBef>
                <a:spcPts val="0"/>
              </a:spcBef>
              <a:spcAft>
                <a:spcPts val="500"/>
              </a:spcAft>
              <a:buClr>
                <a:srgbClr val="C96430"/>
              </a:buClr>
              <a:buSzPct val="100000"/>
              <a:buFont typeface="Arial"/>
              <a:buChar char="•"/>
            </a:pPr>
            <a:r>
              <a:rPr lang="en-GB" sz="1000" b="0" dirty="0">
                <a:solidFill>
                  <a:srgbClr val="15231B"/>
                </a:solidFill>
                <a:latin typeface="Arial"/>
                <a:ea typeface="Arial"/>
                <a:cs typeface="Arial"/>
                <a:sym typeface="Arial"/>
              </a:rPr>
              <a:t>Thresholds already live in a config document, not in code.</a:t>
            </a:r>
            <a:endParaRPr lang="en-GB" sz="1000" dirty="0"/>
          </a:p>
          <a:p>
            <a:pPr algn="l" marL="128016" indent="-128016" rtl="0">
              <a:spcBef>
                <a:spcPts val="0"/>
              </a:spcBef>
              <a:spcAft>
                <a:spcPts val="500"/>
              </a:spcAft>
              <a:buClr>
                <a:srgbClr val="C96430"/>
              </a:buClr>
              <a:buSzPct val="100000"/>
              <a:buFont typeface="Arial"/>
              <a:buChar char="•"/>
            </a:pPr>
            <a:r>
              <a:rPr lang="en-GB" sz="1000" b="0" dirty="0">
                <a:solidFill>
                  <a:srgbClr val="15231B"/>
                </a:solidFill>
                <a:latin typeface="Arial"/>
                <a:ea typeface="Arial"/>
                <a:cs typeface="Arial"/>
                <a:sym typeface="Arial"/>
              </a:rPr>
              <a:t>A new commodity means new document types and rules, not a new app.</a:t>
            </a:r>
            <a:endParaRPr lang="en-GB" sz="1000" dirty="0"/>
          </a:p>
          <a:p>
            <a:pPr algn="l" marL="128016" indent="-128016" rtl="0">
              <a:spcBef>
                <a:spcPts val="0"/>
              </a:spcBef>
              <a:spcAft>
                <a:spcPts val="500"/>
              </a:spcAft>
              <a:buClr>
                <a:srgbClr val="C96430"/>
              </a:buClr>
              <a:buSzPct val="100000"/>
              <a:buFont typeface="Arial"/>
              <a:buChar char="•"/>
            </a:pPr>
            <a:r>
              <a:rPr lang="en-GB" sz="1000" b="0" dirty="0">
                <a:solidFill>
                  <a:srgbClr val="15231B"/>
                </a:solidFill>
                <a:latin typeface="Arial"/>
                <a:ea typeface="Arial"/>
                <a:cs typeface="Arial"/>
                <a:sym typeface="Arial"/>
              </a:rPr>
              <a:t>The rules engine has no cloud imports, so it can move to any service.</a:t>
            </a:r>
            <a:endParaRPr lang="en-GB" sz="1000" dirty="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Section label"/>
          <p:cNvSpPr txBox="1"/>
          <p:nvPr/>
        </p:nvSpPr>
        <p:spPr>
          <a:xfrm>
            <a:off x="274320" y="576072"/>
            <a:ext cx="8595360" cy="237744"/>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1200" b="0" dirty="0">
                <a:solidFill>
                  <a:srgbClr val="14513A"/>
                </a:solidFill>
                <a:latin typeface="Google Sans Flex Medium"/>
                <a:ea typeface="Google Sans Flex Medium"/>
                <a:cs typeface="Google Sans Flex Medium"/>
                <a:sym typeface="Google Sans Flex Medium"/>
              </a:rPr>
              <a:t>Snapshots of the prototype</a:t>
            </a:r>
            <a:endParaRPr lang="en-GB" sz="1200" dirty="0"/>
          </a:p>
        </p:txBody>
      </p:sp>
      <p:sp>
        <p:nvSpPr>
          <p:cNvPr id="137" name="Headline"/>
          <p:cNvSpPr txBox="1"/>
          <p:nvPr/>
        </p:nvSpPr>
        <p:spPr>
          <a:xfrm>
            <a:off x="274320" y="813816"/>
            <a:ext cx="8595360" cy="402336"/>
          </a:xfrm>
          <a:prstGeom prst="rect">
            <a:avLst/>
          </a:prstGeom>
          <a:noFill/>
          <a:ln>
            <a:noFill/>
          </a:ln>
        </p:spPr>
        <p:txBody>
          <a:bodyPr wrap="square" lIns="0" tIns="0" rIns="0" bIns="0" rtlCol="0" anchor="t">
            <a:noAutofit/>
          </a:bodyPr>
          <a:lstStyle/>
          <a:p>
            <a:pPr algn="l" marL="0" indent="0" rtl="0">
              <a:spcBef>
                <a:spcPts val="0"/>
              </a:spcBef>
              <a:spcAft>
                <a:spcPts val="0"/>
              </a:spcAft>
              <a:buNone/>
            </a:pPr>
            <a:r>
              <a:rPr lang="en-GB" sz="2000" b="1" dirty="0">
                <a:solidFill>
                  <a:srgbClr val="0D3B29"/>
                </a:solidFill>
                <a:latin typeface="Arial"/>
                <a:ea typeface="Arial"/>
                <a:cs typeface="Arial"/>
                <a:sym typeface="Arial"/>
              </a:rPr>
              <a:t>The cooperative dashboard, the dossier and Malay-first screens</a:t>
            </a:r>
            <a:endParaRPr lang="en-GB" sz="2000" dirty="0"/>
          </a:p>
        </p:txBody>
      </p:sp>
      <p:pic>
        <p:nvPicPr>
          <p:cNvPr id="138" name="Dashboard screenshot" descr="Cooperative dashboard: counts by status, filters, plot table and detail pane"/>
          <p:cNvPicPr>
            <a:picLocks noChangeAspect="1"/>
          </p:cNvPicPr>
          <p:nvPr/>
        </p:nvPicPr>
        <p:blipFill>
          <a:blip r:embed="rId5"/>
          <a:stretch>
            <a:fillRect/>
          </a:stretch>
        </p:blipFill>
        <p:spPr>
          <a:xfrm>
            <a:off x="274320" y="1335024"/>
            <a:ext cx="4754880" cy="2971800"/>
          </a:xfrm>
          <a:prstGeom prst="roundRect">
            <a:avLst>
              <a:gd name="adj" fmla="val 1538"/>
            </a:avLst>
          </a:prstGeom>
          <a:ln w="12700">
            <a:solidFill>
              <a:srgbClr val="D3DCD0"/>
            </a:solidFill>
          </a:ln>
          <a:effectLst>
            <a:outerShdw blurRad="95250" dist="28575" dir="5400000" algn="t" rotWithShape="0">
              <a:srgbClr val="000000">
                <a:alpha val="22000"/>
              </a:srgbClr>
            </a:outerShdw>
          </a:effectLst>
        </p:spPr>
      </p:pic>
      <p:sp>
        <p:nvSpPr>
          <p:cNvPr id="139" name="Dashboard caption"/>
          <p:cNvSpPr txBox="1"/>
          <p:nvPr/>
        </p:nvSpPr>
        <p:spPr>
          <a:xfrm>
            <a:off x="274320" y="4379976"/>
            <a:ext cx="4754880" cy="475488"/>
          </a:xfrm>
          <a:prstGeom prst="rect">
            <a:avLst/>
          </a:prstGeom>
          <a:noFill/>
          <a:ln>
            <a:noFill/>
          </a:ln>
        </p:spPr>
        <p:txBody>
          <a:bodyPr wrap="square" lIns="0" tIns="0" rIns="0" bIns="0" rtlCol="0" anchor="t">
            <a:noAutofit/>
          </a:bodyPr>
          <a:lstStyle/>
          <a:p>
            <a:pPr algn="l" marL="0" indent="0" rtl="0">
              <a:spcBef>
                <a:spcPts val="0"/>
              </a:spcBef>
              <a:spcAft>
                <a:spcPts val="100"/>
              </a:spcAft>
              <a:buNone/>
            </a:pPr>
            <a:r>
              <a:rPr lang="en-GB" sz="950" b="1" dirty="0">
                <a:solidFill>
                  <a:srgbClr val="0D3B29"/>
                </a:solidFill>
                <a:latin typeface="Arial"/>
                <a:ea typeface="Arial"/>
                <a:cs typeface="Arial"/>
                <a:sym typeface="Arial"/>
              </a:rPr>
              <a:t>Cooperative dashboard (computer)</a:t>
            </a:r>
            <a:endParaRPr lang="en-GB" sz="950" dirty="0"/>
          </a:p>
          <a:p>
            <a:pPr algn="l" marL="0" indent="0" rtl="0">
              <a:spcBef>
                <a:spcPts val="0"/>
              </a:spcBef>
              <a:spcAft>
                <a:spcPts val="0"/>
              </a:spcAft>
              <a:buNone/>
            </a:pPr>
            <a:r>
              <a:rPr lang="en-GB" sz="900" b="0" dirty="0">
                <a:solidFill>
                  <a:srgbClr val="56655B"/>
                </a:solidFill>
                <a:latin typeface="Arial"/>
                <a:ea typeface="Arial"/>
                <a:cs typeface="Arial"/>
                <a:sym typeface="Arial"/>
              </a:rPr>
              <a:t>200 member plots by status and issue, with reasons and exports.</a:t>
            </a:r>
            <a:endParaRPr lang="en-GB" sz="900" dirty="0"/>
          </a:p>
        </p:txBody>
      </p:sp>
      <p:pic>
        <p:nvPicPr>
          <p:cNvPr id="140" name="Dossier screenshot" descr="Printable land compliance dossier (A4 layout)"/>
          <p:cNvPicPr>
            <a:picLocks noChangeAspect="1"/>
          </p:cNvPicPr>
          <p:nvPr/>
        </p:nvPicPr>
        <p:blipFill>
          <a:blip r:embed="rId6"/>
          <a:stretch>
            <a:fillRect/>
          </a:stretch>
        </p:blipFill>
        <p:spPr>
          <a:xfrm>
            <a:off x="5212080" y="1335024"/>
            <a:ext cx="2011680" cy="2929509"/>
          </a:xfrm>
          <a:prstGeom prst="rect">
            <a:avLst/>
          </a:prstGeom>
          <a:ln w="12700">
            <a:solidFill>
              <a:srgbClr val="D3DCD0"/>
            </a:solidFill>
          </a:ln>
          <a:effectLst>
            <a:outerShdw blurRad="95250" dist="28575" dir="5400000" algn="t" rotWithShape="0">
              <a:srgbClr val="000000">
                <a:alpha val="22000"/>
              </a:srgbClr>
            </a:outerShdw>
          </a:effectLst>
        </p:spPr>
      </p:pic>
      <p:sp>
        <p:nvSpPr>
          <p:cNvPr id="141" name="Dossier caption"/>
          <p:cNvSpPr txBox="1"/>
          <p:nvPr/>
        </p:nvSpPr>
        <p:spPr>
          <a:xfrm>
            <a:off x="5212080" y="4337685"/>
            <a:ext cx="2011680" cy="475488"/>
          </a:xfrm>
          <a:prstGeom prst="rect">
            <a:avLst/>
          </a:prstGeom>
          <a:noFill/>
          <a:ln>
            <a:noFill/>
          </a:ln>
        </p:spPr>
        <p:txBody>
          <a:bodyPr wrap="square" lIns="0" tIns="0" rIns="0" bIns="0" rtlCol="0" anchor="t">
            <a:noAutofit/>
          </a:bodyPr>
          <a:lstStyle/>
          <a:p>
            <a:pPr algn="l" marL="0" indent="0" rtl="0">
              <a:spcBef>
                <a:spcPts val="0"/>
              </a:spcBef>
              <a:spcAft>
                <a:spcPts val="100"/>
              </a:spcAft>
              <a:buNone/>
            </a:pPr>
            <a:r>
              <a:rPr lang="en-GB" sz="950" b="1" dirty="0">
                <a:solidFill>
                  <a:srgbClr val="0D3B29"/>
                </a:solidFill>
                <a:latin typeface="Arial"/>
                <a:ea typeface="Arial"/>
                <a:cs typeface="Arial"/>
                <a:sym typeface="Arial"/>
              </a:rPr>
              <a:t>Dossier per plot</a:t>
            </a:r>
            <a:endParaRPr lang="en-GB" sz="950" dirty="0"/>
          </a:p>
          <a:p>
            <a:pPr algn="l" marL="0" indent="0" rtl="0">
              <a:spcBef>
                <a:spcPts val="0"/>
              </a:spcBef>
              <a:spcAft>
                <a:spcPts val="0"/>
              </a:spcAft>
              <a:buNone/>
            </a:pPr>
            <a:r>
              <a:rPr lang="en-GB" sz="900" b="0" dirty="0">
                <a:solidFill>
                  <a:srgbClr val="56655B"/>
                </a:solidFill>
                <a:latin typeface="Arial"/>
                <a:ea typeface="Arial"/>
                <a:cs typeface="Arial"/>
                <a:sym typeface="Arial"/>
              </a:rPr>
              <a:t>A4 layout, saved as PDF</a:t>
            </a:r>
            <a:endParaRPr lang="en-GB" sz="900" dirty="0"/>
          </a:p>
        </p:txBody>
      </p:sp>
      <p:pic>
        <p:nvPicPr>
          <p:cNvPr id="142" name="Malay result screenshot" descr="Result screen in Malay"/>
          <p:cNvPicPr>
            <a:picLocks noChangeAspect="1"/>
          </p:cNvPicPr>
          <p:nvPr/>
        </p:nvPicPr>
        <p:blipFill>
          <a:blip r:embed="rId7"/>
          <a:stretch>
            <a:fillRect/>
          </a:stretch>
        </p:blipFill>
        <p:spPr>
          <a:xfrm>
            <a:off x="7406640" y="1335024"/>
            <a:ext cx="1463040" cy="3166110"/>
          </a:xfrm>
          <a:prstGeom prst="roundRect">
            <a:avLst>
              <a:gd name="adj" fmla="val 10624"/>
            </a:avLst>
          </a:prstGeom>
          <a:ln w="15875">
            <a:solidFill>
              <a:srgbClr val="15231B"/>
            </a:solidFill>
          </a:ln>
          <a:effectLst>
            <a:outerShdw blurRad="95250" dist="28575" dir="5400000" algn="t" rotWithShape="0">
              <a:srgbClr val="000000">
                <a:alpha val="22000"/>
              </a:srgbClr>
            </a:outerShdw>
          </a:effectLst>
        </p:spPr>
      </p:pic>
      <p:sp>
        <p:nvSpPr>
          <p:cNvPr id="143" name="Malay caption"/>
          <p:cNvSpPr txBox="1"/>
          <p:nvPr/>
        </p:nvSpPr>
        <p:spPr>
          <a:xfrm>
            <a:off x="7342632" y="4574286"/>
            <a:ext cx="1591056" cy="475488"/>
          </a:xfrm>
          <a:prstGeom prst="rect">
            <a:avLst/>
          </a:prstGeom>
          <a:noFill/>
          <a:ln>
            <a:noFill/>
          </a:ln>
        </p:spPr>
        <p:txBody>
          <a:bodyPr wrap="square" lIns="0" tIns="0" rIns="0" bIns="0" rtlCol="0" anchor="t">
            <a:noAutofit/>
          </a:bodyPr>
          <a:lstStyle/>
          <a:p>
            <a:pPr algn="ctr" marL="0" indent="0" rtl="0">
              <a:spcBef>
                <a:spcPts val="0"/>
              </a:spcBef>
              <a:spcAft>
                <a:spcPts val="100"/>
              </a:spcAft>
              <a:buNone/>
            </a:pPr>
            <a:r>
              <a:rPr lang="en-GB" sz="950" b="1" dirty="0">
                <a:solidFill>
                  <a:srgbClr val="0D3B29"/>
                </a:solidFill>
                <a:latin typeface="Arial"/>
                <a:ea typeface="Arial"/>
                <a:cs typeface="Arial"/>
                <a:sym typeface="Arial"/>
              </a:rPr>
              <a:t>Malay first</a:t>
            </a:r>
            <a:endParaRPr lang="en-GB" sz="950" dirty="0"/>
          </a:p>
          <a:p>
            <a:pPr algn="ctr" marL="0" indent="0" rtl="0">
              <a:spcBef>
                <a:spcPts val="0"/>
              </a:spcBef>
              <a:spcAft>
                <a:spcPts val="0"/>
              </a:spcAft>
              <a:buNone/>
            </a:pPr>
            <a:r>
              <a:rPr lang="en-GB" sz="900" b="0" dirty="0">
                <a:solidFill>
                  <a:srgbClr val="56655B"/>
                </a:solidFill>
                <a:latin typeface="Arial"/>
                <a:ea typeface="Arial"/>
                <a:cs typeface="Arial"/>
                <a:sym typeface="Arial"/>
              </a:rPr>
              <a:t>one tap to English</a:t>
            </a:r>
            <a:endParaRPr lang="en-GB" sz="900" dirty="0"/>
          </a:p>
        </p:txBody>
      </p:sp>
      <p:sp>
        <p:nvSpPr>
          <p:cNvPr id="144" name="Snap note B"/>
          <p:cNvSpPr txBox="1"/>
          <p:nvPr/>
        </p:nvSpPr>
        <p:spPr>
          <a:xfrm>
            <a:off x="274320" y="4773168"/>
            <a:ext cx="6858000" cy="164592"/>
          </a:xfrm>
          <a:prstGeom prst="rect">
            <a:avLst/>
          </a:prstGeom>
          <a:noFill/>
          <a:ln>
            <a:noFill/>
          </a:ln>
        </p:spPr>
        <p:txBody>
          <a:bodyPr wrap="square" lIns="0" tIns="0" rIns="0" bIns="0" rtlCol="0" anchor="ctr">
            <a:noAutofit/>
          </a:bodyPr>
          <a:lstStyle/>
          <a:p>
            <a:pPr algn="l" marL="0" indent="0" rtl="0">
              <a:spcBef>
                <a:spcPts val="0"/>
              </a:spcBef>
              <a:spcAft>
                <a:spcPts val="0"/>
              </a:spcAft>
              <a:buNone/>
            </a:pPr>
            <a:r>
              <a:rPr lang="en-GB" sz="850" b="0" dirty="0">
                <a:solidFill>
                  <a:srgbClr val="56655B"/>
                </a:solidFill>
                <a:latin typeface="Arial"/>
                <a:ea typeface="Arial"/>
                <a:cs typeface="Arial"/>
                <a:sym typeface="Arial"/>
              </a:rPr>
              <a:t>Working prototype with synthetic demo data. The cooperative admin role is read-only.</a:t>
            </a:r>
            <a:endParaRPr lang="en-GB" sz="850" dirty="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